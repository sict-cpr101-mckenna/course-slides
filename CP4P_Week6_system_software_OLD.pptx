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7" r:id="rId2"/>
    <p:sldId id="258" r:id="rId3"/>
    <p:sldId id="259" r:id="rId4"/>
    <p:sldId id="260" r:id="rId5"/>
    <p:sldId id="351" r:id="rId6"/>
    <p:sldId id="367" r:id="rId7"/>
    <p:sldId id="343" r:id="rId8"/>
    <p:sldId id="365" r:id="rId9"/>
    <p:sldId id="366" r:id="rId10"/>
    <p:sldId id="309" r:id="rId11"/>
    <p:sldId id="325" r:id="rId12"/>
    <p:sldId id="312" r:id="rId13"/>
    <p:sldId id="350" r:id="rId14"/>
    <p:sldId id="340" r:id="rId15"/>
    <p:sldId id="364" r:id="rId16"/>
    <p:sldId id="328" r:id="rId17"/>
    <p:sldId id="362" r:id="rId18"/>
    <p:sldId id="336" r:id="rId19"/>
    <p:sldId id="337" r:id="rId20"/>
    <p:sldId id="319" r:id="rId21"/>
    <p:sldId id="368" r:id="rId22"/>
    <p:sldId id="346" r:id="rId23"/>
    <p:sldId id="357" r:id="rId24"/>
    <p:sldId id="317"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0000"/>
    <a:srgbClr val="AA0000"/>
    <a:srgbClr val="E6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897" autoAdjust="0"/>
    <p:restoredTop sz="65977" autoAdjust="0"/>
  </p:normalViewPr>
  <p:slideViewPr>
    <p:cSldViewPr>
      <p:cViewPr varScale="1">
        <p:scale>
          <a:sx n="64" d="100"/>
          <a:sy n="64" d="100"/>
        </p:scale>
        <p:origin x="1404" y="40"/>
      </p:cViewPr>
      <p:guideLst>
        <p:guide orient="horz" pos="2160"/>
        <p:guide pos="2880"/>
      </p:guideLst>
    </p:cSldViewPr>
  </p:slideViewPr>
  <p:notesTextViewPr>
    <p:cViewPr>
      <p:scale>
        <a:sx n="1" d="1"/>
        <a:sy n="1" d="1"/>
      </p:scale>
      <p:origin x="0" y="0"/>
    </p:cViewPr>
  </p:notesTextViewPr>
  <p:sorterViewPr>
    <p:cViewPr>
      <p:scale>
        <a:sx n="150" d="100"/>
        <a:sy n="15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A671482-D351-45F2-890A-68A4C5BAEF92}" type="doc">
      <dgm:prSet loTypeId="urn:microsoft.com/office/officeart/2009/3/layout/IncreasingArrowsProcess" loCatId="process" qsTypeId="urn:microsoft.com/office/officeart/2005/8/quickstyle/simple1" qsCatId="simple" csTypeId="urn:microsoft.com/office/officeart/2005/8/colors/accent1_2" csCatId="accent1" phldr="1"/>
      <dgm:spPr/>
      <dgm:t>
        <a:bodyPr/>
        <a:lstStyle/>
        <a:p>
          <a:endParaRPr lang="en-US"/>
        </a:p>
      </dgm:t>
    </dgm:pt>
    <dgm:pt modelId="{7046DAFD-F970-47AA-8BD9-9386CAB97A5F}">
      <dgm:prSet phldrT="[Text]"/>
      <dgm:spPr/>
      <dgm:t>
        <a:bodyPr/>
        <a:lstStyle/>
        <a:p>
          <a:r>
            <a:rPr lang="en-US" dirty="0"/>
            <a:t>Program</a:t>
          </a:r>
        </a:p>
      </dgm:t>
    </dgm:pt>
    <dgm:pt modelId="{9B8E3244-0B19-407F-974A-A42EC55A2324}" type="parTrans" cxnId="{4249D4E6-5F0E-4727-B34F-4F23BEE4777D}">
      <dgm:prSet/>
      <dgm:spPr/>
      <dgm:t>
        <a:bodyPr/>
        <a:lstStyle/>
        <a:p>
          <a:endParaRPr lang="en-US"/>
        </a:p>
      </dgm:t>
    </dgm:pt>
    <dgm:pt modelId="{E5181FE6-42CD-4DF2-A273-C92647BF3D1A}" type="sibTrans" cxnId="{4249D4E6-5F0E-4727-B34F-4F23BEE4777D}">
      <dgm:prSet/>
      <dgm:spPr/>
      <dgm:t>
        <a:bodyPr/>
        <a:lstStyle/>
        <a:p>
          <a:endParaRPr lang="en-US"/>
        </a:p>
      </dgm:t>
    </dgm:pt>
    <dgm:pt modelId="{95F2F94A-6FC7-4F19-A8DD-51DEE2D6938A}">
      <dgm:prSet phldrT="[Text]"/>
      <dgm:spPr/>
      <dgm:t>
        <a:bodyPr/>
        <a:lstStyle/>
        <a:p>
          <a:r>
            <a:rPr lang="en-US" dirty="0" err="1"/>
            <a:t>EXecutable</a:t>
          </a:r>
          <a:r>
            <a:rPr lang="en-US" dirty="0"/>
            <a:t> File (EXE)</a:t>
          </a:r>
          <a:br>
            <a:rPr lang="en-US" dirty="0"/>
          </a:br>
          <a:br>
            <a:rPr lang="en-US" dirty="0"/>
          </a:br>
          <a:br>
            <a:rPr lang="en-US" dirty="0"/>
          </a:br>
          <a:br>
            <a:rPr lang="en-US" dirty="0"/>
          </a:br>
          <a:r>
            <a:rPr lang="en-US" b="1" dirty="0"/>
            <a:t>MS Word</a:t>
          </a:r>
        </a:p>
      </dgm:t>
    </dgm:pt>
    <dgm:pt modelId="{B268043D-1163-4C9E-99C4-FD152D69F5DC}" type="parTrans" cxnId="{0D84D5B6-2601-4293-B041-9D30F80BEE76}">
      <dgm:prSet/>
      <dgm:spPr/>
      <dgm:t>
        <a:bodyPr/>
        <a:lstStyle/>
        <a:p>
          <a:endParaRPr lang="en-US"/>
        </a:p>
      </dgm:t>
    </dgm:pt>
    <dgm:pt modelId="{0A55DB21-9048-4082-8FC4-7F4ABF956B70}" type="sibTrans" cxnId="{0D84D5B6-2601-4293-B041-9D30F80BEE76}">
      <dgm:prSet/>
      <dgm:spPr/>
      <dgm:t>
        <a:bodyPr/>
        <a:lstStyle/>
        <a:p>
          <a:endParaRPr lang="en-US"/>
        </a:p>
      </dgm:t>
    </dgm:pt>
    <dgm:pt modelId="{0FCFF545-0745-4CF2-B33E-A89BFEF987E7}">
      <dgm:prSet phldrT="[Text]"/>
      <dgm:spPr/>
      <dgm:t>
        <a:bodyPr/>
        <a:lstStyle/>
        <a:p>
          <a:r>
            <a:rPr lang="en-US" dirty="0"/>
            <a:t>Process</a:t>
          </a:r>
        </a:p>
      </dgm:t>
    </dgm:pt>
    <dgm:pt modelId="{98826B7A-7C1F-4112-A902-6B3AEBBA25B1}" type="parTrans" cxnId="{04CE76D6-6478-4B95-83DD-638FAF8B83FD}">
      <dgm:prSet/>
      <dgm:spPr/>
      <dgm:t>
        <a:bodyPr/>
        <a:lstStyle/>
        <a:p>
          <a:endParaRPr lang="en-US"/>
        </a:p>
      </dgm:t>
    </dgm:pt>
    <dgm:pt modelId="{FAF26682-194E-4A69-B96E-7F615F98ABF4}" type="sibTrans" cxnId="{04CE76D6-6478-4B95-83DD-638FAF8B83FD}">
      <dgm:prSet/>
      <dgm:spPr/>
      <dgm:t>
        <a:bodyPr/>
        <a:lstStyle/>
        <a:p>
          <a:endParaRPr lang="en-US"/>
        </a:p>
      </dgm:t>
    </dgm:pt>
    <dgm:pt modelId="{C3E93B21-9C73-4C00-8BEB-D35C42C1B2A9}">
      <dgm:prSet phldrT="[Text]"/>
      <dgm:spPr/>
      <dgm:t>
        <a:bodyPr/>
        <a:lstStyle/>
        <a:p>
          <a:r>
            <a:rPr lang="en-US" dirty="0"/>
            <a:t>Program in execution (loaded in memory)</a:t>
          </a:r>
          <a:br>
            <a:rPr lang="en-US" dirty="0"/>
          </a:br>
          <a:br>
            <a:rPr lang="en-US" dirty="0"/>
          </a:br>
          <a:br>
            <a:rPr lang="en-US" dirty="0"/>
          </a:br>
          <a:r>
            <a:rPr lang="en-US" b="1" dirty="0"/>
            <a:t>WINWORD.EXE</a:t>
          </a:r>
        </a:p>
      </dgm:t>
    </dgm:pt>
    <dgm:pt modelId="{4B5B4469-2D8C-45AB-8AEB-AC65153AB20F}" type="parTrans" cxnId="{20709732-2275-4808-84CB-E2E77A5FC9B1}">
      <dgm:prSet/>
      <dgm:spPr/>
      <dgm:t>
        <a:bodyPr/>
        <a:lstStyle/>
        <a:p>
          <a:endParaRPr lang="en-US"/>
        </a:p>
      </dgm:t>
    </dgm:pt>
    <dgm:pt modelId="{7B3D5032-BCE1-4812-882E-54FD3494DB98}" type="sibTrans" cxnId="{20709732-2275-4808-84CB-E2E77A5FC9B1}">
      <dgm:prSet/>
      <dgm:spPr/>
      <dgm:t>
        <a:bodyPr/>
        <a:lstStyle/>
        <a:p>
          <a:endParaRPr lang="en-US"/>
        </a:p>
      </dgm:t>
    </dgm:pt>
    <dgm:pt modelId="{2BD7A7AB-A9D5-4EC4-9F6C-C1B29118891A}">
      <dgm:prSet phldrT="[Text]"/>
      <dgm:spPr/>
      <dgm:t>
        <a:bodyPr/>
        <a:lstStyle/>
        <a:p>
          <a:r>
            <a:rPr lang="en-US" dirty="0"/>
            <a:t>Threads</a:t>
          </a:r>
        </a:p>
      </dgm:t>
    </dgm:pt>
    <dgm:pt modelId="{469ABAD6-47E0-4025-B0E6-60C0D3792BF3}" type="parTrans" cxnId="{565D65C7-08B7-4810-8274-CB4D3DB5094F}">
      <dgm:prSet/>
      <dgm:spPr/>
      <dgm:t>
        <a:bodyPr/>
        <a:lstStyle/>
        <a:p>
          <a:endParaRPr lang="en-US"/>
        </a:p>
      </dgm:t>
    </dgm:pt>
    <dgm:pt modelId="{D489D731-C3EE-442B-9136-85AEF520CA2B}" type="sibTrans" cxnId="{565D65C7-08B7-4810-8274-CB4D3DB5094F}">
      <dgm:prSet/>
      <dgm:spPr/>
      <dgm:t>
        <a:bodyPr/>
        <a:lstStyle/>
        <a:p>
          <a:endParaRPr lang="en-US"/>
        </a:p>
      </dgm:t>
    </dgm:pt>
    <dgm:pt modelId="{FA8BE71D-82EA-49BC-A59A-67CBC5BF4F3E}">
      <dgm:prSet phldrT="[Text]"/>
      <dgm:spPr/>
      <dgm:t>
        <a:bodyPr/>
        <a:lstStyle/>
        <a:p>
          <a:r>
            <a:rPr lang="en-US" dirty="0"/>
            <a:t>Tasks performed inside the process </a:t>
          </a:r>
          <a:br>
            <a:rPr lang="en-US" dirty="0"/>
          </a:br>
          <a:br>
            <a:rPr lang="en-US" dirty="0"/>
          </a:br>
          <a:r>
            <a:rPr lang="en-US" b="1" dirty="0"/>
            <a:t>- mouse clicks</a:t>
          </a:r>
          <a:br>
            <a:rPr lang="en-US" b="1" dirty="0"/>
          </a:br>
          <a:r>
            <a:rPr lang="en-US" b="1" dirty="0"/>
            <a:t>- spell check</a:t>
          </a:r>
          <a:br>
            <a:rPr lang="en-US" b="1" dirty="0"/>
          </a:br>
          <a:r>
            <a:rPr lang="en-US" b="1" dirty="0"/>
            <a:t>- send to printer</a:t>
          </a:r>
        </a:p>
      </dgm:t>
    </dgm:pt>
    <dgm:pt modelId="{0CADA144-7363-4BC0-9851-70C0E7B74A04}" type="parTrans" cxnId="{56105566-F80E-47E9-837A-4C75B13DD08F}">
      <dgm:prSet/>
      <dgm:spPr/>
      <dgm:t>
        <a:bodyPr/>
        <a:lstStyle/>
        <a:p>
          <a:endParaRPr lang="en-US"/>
        </a:p>
      </dgm:t>
    </dgm:pt>
    <dgm:pt modelId="{14E829DB-13BE-4799-8D5B-8C639EDB95FC}" type="sibTrans" cxnId="{56105566-F80E-47E9-837A-4C75B13DD08F}">
      <dgm:prSet/>
      <dgm:spPr/>
      <dgm:t>
        <a:bodyPr/>
        <a:lstStyle/>
        <a:p>
          <a:endParaRPr lang="en-US"/>
        </a:p>
      </dgm:t>
    </dgm:pt>
    <dgm:pt modelId="{79F854B9-1276-4682-BC26-126AFB7AE99B}" type="pres">
      <dgm:prSet presAssocID="{0A671482-D351-45F2-890A-68A4C5BAEF92}" presName="Name0" presStyleCnt="0">
        <dgm:presLayoutVars>
          <dgm:chMax val="5"/>
          <dgm:chPref val="5"/>
          <dgm:dir/>
          <dgm:animLvl val="lvl"/>
        </dgm:presLayoutVars>
      </dgm:prSet>
      <dgm:spPr/>
    </dgm:pt>
    <dgm:pt modelId="{24349427-A2BA-4C89-840F-D8FA706A466B}" type="pres">
      <dgm:prSet presAssocID="{7046DAFD-F970-47AA-8BD9-9386CAB97A5F}" presName="parentText1" presStyleLbl="node1" presStyleIdx="0" presStyleCnt="3">
        <dgm:presLayoutVars>
          <dgm:chMax/>
          <dgm:chPref val="3"/>
          <dgm:bulletEnabled val="1"/>
        </dgm:presLayoutVars>
      </dgm:prSet>
      <dgm:spPr/>
    </dgm:pt>
    <dgm:pt modelId="{DD6DAD26-0127-496D-A4B9-19649BADA9B4}" type="pres">
      <dgm:prSet presAssocID="{7046DAFD-F970-47AA-8BD9-9386CAB97A5F}" presName="childText1" presStyleLbl="solidAlignAcc1" presStyleIdx="0" presStyleCnt="3">
        <dgm:presLayoutVars>
          <dgm:chMax val="0"/>
          <dgm:chPref val="0"/>
          <dgm:bulletEnabled val="1"/>
        </dgm:presLayoutVars>
      </dgm:prSet>
      <dgm:spPr/>
    </dgm:pt>
    <dgm:pt modelId="{FC24BA1C-C7FB-45DD-A73C-B36212911E01}" type="pres">
      <dgm:prSet presAssocID="{0FCFF545-0745-4CF2-B33E-A89BFEF987E7}" presName="parentText2" presStyleLbl="node1" presStyleIdx="1" presStyleCnt="3">
        <dgm:presLayoutVars>
          <dgm:chMax/>
          <dgm:chPref val="3"/>
          <dgm:bulletEnabled val="1"/>
        </dgm:presLayoutVars>
      </dgm:prSet>
      <dgm:spPr/>
    </dgm:pt>
    <dgm:pt modelId="{6F3D0ECD-F0EC-40C1-9EDB-8AE7FC21C752}" type="pres">
      <dgm:prSet presAssocID="{0FCFF545-0745-4CF2-B33E-A89BFEF987E7}" presName="childText2" presStyleLbl="solidAlignAcc1" presStyleIdx="1" presStyleCnt="3">
        <dgm:presLayoutVars>
          <dgm:chMax val="0"/>
          <dgm:chPref val="0"/>
          <dgm:bulletEnabled val="1"/>
        </dgm:presLayoutVars>
      </dgm:prSet>
      <dgm:spPr/>
    </dgm:pt>
    <dgm:pt modelId="{5F1750A6-F9CC-4DA6-B4FD-2C200D86A93A}" type="pres">
      <dgm:prSet presAssocID="{2BD7A7AB-A9D5-4EC4-9F6C-C1B29118891A}" presName="parentText3" presStyleLbl="node1" presStyleIdx="2" presStyleCnt="3">
        <dgm:presLayoutVars>
          <dgm:chMax/>
          <dgm:chPref val="3"/>
          <dgm:bulletEnabled val="1"/>
        </dgm:presLayoutVars>
      </dgm:prSet>
      <dgm:spPr/>
    </dgm:pt>
    <dgm:pt modelId="{6998E097-3BA6-4866-A748-11579549BDDD}" type="pres">
      <dgm:prSet presAssocID="{2BD7A7AB-A9D5-4EC4-9F6C-C1B29118891A}" presName="childText3" presStyleLbl="solidAlignAcc1" presStyleIdx="2" presStyleCnt="3">
        <dgm:presLayoutVars>
          <dgm:chMax val="0"/>
          <dgm:chPref val="0"/>
          <dgm:bulletEnabled val="1"/>
        </dgm:presLayoutVars>
      </dgm:prSet>
      <dgm:spPr/>
    </dgm:pt>
  </dgm:ptLst>
  <dgm:cxnLst>
    <dgm:cxn modelId="{91D5A118-464C-4D5D-A7B3-9BAF5A43DF40}" type="presOf" srcId="{FA8BE71D-82EA-49BC-A59A-67CBC5BF4F3E}" destId="{6998E097-3BA6-4866-A748-11579549BDDD}" srcOrd="0" destOrd="0" presId="urn:microsoft.com/office/officeart/2009/3/layout/IncreasingArrowsProcess"/>
    <dgm:cxn modelId="{A5A8C328-2A31-44A1-B00C-CFACEA6BB911}" type="presOf" srcId="{0FCFF545-0745-4CF2-B33E-A89BFEF987E7}" destId="{FC24BA1C-C7FB-45DD-A73C-B36212911E01}" srcOrd="0" destOrd="0" presId="urn:microsoft.com/office/officeart/2009/3/layout/IncreasingArrowsProcess"/>
    <dgm:cxn modelId="{CA71A92E-1FFA-44E4-B657-6D877896094F}" type="presOf" srcId="{2BD7A7AB-A9D5-4EC4-9F6C-C1B29118891A}" destId="{5F1750A6-F9CC-4DA6-B4FD-2C200D86A93A}" srcOrd="0" destOrd="0" presId="urn:microsoft.com/office/officeart/2009/3/layout/IncreasingArrowsProcess"/>
    <dgm:cxn modelId="{20709732-2275-4808-84CB-E2E77A5FC9B1}" srcId="{0FCFF545-0745-4CF2-B33E-A89BFEF987E7}" destId="{C3E93B21-9C73-4C00-8BEB-D35C42C1B2A9}" srcOrd="0" destOrd="0" parTransId="{4B5B4469-2D8C-45AB-8AEB-AC65153AB20F}" sibTransId="{7B3D5032-BCE1-4812-882E-54FD3494DB98}"/>
    <dgm:cxn modelId="{56105566-F80E-47E9-837A-4C75B13DD08F}" srcId="{2BD7A7AB-A9D5-4EC4-9F6C-C1B29118891A}" destId="{FA8BE71D-82EA-49BC-A59A-67CBC5BF4F3E}" srcOrd="0" destOrd="0" parTransId="{0CADA144-7363-4BC0-9851-70C0E7B74A04}" sibTransId="{14E829DB-13BE-4799-8D5B-8C639EDB95FC}"/>
    <dgm:cxn modelId="{2F64DB6A-C2DA-4968-B3A5-A2E333A9F372}" type="presOf" srcId="{0A671482-D351-45F2-890A-68A4C5BAEF92}" destId="{79F854B9-1276-4682-BC26-126AFB7AE99B}" srcOrd="0" destOrd="0" presId="urn:microsoft.com/office/officeart/2009/3/layout/IncreasingArrowsProcess"/>
    <dgm:cxn modelId="{0D84D5B6-2601-4293-B041-9D30F80BEE76}" srcId="{7046DAFD-F970-47AA-8BD9-9386CAB97A5F}" destId="{95F2F94A-6FC7-4F19-A8DD-51DEE2D6938A}" srcOrd="0" destOrd="0" parTransId="{B268043D-1163-4C9E-99C4-FD152D69F5DC}" sibTransId="{0A55DB21-9048-4082-8FC4-7F4ABF956B70}"/>
    <dgm:cxn modelId="{CA8C90BA-3D68-42F0-94BF-E3E69F6E8B1C}" type="presOf" srcId="{7046DAFD-F970-47AA-8BD9-9386CAB97A5F}" destId="{24349427-A2BA-4C89-840F-D8FA706A466B}" srcOrd="0" destOrd="0" presId="urn:microsoft.com/office/officeart/2009/3/layout/IncreasingArrowsProcess"/>
    <dgm:cxn modelId="{48AE4EBE-3402-402A-B552-B71A6A0FE1F1}" type="presOf" srcId="{95F2F94A-6FC7-4F19-A8DD-51DEE2D6938A}" destId="{DD6DAD26-0127-496D-A4B9-19649BADA9B4}" srcOrd="0" destOrd="0" presId="urn:microsoft.com/office/officeart/2009/3/layout/IncreasingArrowsProcess"/>
    <dgm:cxn modelId="{565D65C7-08B7-4810-8274-CB4D3DB5094F}" srcId="{0A671482-D351-45F2-890A-68A4C5BAEF92}" destId="{2BD7A7AB-A9D5-4EC4-9F6C-C1B29118891A}" srcOrd="2" destOrd="0" parTransId="{469ABAD6-47E0-4025-B0E6-60C0D3792BF3}" sibTransId="{D489D731-C3EE-442B-9136-85AEF520CA2B}"/>
    <dgm:cxn modelId="{19FB3BCC-4282-4D22-953B-CF8AB1354C47}" type="presOf" srcId="{C3E93B21-9C73-4C00-8BEB-D35C42C1B2A9}" destId="{6F3D0ECD-F0EC-40C1-9EDB-8AE7FC21C752}" srcOrd="0" destOrd="0" presId="urn:microsoft.com/office/officeart/2009/3/layout/IncreasingArrowsProcess"/>
    <dgm:cxn modelId="{04CE76D6-6478-4B95-83DD-638FAF8B83FD}" srcId="{0A671482-D351-45F2-890A-68A4C5BAEF92}" destId="{0FCFF545-0745-4CF2-B33E-A89BFEF987E7}" srcOrd="1" destOrd="0" parTransId="{98826B7A-7C1F-4112-A902-6B3AEBBA25B1}" sibTransId="{FAF26682-194E-4A69-B96E-7F615F98ABF4}"/>
    <dgm:cxn modelId="{4249D4E6-5F0E-4727-B34F-4F23BEE4777D}" srcId="{0A671482-D351-45F2-890A-68A4C5BAEF92}" destId="{7046DAFD-F970-47AA-8BD9-9386CAB97A5F}" srcOrd="0" destOrd="0" parTransId="{9B8E3244-0B19-407F-974A-A42EC55A2324}" sibTransId="{E5181FE6-42CD-4DF2-A273-C92647BF3D1A}"/>
    <dgm:cxn modelId="{E5257CE7-4381-4373-96BC-709A288D5FE1}" type="presParOf" srcId="{79F854B9-1276-4682-BC26-126AFB7AE99B}" destId="{24349427-A2BA-4C89-840F-D8FA706A466B}" srcOrd="0" destOrd="0" presId="urn:microsoft.com/office/officeart/2009/3/layout/IncreasingArrowsProcess"/>
    <dgm:cxn modelId="{D7EBB17E-3C42-481A-AB52-E208D8A501FB}" type="presParOf" srcId="{79F854B9-1276-4682-BC26-126AFB7AE99B}" destId="{DD6DAD26-0127-496D-A4B9-19649BADA9B4}" srcOrd="1" destOrd="0" presId="urn:microsoft.com/office/officeart/2009/3/layout/IncreasingArrowsProcess"/>
    <dgm:cxn modelId="{761DDD94-F919-4AE7-97E6-3A3612A6367D}" type="presParOf" srcId="{79F854B9-1276-4682-BC26-126AFB7AE99B}" destId="{FC24BA1C-C7FB-45DD-A73C-B36212911E01}" srcOrd="2" destOrd="0" presId="urn:microsoft.com/office/officeart/2009/3/layout/IncreasingArrowsProcess"/>
    <dgm:cxn modelId="{B1DB579A-FED8-4F34-8F27-7B379A81920E}" type="presParOf" srcId="{79F854B9-1276-4682-BC26-126AFB7AE99B}" destId="{6F3D0ECD-F0EC-40C1-9EDB-8AE7FC21C752}" srcOrd="3" destOrd="0" presId="urn:microsoft.com/office/officeart/2009/3/layout/IncreasingArrowsProcess"/>
    <dgm:cxn modelId="{319A2CD4-8DA6-4E06-97B6-BAC083A93FE1}" type="presParOf" srcId="{79F854B9-1276-4682-BC26-126AFB7AE99B}" destId="{5F1750A6-F9CC-4DA6-B4FD-2C200D86A93A}" srcOrd="4" destOrd="0" presId="urn:microsoft.com/office/officeart/2009/3/layout/IncreasingArrowsProcess"/>
    <dgm:cxn modelId="{E61DF182-2D61-46F4-B1F9-2C4405E2BE92}" type="presParOf" srcId="{79F854B9-1276-4682-BC26-126AFB7AE99B}" destId="{6998E097-3BA6-4866-A748-11579549BDDD}" srcOrd="5" destOrd="0" presId="urn:microsoft.com/office/officeart/2009/3/layout/IncreasingArrows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349427-A2BA-4C89-840F-D8FA706A466B}">
      <dsp:nvSpPr>
        <dsp:cNvPr id="0" name=""/>
        <dsp:cNvSpPr/>
      </dsp:nvSpPr>
      <dsp:spPr>
        <a:xfrm>
          <a:off x="0" y="606671"/>
          <a:ext cx="5867399" cy="854517"/>
        </a:xfrm>
        <a:prstGeom prst="rightArrow">
          <a:avLst>
            <a:gd name="adj1" fmla="val 50000"/>
            <a:gd name="adj2" fmla="val 50000"/>
          </a:avLst>
        </a:prstGeom>
        <a:solidFill>
          <a:schemeClr val="accent1">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254000" bIns="135655" numCol="1" spcCol="1270" anchor="ctr" anchorCtr="0">
          <a:noAutofit/>
        </a:bodyPr>
        <a:lstStyle/>
        <a:p>
          <a:pPr marL="0" lvl="0" indent="0" algn="l" defTabSz="755650">
            <a:lnSpc>
              <a:spcPct val="90000"/>
            </a:lnSpc>
            <a:spcBef>
              <a:spcPct val="0"/>
            </a:spcBef>
            <a:spcAft>
              <a:spcPct val="35000"/>
            </a:spcAft>
            <a:buNone/>
          </a:pPr>
          <a:r>
            <a:rPr lang="en-US" sz="1700" kern="1200" dirty="0"/>
            <a:t>Program</a:t>
          </a:r>
        </a:p>
      </dsp:txBody>
      <dsp:txXfrm>
        <a:off x="0" y="820300"/>
        <a:ext cx="5653770" cy="427259"/>
      </dsp:txXfrm>
    </dsp:sp>
    <dsp:sp modelId="{DD6DAD26-0127-496D-A4B9-19649BADA9B4}">
      <dsp:nvSpPr>
        <dsp:cNvPr id="0" name=""/>
        <dsp:cNvSpPr/>
      </dsp:nvSpPr>
      <dsp:spPr>
        <a:xfrm>
          <a:off x="0" y="1265627"/>
          <a:ext cx="1807159" cy="1646114"/>
        </a:xfrm>
        <a:prstGeom prst="rect">
          <a:avLst/>
        </a:prstGeom>
        <a:solidFill>
          <a:schemeClr val="lt1">
            <a:hueOff val="0"/>
            <a:satOff val="0"/>
            <a:lumOff val="0"/>
            <a:alphaOff val="0"/>
          </a:schemeClr>
        </a:solidFill>
        <a:ln w="2642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err="1"/>
            <a:t>EXecutable</a:t>
          </a:r>
          <a:r>
            <a:rPr lang="en-US" sz="1600" kern="1200" dirty="0"/>
            <a:t> File (EXE)</a:t>
          </a:r>
          <a:br>
            <a:rPr lang="en-US" sz="1600" kern="1200" dirty="0"/>
          </a:br>
          <a:br>
            <a:rPr lang="en-US" sz="1600" kern="1200" dirty="0"/>
          </a:br>
          <a:br>
            <a:rPr lang="en-US" sz="1600" kern="1200" dirty="0"/>
          </a:br>
          <a:br>
            <a:rPr lang="en-US" sz="1600" kern="1200" dirty="0"/>
          </a:br>
          <a:r>
            <a:rPr lang="en-US" sz="1600" b="1" kern="1200" dirty="0"/>
            <a:t>MS Word</a:t>
          </a:r>
        </a:p>
      </dsp:txBody>
      <dsp:txXfrm>
        <a:off x="0" y="1265627"/>
        <a:ext cx="1807159" cy="1646114"/>
      </dsp:txXfrm>
    </dsp:sp>
    <dsp:sp modelId="{FC24BA1C-C7FB-45DD-A73C-B36212911E01}">
      <dsp:nvSpPr>
        <dsp:cNvPr id="0" name=""/>
        <dsp:cNvSpPr/>
      </dsp:nvSpPr>
      <dsp:spPr>
        <a:xfrm>
          <a:off x="1807159" y="891510"/>
          <a:ext cx="4060240" cy="854517"/>
        </a:xfrm>
        <a:prstGeom prst="rightArrow">
          <a:avLst>
            <a:gd name="adj1" fmla="val 50000"/>
            <a:gd name="adj2" fmla="val 50000"/>
          </a:avLst>
        </a:prstGeom>
        <a:solidFill>
          <a:schemeClr val="accent1">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254000" bIns="135655" numCol="1" spcCol="1270" anchor="ctr" anchorCtr="0">
          <a:noAutofit/>
        </a:bodyPr>
        <a:lstStyle/>
        <a:p>
          <a:pPr marL="0" lvl="0" indent="0" algn="l" defTabSz="755650">
            <a:lnSpc>
              <a:spcPct val="90000"/>
            </a:lnSpc>
            <a:spcBef>
              <a:spcPct val="0"/>
            </a:spcBef>
            <a:spcAft>
              <a:spcPct val="35000"/>
            </a:spcAft>
            <a:buNone/>
          </a:pPr>
          <a:r>
            <a:rPr lang="en-US" sz="1700" kern="1200" dirty="0"/>
            <a:t>Process</a:t>
          </a:r>
        </a:p>
      </dsp:txBody>
      <dsp:txXfrm>
        <a:off x="1807159" y="1105139"/>
        <a:ext cx="3846611" cy="427259"/>
      </dsp:txXfrm>
    </dsp:sp>
    <dsp:sp modelId="{6F3D0ECD-F0EC-40C1-9EDB-8AE7FC21C752}">
      <dsp:nvSpPr>
        <dsp:cNvPr id="0" name=""/>
        <dsp:cNvSpPr/>
      </dsp:nvSpPr>
      <dsp:spPr>
        <a:xfrm>
          <a:off x="1807159" y="1550466"/>
          <a:ext cx="1807159" cy="1646114"/>
        </a:xfrm>
        <a:prstGeom prst="rect">
          <a:avLst/>
        </a:prstGeom>
        <a:solidFill>
          <a:schemeClr val="lt1">
            <a:hueOff val="0"/>
            <a:satOff val="0"/>
            <a:lumOff val="0"/>
            <a:alphaOff val="0"/>
          </a:schemeClr>
        </a:solidFill>
        <a:ln w="2642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Program in execution (loaded in memory)</a:t>
          </a:r>
          <a:br>
            <a:rPr lang="en-US" sz="1600" kern="1200" dirty="0"/>
          </a:br>
          <a:br>
            <a:rPr lang="en-US" sz="1600" kern="1200" dirty="0"/>
          </a:br>
          <a:br>
            <a:rPr lang="en-US" sz="1600" kern="1200" dirty="0"/>
          </a:br>
          <a:r>
            <a:rPr lang="en-US" sz="1600" b="1" kern="1200" dirty="0"/>
            <a:t>WINWORD.EXE</a:t>
          </a:r>
        </a:p>
      </dsp:txBody>
      <dsp:txXfrm>
        <a:off x="1807159" y="1550466"/>
        <a:ext cx="1807159" cy="1646114"/>
      </dsp:txXfrm>
    </dsp:sp>
    <dsp:sp modelId="{5F1750A6-F9CC-4DA6-B4FD-2C200D86A93A}">
      <dsp:nvSpPr>
        <dsp:cNvPr id="0" name=""/>
        <dsp:cNvSpPr/>
      </dsp:nvSpPr>
      <dsp:spPr>
        <a:xfrm>
          <a:off x="3614318" y="1176349"/>
          <a:ext cx="2253081" cy="854517"/>
        </a:xfrm>
        <a:prstGeom prst="rightArrow">
          <a:avLst>
            <a:gd name="adj1" fmla="val 50000"/>
            <a:gd name="adj2" fmla="val 50000"/>
          </a:avLst>
        </a:prstGeom>
        <a:solidFill>
          <a:schemeClr val="accent1">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254000" bIns="135655" numCol="1" spcCol="1270" anchor="ctr" anchorCtr="0">
          <a:noAutofit/>
        </a:bodyPr>
        <a:lstStyle/>
        <a:p>
          <a:pPr marL="0" lvl="0" indent="0" algn="l" defTabSz="755650">
            <a:lnSpc>
              <a:spcPct val="90000"/>
            </a:lnSpc>
            <a:spcBef>
              <a:spcPct val="0"/>
            </a:spcBef>
            <a:spcAft>
              <a:spcPct val="35000"/>
            </a:spcAft>
            <a:buNone/>
          </a:pPr>
          <a:r>
            <a:rPr lang="en-US" sz="1700" kern="1200" dirty="0"/>
            <a:t>Threads</a:t>
          </a:r>
        </a:p>
      </dsp:txBody>
      <dsp:txXfrm>
        <a:off x="3614318" y="1389978"/>
        <a:ext cx="2039452" cy="427259"/>
      </dsp:txXfrm>
    </dsp:sp>
    <dsp:sp modelId="{6998E097-3BA6-4866-A748-11579549BDDD}">
      <dsp:nvSpPr>
        <dsp:cNvPr id="0" name=""/>
        <dsp:cNvSpPr/>
      </dsp:nvSpPr>
      <dsp:spPr>
        <a:xfrm>
          <a:off x="3614318" y="1835305"/>
          <a:ext cx="1807159" cy="1622023"/>
        </a:xfrm>
        <a:prstGeom prst="rect">
          <a:avLst/>
        </a:prstGeom>
        <a:solidFill>
          <a:schemeClr val="lt1">
            <a:hueOff val="0"/>
            <a:satOff val="0"/>
            <a:lumOff val="0"/>
            <a:alphaOff val="0"/>
          </a:schemeClr>
        </a:solidFill>
        <a:ln w="2642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Tasks performed inside the process </a:t>
          </a:r>
          <a:br>
            <a:rPr lang="en-US" sz="1600" kern="1200" dirty="0"/>
          </a:br>
          <a:br>
            <a:rPr lang="en-US" sz="1600" kern="1200" dirty="0"/>
          </a:br>
          <a:r>
            <a:rPr lang="en-US" sz="1600" b="1" kern="1200" dirty="0"/>
            <a:t>- mouse clicks</a:t>
          </a:r>
          <a:br>
            <a:rPr lang="en-US" sz="1600" b="1" kern="1200" dirty="0"/>
          </a:br>
          <a:r>
            <a:rPr lang="en-US" sz="1600" b="1" kern="1200" dirty="0"/>
            <a:t>- spell check</a:t>
          </a:r>
          <a:br>
            <a:rPr lang="en-US" sz="1600" b="1" kern="1200" dirty="0"/>
          </a:br>
          <a:r>
            <a:rPr lang="en-US" sz="1600" b="1" kern="1200" dirty="0"/>
            <a:t>- send to printer</a:t>
          </a:r>
        </a:p>
      </dsp:txBody>
      <dsp:txXfrm>
        <a:off x="3614318" y="1835305"/>
        <a:ext cx="1807159" cy="1622023"/>
      </dsp:txXfrm>
    </dsp:sp>
  </dsp:spTree>
</dsp:drawing>
</file>

<file path=ppt/diagrams/layout1.xml><?xml version="1.0" encoding="utf-8"?>
<dgm:layoutDef xmlns:dgm="http://schemas.openxmlformats.org/drawingml/2006/diagram" xmlns:a="http://schemas.openxmlformats.org/drawingml/2006/main" uniqueId="urn:microsoft.com/office/officeart/2009/3/layout/IncreasingArrowsProcess">
  <dgm:title val=""/>
  <dgm:desc val=""/>
  <dgm:catLst>
    <dgm:cat type="process" pri="5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val="5"/>
      <dgm:chPref val="5"/>
      <dgm:dir/>
      <dgm:animLvl val="lvl"/>
    </dgm:varLst>
    <dgm:shape xmlns:r="http://schemas.openxmlformats.org/officeDocument/2006/relationships" r:blip="">
      <dgm:adjLst/>
    </dgm:shape>
    <dgm:choose name="Name1">
      <dgm:if name="Name2" axis="ch" ptType="node" func="cnt" op="equ" val="1">
        <dgm:choose name="Name3">
          <dgm:if name="Name4" axis="ch ch" ptType="node node" func="cnt" op="equ" val="0">
            <dgm:alg type="composite">
              <dgm:param type="ar" val="6.8662"/>
            </dgm:alg>
            <dgm:choose name="Name5">
              <dgm:if name="Name6" func="var" arg="dir" op="equ" val="norm">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if>
              <dgm:else name="Name7">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else>
            </dgm:choose>
          </dgm:if>
          <dgm:else name="Name8">
            <dgm:alg type="composite">
              <dgm:param type="ar" val="1.9864"/>
            </dgm:alg>
            <dgm:choose name="Name9">
              <dgm:if name="Name10" func="var" arg="dir" op="equ" val="norm">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
                  <dgm:constr type="t" for="ch" forName="childText1" refType="h" fact="0.224"/>
                  <dgm:constr type="w" for="ch" forName="childText1" refType="w" fact="0.9241"/>
                  <dgm:constr type="h" for="ch" forName="childText1" refType="h" fact="0.776"/>
                </dgm:constrLst>
              </dgm:if>
              <dgm:else name="Name11">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076"/>
                  <dgm:constr type="t" for="ch" forName="childText1" refType="h" fact="0.224"/>
                  <dgm:constr type="w" for="ch" forName="childText1" refType="w" fact="0.9241"/>
                  <dgm:constr type="h" for="ch" forName="childText1" refType="h" fact="0.776"/>
                </dgm:constrLst>
              </dgm:else>
            </dgm:choose>
          </dgm:else>
        </dgm:choose>
      </dgm:if>
      <dgm:if name="Name12" axis="ch" ptType="node" func="cnt" op="equ" val="2">
        <dgm:choose name="Name13">
          <dgm:if name="Name14" axis="ch ch" ptType="node node" func="cnt" op="equ" val="0">
            <dgm:alg type="composite">
              <dgm:param type="ar" val="5.1498"/>
            </dgm:alg>
            <dgm:choose name="Name15">
              <dgm:if name="Name16" func="var" arg="dir" op="equ" val="norm">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462"/>
                  <dgm:constr type="t" for="ch" forName="parentText2" refType="h" fact="0.2499"/>
                  <dgm:constr type="w" for="ch" forName="parentText2" refType="w" fact="0.538"/>
                  <dgm:constr type="h" for="ch" forName="parentText2" refType="h" fact="0.7501"/>
                </dgm:constrLst>
              </dgm:if>
              <dgm:else name="Name17">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
                  <dgm:constr type="t" for="ch" forName="parentText2" refType="h" fact="0.2499"/>
                  <dgm:constr type="w" for="ch" forName="parentText2" refType="w" fact="0.538"/>
                  <dgm:constr type="h" for="ch" forName="parentText2" refType="h" fact="0.7501"/>
                </dgm:constrLst>
              </dgm:else>
            </dgm:choose>
          </dgm:if>
          <dgm:else name="Name18">
            <dgm:alg type="composite">
              <dgm:param type="ar" val="2.0563"/>
            </dgm:alg>
            <dgm:choose name="Name19">
              <dgm:if name="Name2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462"/>
                  <dgm:constr type="t" for="ch" forName="parentText2" refType="h" fact="0.0998"/>
                  <dgm:constr type="w" for="ch" forName="parentText2" refType="w" fact="0.538"/>
                  <dgm:constr type="h" for="ch" forName="parentText2" refType="h" fact="0.2995"/>
                  <dgm:constr type="l" for="ch" forName="childText1" refType="w" fact="0"/>
                  <dgm:constr type="t" for="ch" forName="childText1" refType="h" fact="0.2317"/>
                  <dgm:constr type="w" for="ch" forName="childText1" refType="w" fact="0.462"/>
                  <dgm:constr type="h" for="ch" forName="childText1" refType="h" fact="0.6685"/>
                  <dgm:constr type="l" for="ch" forName="childText2" refType="w" fact="0.462"/>
                  <dgm:constr type="t" for="ch" forName="childText2" refType="h" fact="0.3315"/>
                  <dgm:constr type="w" for="ch" forName="childText2" refType="w" fact="0.462"/>
                  <dgm:constr type="h" for="ch" forName="childText2" refType="h" fact="0.6685"/>
                </dgm:constrLst>
              </dgm:if>
              <dgm:else name="Name2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
                  <dgm:constr type="t" for="ch" forName="parentText2" refType="h" fact="0.0998"/>
                  <dgm:constr type="w" for="ch" forName="parentText2" refType="w" fact="0.538"/>
                  <dgm:constr type="h" for="ch" forName="parentText2" refType="h" fact="0.2995"/>
                  <dgm:constr type="l" for="ch" forName="childText1" refType="w" fact="0.538"/>
                  <dgm:constr type="t" for="ch" forName="childText1" refType="h" fact="0.2317"/>
                  <dgm:constr type="w" for="ch" forName="childText1" refType="w" fact="0.462"/>
                  <dgm:constr type="h" for="ch" forName="childText1" refType="h" fact="0.6685"/>
                  <dgm:constr type="l" for="ch" forName="childText2" refType="w" fact="0.076"/>
                  <dgm:constr type="t" for="ch" forName="childText2" refType="h" fact="0.3315"/>
                  <dgm:constr type="w" for="ch" forName="childText2" refType="w" fact="0.462"/>
                  <dgm:constr type="h" for="ch" forName="childText2" refType="h" fact="0.6685"/>
                </dgm:constrLst>
              </dgm:else>
            </dgm:choose>
          </dgm:else>
        </dgm:choose>
      </dgm:if>
      <dgm:if name="Name22" axis="ch" ptType="node" func="cnt" op="equ" val="3">
        <dgm:choose name="Name23">
          <dgm:if name="Name24" axis="ch ch" ptType="node node" func="cnt" op="equ" val="0">
            <dgm:alg type="composite">
              <dgm:param type="ar" val="4.1198"/>
            </dgm:alg>
            <dgm:choose name="Name25">
              <dgm:if name="Name2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308"/>
                  <dgm:constr type="t" for="ch" forName="parentText2" refType="h" fact="0.2"/>
                  <dgm:constr type="w" for="ch" forName="parentText2" refType="w" fact="0.692"/>
                  <dgm:constr type="h" for="ch" forName="parentText2" refType="h" fact="0.6"/>
                  <dgm:constr type="l" for="ch" forName="parentText3" refType="w" fact="0.616"/>
                  <dgm:constr type="t" for="ch" forName="parentText3" refType="h" fact="0.4"/>
                  <dgm:constr type="w" for="ch" forName="parentText3" refType="w" fact="0.384"/>
                  <dgm:constr type="h" for="ch" forName="parentText3" refType="h" fact="0.6"/>
                </dgm:constrLst>
              </dgm:if>
              <dgm:else name="Name2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
                  <dgm:constr type="t" for="ch" forName="parentText2" refType="h" fact="0.2"/>
                  <dgm:constr type="w" for="ch" forName="parentText2" refType="w" fact="0.692"/>
                  <dgm:constr type="h" for="ch" forName="parentText2" refType="h" fact="0.6"/>
                  <dgm:constr type="l" for="ch" forName="parentText3" refType="w" fact="0"/>
                  <dgm:constr type="t" for="ch" forName="parentText3" refType="h" fact="0.4"/>
                  <dgm:constr type="w" for="ch" forName="parentText3" refType="w" fact="0.384"/>
                  <dgm:constr type="h" for="ch" forName="parentText3" refType="h" fact="0.6"/>
                </dgm:constrLst>
              </dgm:else>
            </dgm:choose>
          </dgm:if>
          <dgm:else name="Name28">
            <dgm:alg type="composite">
              <dgm:param type="ar" val="2.0702"/>
            </dgm:alg>
            <dgm:choose name="Name29">
              <dgm:if name="Name3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
                  <dgm:constr type="t" for="ch" forName="childText1" refType="h" fact="0.2325"/>
                  <dgm:constr type="w" for="ch" forName="childText1" refType="w" fact="0.308"/>
                  <dgm:constr type="h" for="ch" forName="childText1" refType="h" fact="0.5808"/>
                  <dgm:constr type="l" for="ch" forName="childText2" refType="w" fact="0.308"/>
                  <dgm:constr type="t" for="ch" forName="childText2" refType="h" fact="0.333"/>
                  <dgm:constr type="w" for="ch" forName="childText2" refType="w" fact="0.308"/>
                  <dgm:constr type="h" for="ch" forName="childText2" refType="h" fact="0.5808"/>
                  <dgm:constr type="l" for="ch" forName="childText3" refType="w" fact="0.61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308"/>
                  <dgm:constr type="t" for="ch" forName="parentText2" refType="h" fact="0.1005"/>
                  <dgm:constr type="w" for="ch" forName="parentText2" refType="w" fact="0.692"/>
                  <dgm:constr type="h" for="ch" forName="parentText2" refType="h" fact="0.3015"/>
                  <dgm:constr type="l" for="ch" forName="parentText3" refType="w" fact="0.616"/>
                  <dgm:constr type="t" for="ch" forName="parentText3" refType="h" fact="0.201"/>
                  <dgm:constr type="w" for="ch" forName="parentText3" refType="w" fact="0.384"/>
                  <dgm:constr type="h" for="ch" forName="parentText3" refType="h" fact="0.3015"/>
                </dgm:constrLst>
              </dgm:if>
              <dgm:else name="Name3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692"/>
                  <dgm:constr type="t" for="ch" forName="childText1" refType="h" fact="0.2325"/>
                  <dgm:constr type="w" for="ch" forName="childText1" refType="w" fact="0.308"/>
                  <dgm:constr type="h" for="ch" forName="childText1" refType="h" fact="0.5808"/>
                  <dgm:constr type="l" for="ch" forName="childText2" refType="w" fact="0.384"/>
                  <dgm:constr type="t" for="ch" forName="childText2" refType="h" fact="0.333"/>
                  <dgm:constr type="w" for="ch" forName="childText2" refType="w" fact="0.308"/>
                  <dgm:constr type="h" for="ch" forName="childText2" refType="h" fact="0.5808"/>
                  <dgm:constr type="l" for="ch" forName="childText3" refType="w" fact="0.07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
                  <dgm:constr type="t" for="ch" forName="parentText2" refType="h" fact="0.1005"/>
                  <dgm:constr type="w" for="ch" forName="parentText2" refType="w" fact="0.692"/>
                  <dgm:constr type="h" for="ch" forName="parentText2" refType="h" fact="0.3015"/>
                  <dgm:constr type="l" for="ch" forName="parentText3" refType="w" fact="0"/>
                  <dgm:constr type="t" for="ch" forName="parentText3" refType="h" fact="0.201"/>
                  <dgm:constr type="w" for="ch" forName="parentText3" refType="w" fact="0.384"/>
                  <dgm:constr type="h" for="ch" forName="parentText3" refType="h" fact="0.3015"/>
                </dgm:constrLst>
              </dgm:else>
            </dgm:choose>
          </dgm:else>
        </dgm:choose>
      </dgm:if>
      <dgm:if name="Name32" axis="ch" ptType="node" func="cnt" op="equ" val="4">
        <dgm:choose name="Name33">
          <dgm:if name="Name34" axis="ch ch" ptType="node node" func="cnt" op="equ" val="0">
            <dgm:alg type="composite">
              <dgm:param type="ar" val="3.435"/>
            </dgm:alg>
            <dgm:choose name="Name35">
              <dgm:if name="Name3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2305"/>
                  <dgm:constr type="t" for="ch" forName="parentText2" refType="h" fact="0.1666"/>
                  <dgm:constr type="w" for="ch" forName="parentText2" refType="w" fact="0.7695"/>
                  <dgm:constr type="h" for="ch" forName="parentText2" refType="h" fact="0.5001"/>
                  <dgm:constr type="l" for="ch" forName="parentText3" refType="w" fact="0.461"/>
                  <dgm:constr type="t" for="ch" forName="parentText3" refType="h" fact="0.3333"/>
                  <dgm:constr type="w" for="ch" forName="parentText3" refType="w" fact="0.539"/>
                  <dgm:constr type="h" for="ch" forName="parentText3" refType="h" fact="0.5001"/>
                  <dgm:constr type="l" for="ch" forName="parentText4" refType="w" fact="0.6915"/>
                  <dgm:constr type="t" for="ch" forName="parentText4" refType="h" fact="0.4999"/>
                  <dgm:constr type="w" for="ch" forName="parentText4" refType="w" fact="0.3085"/>
                  <dgm:constr type="h" for="ch" forName="parentText4" refType="h" fact="0.5001"/>
                </dgm:constrLst>
              </dgm:if>
              <dgm:else name="Name3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
                  <dgm:constr type="t" for="ch" forName="parentText2" refType="h" fact="0.1666"/>
                  <dgm:constr type="w" for="ch" forName="parentText2" refType="w" fact="0.7695"/>
                  <dgm:constr type="h" for="ch" forName="parentText2" refType="h" fact="0.5001"/>
                  <dgm:constr type="l" for="ch" forName="parentText3" refType="w" fact="0"/>
                  <dgm:constr type="t" for="ch" forName="parentText3" refType="h" fact="0.3333"/>
                  <dgm:constr type="w" for="ch" forName="parentText3" refType="w" fact="0.539"/>
                  <dgm:constr type="h" for="ch" forName="parentText3" refType="h" fact="0.5001"/>
                  <dgm:constr type="l" for="ch" forName="parentText4" refType="w" fact="0"/>
                  <dgm:constr type="t" for="ch" forName="parentText4" refType="h" fact="0.4999"/>
                  <dgm:constr type="w" for="ch" forName="parentText4" refType="w" fact="0.3085"/>
                  <dgm:constr type="h" for="ch" forName="parentText4" refType="h" fact="0.5001"/>
                </dgm:constrLst>
              </dgm:else>
            </dgm:choose>
          </dgm:if>
          <dgm:else name="Name38">
            <dgm:alg type="composite">
              <dgm:param type="ar" val="1.9377"/>
            </dgm:alg>
            <dgm:choose name="Name39">
              <dgm:if name="Name4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
                  <dgm:constr type="t" for="ch" forName="childText1" refType="h" fact="0.218"/>
                  <dgm:constr type="w" for="ch" forName="childText1" refType="w" fact="0.2305"/>
                  <dgm:constr type="h" for="ch" forName="childText1" refType="h" fact="0.5218"/>
                  <dgm:constr type="l" for="ch" forName="childText2" refType="w" fact="0.2305"/>
                  <dgm:constr type="t" for="ch" forName="childText2" refType="h" fact="0.312"/>
                  <dgm:constr type="w" for="ch" forName="childText2" refType="w" fact="0.2305"/>
                  <dgm:constr type="h" for="ch" forName="childText2" refType="h" fact="0.5085"/>
                  <dgm:constr type="l" for="ch" forName="childText3" refType="w" fact="0.461"/>
                  <dgm:constr type="t" for="ch" forName="childText3" refType="h" fact="0.406"/>
                  <dgm:constr type="w" for="ch" forName="childText3" refType="w" fact="0.2305"/>
                  <dgm:constr type="h" for="ch" forName="childText3" refType="h" fact="0.5119"/>
                  <dgm:constr type="l" for="ch" forName="childText4" refType="w" fact="0.6915"/>
                  <dgm:constr type="t" for="ch" forName="childText4" refType="h" fact="0.5"/>
                  <dgm:constr type="w" for="ch" forName="childText4" refType="w" fact="0.232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2305"/>
                  <dgm:constr type="t" for="ch" forName="parentText2" refType="h" fact="0.094"/>
                  <dgm:constr type="w" for="ch" forName="parentText2" refType="w" fact="0.7695"/>
                  <dgm:constr type="h" for="ch" forName="parentText2" refType="h" fact="0.2821"/>
                  <dgm:constr type="l" for="ch" forName="parentText3" refType="w" fact="0.461"/>
                  <dgm:constr type="t" for="ch" forName="parentText3" refType="h" fact="0.188"/>
                  <dgm:constr type="w" for="ch" forName="parentText3" refType="w" fact="0.539"/>
                  <dgm:constr type="h" for="ch" forName="parentText3" refType="h" fact="0.2821"/>
                  <dgm:constr type="l" for="ch" forName="parentText4" refType="w" fact="0.6915"/>
                  <dgm:constr type="t" for="ch" forName="parentText4" refType="h" fact="0.282"/>
                  <dgm:constr type="w" for="ch" forName="parentText4" refType="w" fact="0.3085"/>
                  <dgm:constr type="h" for="ch" forName="parentText4" refType="h" fact="0.2821"/>
                </dgm:constrLst>
              </dgm:if>
              <dgm:else name="Name4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7695"/>
                  <dgm:constr type="t" for="ch" forName="childText1" refType="h" fact="0.218"/>
                  <dgm:constr type="w" for="ch" forName="childText1" refType="w" fact="0.2305"/>
                  <dgm:constr type="h" for="ch" forName="childText1" refType="h" fact="0.5218"/>
                  <dgm:constr type="l" for="ch" forName="childText2" refType="w" fact="0.539"/>
                  <dgm:constr type="t" for="ch" forName="childText2" refType="h" fact="0.312"/>
                  <dgm:constr type="w" for="ch" forName="childText2" refType="w" fact="0.2305"/>
                  <dgm:constr type="h" for="ch" forName="childText2" refType="h" fact="0.5085"/>
                  <dgm:constr type="l" for="ch" forName="childText3" refType="w" fact="0.3085"/>
                  <dgm:constr type="t" for="ch" forName="childText3" refType="h" fact="0.406"/>
                  <dgm:constr type="w" for="ch" forName="childText3" refType="w" fact="0.2305"/>
                  <dgm:constr type="h" for="ch" forName="childText3" refType="h" fact="0.5119"/>
                  <dgm:constr type="l" for="ch" forName="childText4" refType="w" fact="0.076"/>
                  <dgm:constr type="t" for="ch" forName="childText4" refType="h" fact="0.5"/>
                  <dgm:constr type="w" for="ch" forName="childText4" refType="w" fact="0.234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
                  <dgm:constr type="t" for="ch" forName="parentText2" refType="h" fact="0.094"/>
                  <dgm:constr type="w" for="ch" forName="parentText2" refType="w" fact="0.7695"/>
                  <dgm:constr type="h" for="ch" forName="parentText2" refType="h" fact="0.2821"/>
                  <dgm:constr type="l" for="ch" forName="parentText3" refType="w" fact="0"/>
                  <dgm:constr type="t" for="ch" forName="parentText3" refType="h" fact="0.188"/>
                  <dgm:constr type="w" for="ch" forName="parentText3" refType="w" fact="0.539"/>
                  <dgm:constr type="h" for="ch" forName="parentText3" refType="h" fact="0.2821"/>
                  <dgm:constr type="l" for="ch" forName="parentText4" refType="w" fact="0"/>
                  <dgm:constr type="t" for="ch" forName="parentText4" refType="h" fact="0.282"/>
                  <dgm:constr type="w" for="ch" forName="parentText4" refType="w" fact="0.3085"/>
                  <dgm:constr type="h" for="ch" forName="parentText4" refType="h" fact="0.2821"/>
                </dgm:constrLst>
              </dgm:else>
            </dgm:choose>
          </dgm:else>
        </dgm:choose>
      </dgm:if>
      <dgm:else name="Name42">
        <dgm:choose name="Name43">
          <dgm:if name="Name44" axis="ch ch" ptType="node node" func="cnt" op="equ" val="0">
            <dgm:alg type="composite">
              <dgm:param type="ar" val="2.9463"/>
            </dgm:alg>
            <dgm:choose name="Name45">
              <dgm:if name="Name4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1848"/>
                  <dgm:constr type="t" for="ch" forName="parentText2" refType="h" fact="0.1429"/>
                  <dgm:constr type="w" for="ch" forName="parentText2" refType="w" fact="0.8152"/>
                  <dgm:constr type="h" for="ch" forName="parentText2" refType="h" fact="0.4285"/>
                  <dgm:constr type="l" for="ch" forName="parentText3" refType="w" fact="0.3696"/>
                  <dgm:constr type="t" for="ch" forName="parentText3" refType="h" fact="0.2858"/>
                  <dgm:constr type="w" for="ch" forName="parentText3" refType="w" fact="0.6304"/>
                  <dgm:constr type="h" for="ch" forName="parentText3" refType="h" fact="0.4285"/>
                  <dgm:constr type="l" for="ch" forName="parentText4" refType="w" fact="0.5545"/>
                  <dgm:constr type="t" for="ch" forName="parentText4" refType="h" fact="0.4286"/>
                  <dgm:constr type="w" for="ch" forName="parentText4" refType="w" fact="0.4455"/>
                  <dgm:constr type="h" for="ch" forName="parentText4" refType="h" fact="0.4285"/>
                  <dgm:constr type="l" for="ch" forName="parentText5" refType="w" fact="0.7393"/>
                  <dgm:constr type="t" for="ch" forName="parentText5" refType="h" fact="0.5715"/>
                  <dgm:constr type="w" for="ch" forName="parentText5" refType="w" fact="0.2607"/>
                  <dgm:constr type="h" for="ch" forName="parentText5" refType="h" fact="0.4285"/>
                </dgm:constrLst>
              </dgm:if>
              <dgm:else name="Name4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
                  <dgm:constr type="t" for="ch" forName="parentText2" refType="h" fact="0.1429"/>
                  <dgm:constr type="w" for="ch" forName="parentText2" refType="w" fact="0.8152"/>
                  <dgm:constr type="h" for="ch" forName="parentText2" refType="h" fact="0.4285"/>
                  <dgm:constr type="l" for="ch" forName="parentText3" refType="w" fact="0"/>
                  <dgm:constr type="t" for="ch" forName="parentText3" refType="h" fact="0.2858"/>
                  <dgm:constr type="w" for="ch" forName="parentText3" refType="w" fact="0.6304"/>
                  <dgm:constr type="h" for="ch" forName="parentText3" refType="h" fact="0.4285"/>
                  <dgm:constr type="l" for="ch" forName="parentText4" refType="w" fact="0"/>
                  <dgm:constr type="t" for="ch" forName="parentText4" refType="h" fact="0.4286"/>
                  <dgm:constr type="w" for="ch" forName="parentText4" refType="w" fact="0.4455"/>
                  <dgm:constr type="h" for="ch" forName="parentText4" refType="h" fact="0.4285"/>
                  <dgm:constr type="l" for="ch" forName="parentText5" refType="w" fact="0"/>
                  <dgm:constr type="t" for="ch" forName="parentText5" refType="h" fact="0.5715"/>
                  <dgm:constr type="w" for="ch" forName="parentText5" refType="w" fact="0.2607"/>
                  <dgm:constr type="h" for="ch" forName="parentText5" refType="h" fact="0.4285"/>
                </dgm:constrLst>
              </dgm:else>
            </dgm:choose>
          </dgm:if>
          <dgm:else name="Name48">
            <dgm:alg type="composite">
              <dgm:param type="ar" val="1.7837"/>
            </dgm:alg>
            <dgm:choose name="Name49">
              <dgm:if name="Name5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
                  <dgm:constr type="t" for="ch" forName="childText1" refType="h" fact="0.1997"/>
                  <dgm:constr type="w" for="ch" forName="childText1" refType="w" fact="0.18482"/>
                  <dgm:constr type="h" for="ch" forName="childText1" refType="h" fact="0.4763"/>
                  <dgm:constr type="l" for="ch" forName="childText2" refType="w" fact="0.1848"/>
                  <dgm:constr type="t" for="ch" forName="childText2" refType="h" fact="0.2862"/>
                  <dgm:constr type="w" for="ch" forName="childText2" refType="w" fact="0.18482"/>
                  <dgm:constr type="h" for="ch" forName="childText2" refType="h" fact="0.4763"/>
                  <dgm:constr type="l" for="ch" forName="childText3" refType="w" fact="0.3696"/>
                  <dgm:constr type="t" for="ch" forName="childText3" refType="h" fact="0.3727"/>
                  <dgm:constr type="w" for="ch" forName="childText3" refType="w" fact="0.18482"/>
                  <dgm:constr type="h" for="ch" forName="childText3" refType="h" fact="0.4763"/>
                  <dgm:constr type="l" for="ch" forName="childText4" refType="w" fact="0.5545"/>
                  <dgm:constr type="t" for="ch" forName="childText4" refType="h" fact="0.4592"/>
                  <dgm:constr type="w" for="ch" forName="childText4" refType="w" fact="0.18482"/>
                  <dgm:constr type="h" for="ch" forName="childText4" refType="h" fact="0.4763"/>
                  <dgm:constr type="l" for="ch" forName="childText5" refType="w" fact="0.7393"/>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1848"/>
                  <dgm:constr type="t" for="ch" forName="parentText2" refType="h" fact="0.0865"/>
                  <dgm:constr type="w" for="ch" forName="parentText2" refType="w" fact="0.8152"/>
                  <dgm:constr type="h" for="ch" forName="parentText2" refType="h" fact="0.2594"/>
                  <dgm:constr type="l" for="ch" forName="parentText3" refType="w" fact="0.3696"/>
                  <dgm:constr type="t" for="ch" forName="parentText3" refType="h" fact="0.173"/>
                  <dgm:constr type="w" for="ch" forName="parentText3" refType="w" fact="0.6304"/>
                  <dgm:constr type="h" for="ch" forName="parentText3" refType="h" fact="0.2594"/>
                  <dgm:constr type="l" for="ch" forName="parentText4" refType="w" fact="0.5545"/>
                  <dgm:constr type="t" for="ch" forName="parentText4" refType="h" fact="0.2595"/>
                  <dgm:constr type="w" for="ch" forName="parentText4" refType="w" fact="0.4455"/>
                  <dgm:constr type="h" for="ch" forName="parentText4" refType="h" fact="0.2594"/>
                  <dgm:constr type="l" for="ch" forName="parentText5" refType="w" fact="0.7393"/>
                  <dgm:constr type="t" for="ch" forName="parentText5" refType="h" fact="0.346"/>
                  <dgm:constr type="w" for="ch" forName="parentText5" refType="w" fact="0.2607"/>
                  <dgm:constr type="h" for="ch" forName="parentText5" refType="h" fact="0.2594"/>
                </dgm:constrLst>
              </dgm:if>
              <dgm:else name="Name5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81518"/>
                  <dgm:constr type="t" for="ch" forName="childText1" refType="h" fact="0.1997"/>
                  <dgm:constr type="w" for="ch" forName="childText1" refType="w" fact="0.18482"/>
                  <dgm:constr type="h" for="ch" forName="childText1" refType="h" fact="0.4763"/>
                  <dgm:constr type="l" for="ch" forName="childText2" refType="w" fact="0.63036"/>
                  <dgm:constr type="t" for="ch" forName="childText2" refType="h" fact="0.2862"/>
                  <dgm:constr type="w" for="ch" forName="childText2" refType="w" fact="0.18482"/>
                  <dgm:constr type="h" for="ch" forName="childText2" refType="h" fact="0.4763"/>
                  <dgm:constr type="l" for="ch" forName="childText3" refType="w" fact="0.44554"/>
                  <dgm:constr type="t" for="ch" forName="childText3" refType="h" fact="0.3727"/>
                  <dgm:constr type="w" for="ch" forName="childText3" refType="w" fact="0.18482"/>
                  <dgm:constr type="h" for="ch" forName="childText3" refType="h" fact="0.4763"/>
                  <dgm:constr type="l" for="ch" forName="childText4" refType="w" fact="0.26072"/>
                  <dgm:constr type="t" for="ch" forName="childText4" refType="h" fact="0.4592"/>
                  <dgm:constr type="w" for="ch" forName="childText4" refType="w" fact="0.18482"/>
                  <dgm:constr type="h" for="ch" forName="childText4" refType="h" fact="0.4763"/>
                  <dgm:constr type="l" for="ch" forName="childText5" refType="w" fact="0.0759"/>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
                  <dgm:constr type="t" for="ch" forName="parentText2" refType="h" fact="0.0865"/>
                  <dgm:constr type="w" for="ch" forName="parentText2" refType="w" fact="0.8152"/>
                  <dgm:constr type="h" for="ch" forName="parentText2" refType="h" fact="0.2594"/>
                  <dgm:constr type="l" for="ch" forName="parentText3" refType="w" fact="0"/>
                  <dgm:constr type="t" for="ch" forName="parentText3" refType="h" fact="0.173"/>
                  <dgm:constr type="w" for="ch" forName="parentText3" refType="w" fact="0.6304"/>
                  <dgm:constr type="h" for="ch" forName="parentText3" refType="h" fact="0.2594"/>
                  <dgm:constr type="l" for="ch" forName="parentText4" refType="w" fact="0"/>
                  <dgm:constr type="t" for="ch" forName="parentText4" refType="h" fact="0.2595"/>
                  <dgm:constr type="w" for="ch" forName="parentText4" refType="w" fact="0.4455"/>
                  <dgm:constr type="h" for="ch" forName="parentText4" refType="h" fact="0.2594"/>
                  <dgm:constr type="l" for="ch" forName="parentText5" refType="w" fact="0"/>
                  <dgm:constr type="t" for="ch" forName="parentText5" refType="h" fact="0.346"/>
                  <dgm:constr type="w" for="ch" forName="parentText5" refType="w" fact="0.2607"/>
                  <dgm:constr type="h" for="ch" forName="parentText5" refType="h" fact="0.2594"/>
                </dgm:constrLst>
              </dgm:else>
            </dgm:choose>
          </dgm:else>
        </dgm:choose>
      </dgm:else>
    </dgm:choose>
    <dgm:forEach name="Name52" axis="ch" ptType="node" cnt="1">
      <dgm:layoutNode name="parentText1" styleLbl="node1">
        <dgm:varLst>
          <dgm:chMax/>
          <dgm:chPref val="3"/>
          <dgm:bulletEnabled val="1"/>
        </dgm:varLst>
        <dgm:choose name="Name53">
          <dgm:if name="Name54"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55">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56">
        <dgm:if name="Name57" axis="ch" ptType="node" func="cnt" op="gte" val="1">
          <dgm:layoutNode name="childText1"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dgm:forEach>
    <dgm:forEach name="Name59" axis="ch" ptType="node" st="2" cnt="1">
      <dgm:layoutNode name="parentText2" styleLbl="node1">
        <dgm:varLst>
          <dgm:chMax/>
          <dgm:chPref val="3"/>
          <dgm:bulletEnabled val="1"/>
        </dgm:varLst>
        <dgm:choose name="Name60">
          <dgm:if name="Name61"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2">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63">
        <dgm:if name="Name64" axis="ch" ptType="node" func="cnt" op="gte" val="1">
          <dgm:layoutNode name="childText2"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5"/>
      </dgm:choose>
    </dgm:forEach>
    <dgm:forEach name="Name66" axis="ch" ptType="node" st="3" cnt="1">
      <dgm:layoutNode name="parentText3" styleLbl="node1">
        <dgm:varLst>
          <dgm:chMax/>
          <dgm:chPref val="3"/>
          <dgm:bulletEnabled val="1"/>
        </dgm:varLst>
        <dgm:choose name="Name67">
          <dgm:if name="Name68"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9">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0">
        <dgm:if name="Name71" axis="ch" ptType="node" func="cnt" op="gte" val="1">
          <dgm:layoutNode name="childText3"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forEach>
    <dgm:forEach name="Name73" axis="ch" ptType="node" st="4" cnt="1">
      <dgm:layoutNode name="parentText4" styleLbl="node1">
        <dgm:varLst>
          <dgm:chMax/>
          <dgm:chPref val="3"/>
          <dgm:bulletEnabled val="1"/>
        </dgm:varLst>
        <dgm:choose name="Name74">
          <dgm:if name="Name75"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76">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7">
        <dgm:if name="Name78" axis="ch" ptType="node" func="cnt" op="gte" val="1">
          <dgm:layoutNode name="childText4"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dgm:forEach>
    <dgm:forEach name="Name80" axis="ch" ptType="node" st="5" cnt="1">
      <dgm:layoutNode name="parentText5" styleLbl="node1">
        <dgm:varLst>
          <dgm:chMax/>
          <dgm:chPref val="3"/>
          <dgm:bulletEnabled val="1"/>
        </dgm:varLst>
        <dgm:choose name="Name81">
          <dgm:if name="Name82"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83">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84">
        <dgm:if name="Name85" axis="ch" ptType="node" func="cnt" op="gte" val="1">
          <dgm:layoutNode name="childText5"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E2E2844-0427-4426-88C0-1616DDA01F56}" type="datetimeFigureOut">
              <a:rPr lang="en-US" smtClean="0"/>
              <a:t>3/5/2018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1C9F2AC-98D8-4317-B2FF-F9AFC647C4AC}" type="slidenum">
              <a:rPr lang="en-US" smtClean="0"/>
              <a:t>‹#›</a:t>
            </a:fld>
            <a:endParaRPr lang="en-US"/>
          </a:p>
        </p:txBody>
      </p:sp>
    </p:spTree>
    <p:extLst>
      <p:ext uri="{BB962C8B-B14F-4D97-AF65-F5344CB8AC3E}">
        <p14:creationId xmlns:p14="http://schemas.microsoft.com/office/powerpoint/2010/main" val="25930411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en.wikipedia.org/wiki/Z/OS"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8" Type="http://schemas.openxmlformats.org/officeDocument/2006/relationships/hyperlink" Target="https://en.wikipedia.org/wiki/Sensor" TargetMode="External"/><Relationship Id="rId3" Type="http://schemas.openxmlformats.org/officeDocument/2006/relationships/hyperlink" Target="https://en.wikipedia.org/wiki/Internetworking" TargetMode="External"/><Relationship Id="rId7" Type="http://schemas.openxmlformats.org/officeDocument/2006/relationships/hyperlink" Target="https://en.wikipedia.org/wiki/Software" TargetMode="External"/><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hyperlink" Target="https://en.wikipedia.org/wiki/Electronics" TargetMode="External"/><Relationship Id="rId5" Type="http://schemas.openxmlformats.org/officeDocument/2006/relationships/hyperlink" Target="https://en.wikipedia.org/wiki/Embedded_system" TargetMode="External"/><Relationship Id="rId10" Type="http://schemas.openxmlformats.org/officeDocument/2006/relationships/hyperlink" Target="https://www.rs-online.com/designspark/eleven-internet-of-things-iot-protocols-you-need-to-know-about" TargetMode="External"/><Relationship Id="rId4" Type="http://schemas.openxmlformats.org/officeDocument/2006/relationships/hyperlink" Target="https://en.wikipedia.org/wiki/Smart_device" TargetMode="External"/><Relationship Id="rId9" Type="http://schemas.openxmlformats.org/officeDocument/2006/relationships/hyperlink" Target="https://en.wikipedia.org/wiki/Internet_access"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8" Type="http://schemas.openxmlformats.org/officeDocument/2006/relationships/hyperlink" Target="https://en.wikipedia.org/wiki/BIOS" TargetMode="External"/><Relationship Id="rId3" Type="http://schemas.openxmlformats.org/officeDocument/2006/relationships/hyperlink" Target="https://en.wikipedia.org/wiki/Dynamic_random-access_memory" TargetMode="External"/><Relationship Id="rId7" Type="http://schemas.openxmlformats.org/officeDocument/2006/relationships/hyperlink" Target="https://en.wikipedia.org/wiki/Firmware" TargetMode="External"/><Relationship Id="rId12" Type="http://schemas.openxmlformats.org/officeDocument/2006/relationships/hyperlink" Target="https://en.wikipedia.org/wiki/High_fidelity" TargetMode="External"/><Relationship Id="rId2" Type="http://schemas.openxmlformats.org/officeDocument/2006/relationships/slide" Target="../slides/slide10.xml"/><Relationship Id="rId1" Type="http://schemas.openxmlformats.org/officeDocument/2006/relationships/notesMaster" Target="../notesMasters/notesMaster1.xml"/><Relationship Id="rId6" Type="http://schemas.openxmlformats.org/officeDocument/2006/relationships/hyperlink" Target="https://en.wikipedia.org/wiki/Operating_system" TargetMode="External"/><Relationship Id="rId11" Type="http://schemas.openxmlformats.org/officeDocument/2006/relationships/hyperlink" Target="https://en.wikipedia.org/wiki/Pun" TargetMode="External"/><Relationship Id="rId5" Type="http://schemas.openxmlformats.org/officeDocument/2006/relationships/hyperlink" Target="https://en.wikipedia.org/wiki/Interface_(computer_science)" TargetMode="External"/><Relationship Id="rId10" Type="http://schemas.openxmlformats.org/officeDocument/2006/relationships/hyperlink" Target="https://en.wikipedia.org/wiki/Personal_computer" TargetMode="External"/><Relationship Id="rId4" Type="http://schemas.openxmlformats.org/officeDocument/2006/relationships/hyperlink" Target="https://en.wikipedia.org/wiki/Specification" TargetMode="External"/><Relationship Id="rId9" Type="http://schemas.openxmlformats.org/officeDocument/2006/relationships/hyperlink" Target="https://en.wikipedia.org/wiki/IBM_PC_compatible"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youtube.com/watch?v=s7wmiS2mSXY"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en.wikipedia.org/wiki/Unix" TargetMode="External"/><Relationship Id="rId2" Type="http://schemas.openxmlformats.org/officeDocument/2006/relationships/slide" Target="../slides/slide24.xml"/><Relationship Id="rId1" Type="http://schemas.openxmlformats.org/officeDocument/2006/relationships/notesMaster" Target="../notesMasters/notesMaster1.xml"/><Relationship Id="rId5" Type="http://schemas.openxmlformats.org/officeDocument/2006/relationships/hyperlink" Target="https://en.wikipedia.org/wiki/Dennis_Ritchie" TargetMode="External"/><Relationship Id="rId4" Type="http://schemas.openxmlformats.org/officeDocument/2006/relationships/hyperlink" Target="https://en.wikipedia.org/wiki/Ken_Thompson"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sz="1200" b="0" i="0" u="none" strike="noStrike" kern="1200" baseline="0" dirty="0">
              <a:solidFill>
                <a:schemeClr val="tx1"/>
              </a:solidFill>
              <a:latin typeface="+mn-lt"/>
              <a:ea typeface="+mn-ea"/>
              <a:cs typeface="+mn-cs"/>
            </a:endParaRPr>
          </a:p>
          <a:p>
            <a:r>
              <a:rPr lang="en-CA" sz="1200" b="0" i="0" u="none" strike="noStrike" kern="1200" baseline="0" dirty="0">
                <a:solidFill>
                  <a:schemeClr val="tx1"/>
                </a:solidFill>
                <a:latin typeface="+mn-lt"/>
                <a:ea typeface="+mn-ea"/>
                <a:cs typeface="+mn-cs"/>
              </a:rPr>
              <a:t> Overview of Some Important System Terminology, System Programming, System Programming/Software Design Principles, and History of Operating Systems 	</a:t>
            </a:r>
          </a:p>
          <a:p>
            <a:endParaRPr lang="en-CA" dirty="0"/>
          </a:p>
        </p:txBody>
      </p:sp>
      <p:sp>
        <p:nvSpPr>
          <p:cNvPr id="4" name="Slide Number Placeholder 3"/>
          <p:cNvSpPr>
            <a:spLocks noGrp="1"/>
          </p:cNvSpPr>
          <p:nvPr>
            <p:ph type="sldNum" sz="quarter" idx="10"/>
          </p:nvPr>
        </p:nvSpPr>
        <p:spPr/>
        <p:txBody>
          <a:bodyPr/>
          <a:lstStyle/>
          <a:p>
            <a:fld id="{01C9F2AC-98D8-4317-B2FF-F9AFC647C4AC}" type="slidenum">
              <a:rPr lang="en-US" smtClean="0"/>
              <a:t>1</a:t>
            </a:fld>
            <a:endParaRPr lang="en-US"/>
          </a:p>
        </p:txBody>
      </p:sp>
    </p:spTree>
    <p:extLst>
      <p:ext uri="{BB962C8B-B14F-4D97-AF65-F5344CB8AC3E}">
        <p14:creationId xmlns:p14="http://schemas.microsoft.com/office/powerpoint/2010/main" val="30758502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01C9F2AC-98D8-4317-B2FF-F9AFC647C4AC}" type="slidenum">
              <a:rPr lang="en-US" smtClean="0"/>
              <a:t>2</a:t>
            </a:fld>
            <a:endParaRPr lang="en-US"/>
          </a:p>
        </p:txBody>
      </p:sp>
    </p:spTree>
    <p:extLst>
      <p:ext uri="{BB962C8B-B14F-4D97-AF65-F5344CB8AC3E}">
        <p14:creationId xmlns:p14="http://schemas.microsoft.com/office/powerpoint/2010/main" val="20584128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01C9F2AC-98D8-4317-B2FF-F9AFC647C4AC}" type="slidenum">
              <a:rPr lang="en-US" smtClean="0"/>
              <a:t>3</a:t>
            </a:fld>
            <a:endParaRPr lang="en-US"/>
          </a:p>
        </p:txBody>
      </p:sp>
    </p:spTree>
    <p:extLst>
      <p:ext uri="{BB962C8B-B14F-4D97-AF65-F5344CB8AC3E}">
        <p14:creationId xmlns:p14="http://schemas.microsoft.com/office/powerpoint/2010/main" val="25900323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01C9F2AC-98D8-4317-B2FF-F9AFC647C4AC}" type="slidenum">
              <a:rPr lang="en-US" smtClean="0"/>
              <a:t>4</a:t>
            </a:fld>
            <a:endParaRPr lang="en-US"/>
          </a:p>
        </p:txBody>
      </p:sp>
    </p:spTree>
    <p:extLst>
      <p:ext uri="{BB962C8B-B14F-4D97-AF65-F5344CB8AC3E}">
        <p14:creationId xmlns:p14="http://schemas.microsoft.com/office/powerpoint/2010/main" val="14837492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Server and small systems market share: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OS - A low level program that allows end user devices like keyboards, mice, and screens to communicate with computer hardware and controls the execution of application programs.</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TUX is the Linux mascot.  “(</a:t>
            </a:r>
            <a:r>
              <a:rPr lang="en-CA" sz="1200" b="1" i="0" kern="1200" dirty="0">
                <a:solidFill>
                  <a:schemeClr val="tx1"/>
                </a:solidFill>
                <a:effectLst/>
                <a:latin typeface="+mn-lt"/>
                <a:ea typeface="+mn-ea"/>
                <a:cs typeface="+mn-cs"/>
              </a:rPr>
              <a:t>T</a:t>
            </a:r>
            <a:r>
              <a:rPr lang="en-CA" sz="1200" b="0" i="0" kern="1200" dirty="0">
                <a:solidFill>
                  <a:schemeClr val="tx1"/>
                </a:solidFill>
                <a:effectLst/>
                <a:latin typeface="+mn-lt"/>
                <a:ea typeface="+mn-ea"/>
                <a:cs typeface="+mn-cs"/>
              </a:rPr>
              <a:t>)</a:t>
            </a:r>
            <a:r>
              <a:rPr lang="en-CA" sz="1200" b="0" i="0" kern="1200" dirty="0" err="1">
                <a:solidFill>
                  <a:schemeClr val="tx1"/>
                </a:solidFill>
                <a:effectLst/>
                <a:latin typeface="+mn-lt"/>
                <a:ea typeface="+mn-ea"/>
                <a:cs typeface="+mn-cs"/>
              </a:rPr>
              <a:t>orvalds</a:t>
            </a:r>
            <a:r>
              <a:rPr lang="en-CA" sz="1200" b="0" i="0" kern="1200" dirty="0">
                <a:solidFill>
                  <a:schemeClr val="tx1"/>
                </a:solidFill>
                <a:effectLst/>
                <a:latin typeface="+mn-lt"/>
                <a:ea typeface="+mn-ea"/>
                <a:cs typeface="+mn-cs"/>
              </a:rPr>
              <a:t> (</a:t>
            </a:r>
            <a:r>
              <a:rPr lang="en-CA" sz="1200" b="1" i="0" kern="1200" dirty="0">
                <a:solidFill>
                  <a:schemeClr val="tx1"/>
                </a:solidFill>
                <a:effectLst/>
                <a:latin typeface="+mn-lt"/>
                <a:ea typeface="+mn-ea"/>
                <a:cs typeface="+mn-cs"/>
              </a:rPr>
              <a:t>U</a:t>
            </a:r>
            <a:r>
              <a:rPr lang="en-CA" sz="1200" b="0" i="0" kern="1200" dirty="0">
                <a:solidFill>
                  <a:schemeClr val="tx1"/>
                </a:solidFill>
                <a:effectLst/>
                <a:latin typeface="+mn-lt"/>
                <a:ea typeface="+mn-ea"/>
                <a:cs typeface="+mn-cs"/>
              </a:rPr>
              <a:t>)</a:t>
            </a:r>
            <a:r>
              <a:rPr lang="en-CA" sz="1200" b="0" i="0" kern="1200" dirty="0" err="1">
                <a:solidFill>
                  <a:schemeClr val="tx1"/>
                </a:solidFill>
                <a:effectLst/>
                <a:latin typeface="+mn-lt"/>
                <a:ea typeface="+mn-ea"/>
                <a:cs typeface="+mn-cs"/>
              </a:rPr>
              <a:t>ni</a:t>
            </a:r>
            <a:r>
              <a:rPr lang="en-CA" sz="1200" b="0" i="0" kern="1200" dirty="0">
                <a:solidFill>
                  <a:schemeClr val="tx1"/>
                </a:solidFill>
                <a:effectLst/>
                <a:latin typeface="+mn-lt"/>
                <a:ea typeface="+mn-ea"/>
                <a:cs typeface="+mn-cs"/>
              </a:rPr>
              <a:t>(</a:t>
            </a:r>
            <a:r>
              <a:rPr lang="en-CA" sz="1200" b="1" i="0" kern="1200" dirty="0">
                <a:solidFill>
                  <a:schemeClr val="tx1"/>
                </a:solidFill>
                <a:effectLst/>
                <a:latin typeface="+mn-lt"/>
                <a:ea typeface="+mn-ea"/>
                <a:cs typeface="+mn-cs"/>
              </a:rPr>
              <a:t>X</a:t>
            </a:r>
            <a:r>
              <a:rPr lang="en-CA" sz="1200" b="0" i="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0" dirty="0"/>
              <a:t>https://en.wikipedia.org/wiki/Usage_share_of_operating_systems#Desktop_and_laptop_computers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Application Software, including Web Apps, is the primary focus of the School of ICT’s software development programs.</a:t>
            </a:r>
          </a:p>
          <a:p>
            <a:endParaRPr lang="en-US" dirty="0"/>
          </a:p>
          <a:p>
            <a:r>
              <a:rPr lang="en-US" dirty="0"/>
              <a:t>A</a:t>
            </a:r>
            <a:r>
              <a:rPr lang="en-CA" dirty="0"/>
              <a:t> Platform is a combination of </a:t>
            </a:r>
            <a:r>
              <a:rPr lang="en-US" altLang="en-US" dirty="0"/>
              <a:t>hardware + OS + development environment. E.g. “Wintel.NET” which is Windows running on Intel CPU/hardware using ASP.NET </a:t>
            </a:r>
            <a:r>
              <a:rPr lang="en-CA" sz="1200" b="0" i="0" kern="1200" dirty="0">
                <a:solidFill>
                  <a:schemeClr val="tx1"/>
                </a:solidFill>
                <a:effectLst/>
                <a:latin typeface="+mn-lt"/>
                <a:ea typeface="+mn-ea"/>
                <a:cs typeface="+mn-cs"/>
              </a:rPr>
              <a:t>which is a web framework for building modern web apps and services using Microsoft development tools such as Visual Studio. There are courses using this technology. </a:t>
            </a:r>
          </a:p>
          <a:p>
            <a:endParaRPr lang="en-CA" sz="1200" b="0"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What are other platforms?</a:t>
            </a:r>
            <a:r>
              <a:rPr lang="en-CA" sz="1200" b="0" i="0" kern="1200" dirty="0">
                <a:solidFill>
                  <a:schemeClr val="tx1"/>
                </a:solidFill>
                <a:effectLst/>
                <a:latin typeface="+mn-lt"/>
                <a:ea typeface="+mn-ea"/>
                <a:cs typeface="+mn-cs"/>
              </a:rPr>
              <a:t> iOS + Android tablets &amp; smartphones (increasing shipments), Desktop + laptop PCs (declining shipments); in 2011 sales of mobile devices exceeded PCs. The big three personal computing platforms are Apple mac &amp; iOS, Android, and Windows. Apple has 13.7% of smartphone market share in 2017Q1 but all of the profits. Android platforms have the rest of market share but little of the profit. Blackberry in-service devices are fading fast and their market share was zero in 2016Q4. </a:t>
            </a:r>
            <a:r>
              <a:rPr lang="en-CA" dirty="0"/>
              <a:t>The iOS App Store earned 75 percent more revenue than the Google Play Store in 2015 despite Apple's much smaller number of devices in service. Apple iOS users spend more than four dollars for every Android dollar on all purchases made through mobile devices.</a:t>
            </a:r>
            <a:endParaRPr lang="en-CA" sz="1200" b="0" i="0" kern="1200" dirty="0">
              <a:solidFill>
                <a:schemeClr val="tx1"/>
              </a:solidFill>
              <a:effectLst/>
              <a:latin typeface="+mn-lt"/>
              <a:ea typeface="+mn-ea"/>
              <a:cs typeface="+mn-cs"/>
            </a:endParaRPr>
          </a:p>
          <a:p>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The server market platforms: The most common operating system for mainframes is IBM's </a:t>
            </a:r>
            <a:r>
              <a:rPr lang="en-CA" sz="1200" b="0" i="0" u="none" strike="noStrike" kern="1200" dirty="0">
                <a:solidFill>
                  <a:schemeClr val="tx1"/>
                </a:solidFill>
                <a:effectLst/>
                <a:latin typeface="+mn-lt"/>
                <a:ea typeface="+mn-ea"/>
                <a:cs typeface="+mn-cs"/>
                <a:hlinkClick r:id="rId3" tooltip="Z/OS"/>
              </a:rPr>
              <a:t>z/OS</a:t>
            </a:r>
            <a:r>
              <a:rPr lang="en-CA" sz="1200" b="0" i="0" u="none" strike="noStrike" kern="1200" dirty="0">
                <a:solidFill>
                  <a:schemeClr val="tx1"/>
                </a:solidFill>
                <a:effectLst/>
                <a:latin typeface="+mn-lt"/>
                <a:ea typeface="+mn-ea"/>
                <a:cs typeface="+mn-cs"/>
              </a:rPr>
              <a:t>. In The midrange market is IBM Power Systems running AIX (UNIX) and IBM </a:t>
            </a:r>
            <a:r>
              <a:rPr lang="en-CA" sz="1200" b="0" i="0" u="none" strike="noStrike" kern="1200" dirty="0" err="1">
                <a:solidFill>
                  <a:schemeClr val="tx1"/>
                </a:solidFill>
                <a:effectLst/>
                <a:latin typeface="+mn-lt"/>
                <a:ea typeface="+mn-ea"/>
                <a:cs typeface="+mn-cs"/>
              </a:rPr>
              <a:t>i</a:t>
            </a:r>
            <a:r>
              <a:rPr lang="en-CA" sz="1200" b="0" i="0" u="none" strike="noStrike" kern="1200" dirty="0">
                <a:solidFill>
                  <a:schemeClr val="tx1"/>
                </a:solidFill>
                <a:effectLst/>
                <a:latin typeface="+mn-lt"/>
                <a:ea typeface="+mn-ea"/>
                <a:cs typeface="+mn-cs"/>
              </a:rPr>
              <a:t>/OS. The small server market includes Windows server and Linux servers.</a:t>
            </a:r>
          </a:p>
        </p:txBody>
      </p:sp>
      <p:sp>
        <p:nvSpPr>
          <p:cNvPr id="4" name="Slide Number Placeholder 3"/>
          <p:cNvSpPr>
            <a:spLocks noGrp="1"/>
          </p:cNvSpPr>
          <p:nvPr>
            <p:ph type="sldNum" sz="quarter" idx="10"/>
          </p:nvPr>
        </p:nvSpPr>
        <p:spPr/>
        <p:txBody>
          <a:bodyPr/>
          <a:lstStyle/>
          <a:p>
            <a:fld id="{01C9F2AC-98D8-4317-B2FF-F9AFC647C4AC}" type="slidenum">
              <a:rPr lang="en-US" smtClean="0"/>
              <a:t>5</a:t>
            </a:fld>
            <a:endParaRPr lang="en-US"/>
          </a:p>
        </p:txBody>
      </p:sp>
    </p:spTree>
    <p:extLst>
      <p:ext uri="{BB962C8B-B14F-4D97-AF65-F5344CB8AC3E}">
        <p14:creationId xmlns:p14="http://schemas.microsoft.com/office/powerpoint/2010/main" val="33119011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Embedded systems are small computers that have a microcontroller/microprocessor inside running a program from firmware. Examples: Digital alarm clocks, microwave ovens and other kitchen appliances, Christmas lights that blink in patterns, vehicles have many embedded systems: throttle control to go, automatic transmissions to continue going, traction control systems to go safely, ABS (Anti-skid Braking Systems) to stop in the minimum distance.</a:t>
            </a:r>
            <a:endParaRPr lang="en-US" dirty="0"/>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a:t>
            </a:r>
            <a:r>
              <a:rPr lang="en-CA" sz="1200" b="0" i="0" kern="1200" dirty="0" err="1">
                <a:solidFill>
                  <a:schemeClr val="tx1"/>
                </a:solidFill>
                <a:effectLst/>
                <a:latin typeface="+mn-lt"/>
                <a:ea typeface="+mn-ea"/>
                <a:cs typeface="+mn-cs"/>
              </a:rPr>
              <a:t>irmware</a:t>
            </a:r>
            <a:r>
              <a:rPr lang="en-CA" sz="1200" b="0" i="0" kern="1200" dirty="0">
                <a:solidFill>
                  <a:schemeClr val="tx1"/>
                </a:solidFill>
                <a:effectLst/>
                <a:latin typeface="+mn-lt"/>
                <a:ea typeface="+mn-ea"/>
                <a:cs typeface="+mn-cs"/>
              </a:rPr>
              <a:t> is a combined OS and application running on small embedded systems. These systems have very limited storage. Your microwave oven might be capable of configuration as to whether it makes that annoying beep but it will not remember that you usually turn it on at 70% power for 4 minutes to heat up a can of soup.</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Software is the most temporary and malleable. Firmware is semi-permanent software that’s tied more directly to the hardware and updated less often, and hardware is the physical components that are most permanent. </a:t>
            </a:r>
            <a:r>
              <a:rPr lang="en-CA" sz="1200" b="0" i="0" kern="1200" dirty="0" err="1">
                <a:solidFill>
                  <a:schemeClr val="tx1"/>
                </a:solidFill>
                <a:effectLst/>
                <a:latin typeface="+mn-lt"/>
                <a:ea typeface="+mn-ea"/>
                <a:cs typeface="+mn-cs"/>
              </a:rPr>
              <a:t>IoT</a:t>
            </a:r>
            <a:r>
              <a:rPr lang="en-CA" sz="1200" b="0" i="0" kern="1200" dirty="0">
                <a:solidFill>
                  <a:schemeClr val="tx1"/>
                </a:solidFill>
                <a:effectLst/>
                <a:latin typeface="+mn-lt"/>
                <a:ea typeface="+mn-ea"/>
                <a:cs typeface="+mn-cs"/>
              </a:rPr>
              <a:t> applications run on small devices where reduced processor use means less heat, where reduced memory footprint means smaller chips; all of which means reduced power consumption and better battery life. C language is particularly good at this.</a:t>
            </a:r>
          </a:p>
          <a:p>
            <a:endParaRPr lang="en-US" dirty="0"/>
          </a:p>
          <a:p>
            <a:r>
              <a:rPr lang="en-US" dirty="0"/>
              <a:t>F</a:t>
            </a:r>
            <a:r>
              <a:rPr lang="en-CA" dirty="0" err="1"/>
              <a:t>irmware</a:t>
            </a:r>
            <a:r>
              <a:rPr lang="en-CA" dirty="0"/>
              <a:t> plus networking is the basis of many </a:t>
            </a:r>
            <a:r>
              <a:rPr lang="en-CA" dirty="0" err="1"/>
              <a:t>IoT</a:t>
            </a:r>
            <a:r>
              <a:rPr lang="en-CA" dirty="0"/>
              <a:t> devices. https://en.wikipedia.org/wiki/Internet_of_things </a:t>
            </a:r>
          </a:p>
          <a:p>
            <a:r>
              <a:rPr lang="en-CA" sz="1200" b="0" i="0" kern="1200" dirty="0">
                <a:solidFill>
                  <a:schemeClr val="tx1"/>
                </a:solidFill>
                <a:effectLst/>
                <a:latin typeface="+mn-lt"/>
                <a:ea typeface="+mn-ea"/>
                <a:cs typeface="+mn-cs"/>
              </a:rPr>
              <a:t>Legal scholars suggest to look at "Things" as an "inextricable mixture of hardware, software, data and service".</a:t>
            </a:r>
            <a:endParaRPr lang="en-CA" dirty="0"/>
          </a:p>
          <a:p>
            <a:r>
              <a:rPr lang="en-CA" sz="1200" b="0" i="0" kern="1200" dirty="0">
                <a:solidFill>
                  <a:schemeClr val="tx1"/>
                </a:solidFill>
                <a:effectLst/>
                <a:latin typeface="+mn-lt"/>
                <a:ea typeface="+mn-ea"/>
                <a:cs typeface="+mn-cs"/>
              </a:rPr>
              <a:t>The </a:t>
            </a:r>
            <a:r>
              <a:rPr lang="en-CA" sz="1200" b="1" i="0" kern="1200" dirty="0">
                <a:solidFill>
                  <a:schemeClr val="tx1"/>
                </a:solidFill>
                <a:effectLst/>
                <a:latin typeface="+mn-lt"/>
                <a:ea typeface="+mn-ea"/>
                <a:cs typeface="+mn-cs"/>
              </a:rPr>
              <a:t>Internet of Things</a:t>
            </a:r>
            <a:r>
              <a:rPr lang="en-CA" sz="1200" b="0" i="0" kern="1200" dirty="0">
                <a:solidFill>
                  <a:schemeClr val="tx1"/>
                </a:solidFill>
                <a:effectLst/>
                <a:latin typeface="+mn-lt"/>
                <a:ea typeface="+mn-ea"/>
                <a:cs typeface="+mn-cs"/>
              </a:rPr>
              <a:t> or </a:t>
            </a:r>
            <a:r>
              <a:rPr lang="en-CA" sz="1200" b="1" i="0" kern="1200" dirty="0">
                <a:solidFill>
                  <a:schemeClr val="tx1"/>
                </a:solidFill>
                <a:effectLst/>
                <a:latin typeface="+mn-lt"/>
                <a:ea typeface="+mn-ea"/>
                <a:cs typeface="+mn-cs"/>
              </a:rPr>
              <a:t>IoT</a:t>
            </a:r>
            <a:r>
              <a:rPr lang="en-CA" sz="1200" b="0" i="0" kern="1200" dirty="0">
                <a:solidFill>
                  <a:schemeClr val="tx1"/>
                </a:solidFill>
                <a:effectLst/>
                <a:latin typeface="+mn-lt"/>
                <a:ea typeface="+mn-ea"/>
                <a:cs typeface="+mn-cs"/>
              </a:rPr>
              <a:t> is the </a:t>
            </a:r>
            <a:r>
              <a:rPr lang="en-CA" sz="1200" b="0" i="0" u="none" strike="noStrike" kern="1200" dirty="0">
                <a:solidFill>
                  <a:schemeClr val="tx1"/>
                </a:solidFill>
                <a:effectLst/>
                <a:latin typeface="+mn-lt"/>
                <a:ea typeface="+mn-ea"/>
                <a:cs typeface="+mn-cs"/>
                <a:hlinkClick r:id="rId3" tooltip="Internetworking"/>
              </a:rPr>
              <a:t>internetworking</a:t>
            </a:r>
            <a:r>
              <a:rPr lang="en-CA" sz="1200" b="0" i="0" kern="1200" dirty="0">
                <a:solidFill>
                  <a:schemeClr val="tx1"/>
                </a:solidFill>
                <a:effectLst/>
                <a:latin typeface="+mn-lt"/>
                <a:ea typeface="+mn-ea"/>
                <a:cs typeface="+mn-cs"/>
              </a:rPr>
              <a:t> of physical devices, vehicles (also referred to as "connected devices" and "</a:t>
            </a:r>
            <a:r>
              <a:rPr lang="en-CA" sz="1200" b="0" i="0" u="none" strike="noStrike" kern="1200" dirty="0">
                <a:solidFill>
                  <a:schemeClr val="tx1"/>
                </a:solidFill>
                <a:effectLst/>
                <a:latin typeface="+mn-lt"/>
                <a:ea typeface="+mn-ea"/>
                <a:cs typeface="+mn-cs"/>
                <a:hlinkClick r:id="rId4" tooltip="Smart device"/>
              </a:rPr>
              <a:t>smart devices</a:t>
            </a:r>
            <a:r>
              <a:rPr lang="en-CA" sz="1200" b="0" i="0" kern="1200" dirty="0">
                <a:solidFill>
                  <a:schemeClr val="tx1"/>
                </a:solidFill>
                <a:effectLst/>
                <a:latin typeface="+mn-lt"/>
                <a:ea typeface="+mn-ea"/>
                <a:cs typeface="+mn-cs"/>
              </a:rPr>
              <a:t>"), buildings, and other items—</a:t>
            </a:r>
            <a:r>
              <a:rPr lang="en-CA" sz="1200" b="0" i="0" u="none" strike="noStrike" kern="1200" dirty="0">
                <a:solidFill>
                  <a:schemeClr val="tx1"/>
                </a:solidFill>
                <a:effectLst/>
                <a:latin typeface="+mn-lt"/>
                <a:ea typeface="+mn-ea"/>
                <a:cs typeface="+mn-cs"/>
                <a:hlinkClick r:id="rId5" tooltip="Embedded system"/>
              </a:rPr>
              <a:t>embedded</a:t>
            </a:r>
            <a:r>
              <a:rPr lang="en-CA" sz="1200" b="0" i="0" kern="1200" dirty="0">
                <a:solidFill>
                  <a:schemeClr val="tx1"/>
                </a:solidFill>
                <a:effectLst/>
                <a:latin typeface="+mn-lt"/>
                <a:ea typeface="+mn-ea"/>
                <a:cs typeface="+mn-cs"/>
              </a:rPr>
              <a:t> with </a:t>
            </a:r>
            <a:r>
              <a:rPr lang="en-CA" sz="1200" b="0" i="0" u="none" strike="noStrike" kern="1200" dirty="0">
                <a:solidFill>
                  <a:schemeClr val="tx1"/>
                </a:solidFill>
                <a:effectLst/>
                <a:latin typeface="+mn-lt"/>
                <a:ea typeface="+mn-ea"/>
                <a:cs typeface="+mn-cs"/>
                <a:hlinkClick r:id="rId6" tooltip="Electronics"/>
              </a:rPr>
              <a:t>electronics</a:t>
            </a:r>
            <a:r>
              <a:rPr lang="en-CA" sz="1200" b="0" i="0" kern="1200" dirty="0">
                <a:solidFill>
                  <a:schemeClr val="tx1"/>
                </a:solidFill>
                <a:effectLst/>
                <a:latin typeface="+mn-lt"/>
                <a:ea typeface="+mn-ea"/>
                <a:cs typeface="+mn-cs"/>
              </a:rPr>
              <a:t>, </a:t>
            </a:r>
            <a:r>
              <a:rPr lang="en-CA" sz="1200" b="0" i="0" u="none" strike="noStrike" kern="1200" dirty="0">
                <a:solidFill>
                  <a:schemeClr val="tx1"/>
                </a:solidFill>
                <a:effectLst/>
                <a:latin typeface="+mn-lt"/>
                <a:ea typeface="+mn-ea"/>
                <a:cs typeface="+mn-cs"/>
                <a:hlinkClick r:id="rId7" tooltip="Software"/>
              </a:rPr>
              <a:t>software</a:t>
            </a:r>
            <a:r>
              <a:rPr lang="en-CA" sz="1200" b="0" i="0" kern="1200" dirty="0">
                <a:solidFill>
                  <a:schemeClr val="tx1"/>
                </a:solidFill>
                <a:effectLst/>
                <a:latin typeface="+mn-lt"/>
                <a:ea typeface="+mn-ea"/>
                <a:cs typeface="+mn-cs"/>
              </a:rPr>
              <a:t>, </a:t>
            </a:r>
            <a:r>
              <a:rPr lang="en-CA" sz="1200" b="0" i="0" u="none" strike="noStrike" kern="1200" dirty="0">
                <a:solidFill>
                  <a:schemeClr val="tx1"/>
                </a:solidFill>
                <a:effectLst/>
                <a:latin typeface="+mn-lt"/>
                <a:ea typeface="+mn-ea"/>
                <a:cs typeface="+mn-cs"/>
                <a:hlinkClick r:id="rId8" tooltip="Sensor"/>
              </a:rPr>
              <a:t>sensors</a:t>
            </a:r>
            <a:r>
              <a:rPr lang="en-CA" sz="1200" b="0" i="0" kern="1200" dirty="0">
                <a:solidFill>
                  <a:schemeClr val="tx1"/>
                </a:solidFill>
                <a:effectLst/>
                <a:latin typeface="+mn-lt"/>
                <a:ea typeface="+mn-ea"/>
                <a:cs typeface="+mn-cs"/>
              </a:rPr>
              <a:t>, actuators, and </a:t>
            </a:r>
            <a:r>
              <a:rPr lang="en-CA" sz="1200" b="0" i="0" u="none" strike="noStrike" kern="1200" dirty="0">
                <a:solidFill>
                  <a:schemeClr val="tx1"/>
                </a:solidFill>
                <a:effectLst/>
                <a:latin typeface="+mn-lt"/>
                <a:ea typeface="+mn-ea"/>
                <a:cs typeface="+mn-cs"/>
                <a:hlinkClick r:id="rId9" tooltip="Internet access"/>
              </a:rPr>
              <a:t>network connectivity</a:t>
            </a:r>
            <a:r>
              <a:rPr lang="en-CA" sz="1200" b="0" i="0" kern="1200" dirty="0">
                <a:solidFill>
                  <a:schemeClr val="tx1"/>
                </a:solidFill>
                <a:effectLst/>
                <a:latin typeface="+mn-lt"/>
                <a:ea typeface="+mn-ea"/>
                <a:cs typeface="+mn-cs"/>
              </a:rPr>
              <a:t> that enable these objects to collect and exchange data. </a:t>
            </a:r>
          </a:p>
          <a:p>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http://www.businessinsider.com/what-is-the-internet-of-things-definition-2016-8</a:t>
            </a:r>
          </a:p>
          <a:p>
            <a:pPr marL="0" marR="0" lvl="0" indent="0" algn="l" defTabSz="914400" rtl="0" eaLnBrk="1" fontAlgn="auto" latinLnBrk="0" hangingPunct="1">
              <a:lnSpc>
                <a:spcPct val="100000"/>
              </a:lnSpc>
              <a:spcBef>
                <a:spcPts val="0"/>
              </a:spcBef>
              <a:spcAft>
                <a:spcPts val="0"/>
              </a:spcAft>
              <a:buClrTx/>
              <a:buSzTx/>
              <a:buFontTx/>
              <a:buNone/>
              <a:tabLst/>
              <a:defRPr/>
            </a:pPr>
            <a:r>
              <a:rPr lang="en-CA" b="1" dirty="0"/>
              <a:t>The Internet of Things Needs a Code of Ethics</a:t>
            </a:r>
          </a:p>
          <a:p>
            <a:pPr marL="0" marR="0" lvl="0" indent="0" algn="l" defTabSz="914400" rtl="0" eaLnBrk="1" fontAlgn="auto" latinLnBrk="0" hangingPunct="1">
              <a:lnSpc>
                <a:spcPct val="100000"/>
              </a:lnSpc>
              <a:spcBef>
                <a:spcPts val="0"/>
              </a:spcBef>
              <a:spcAft>
                <a:spcPts val="0"/>
              </a:spcAft>
              <a:buClrTx/>
              <a:buSzTx/>
              <a:buFontTx/>
              <a:buNone/>
              <a:tabLst/>
              <a:defRPr/>
            </a:pPr>
            <a:r>
              <a:rPr lang="en-CA" b="0" dirty="0"/>
              <a:t>https://www.theatlantic.com/technology/archive/2017/05/internet-of-things-ethics/524802/</a:t>
            </a:r>
          </a:p>
          <a:p>
            <a:pPr marL="0" marR="0" lvl="0" indent="0" algn="l" defTabSz="914400" rtl="0" eaLnBrk="1" fontAlgn="auto" latinLnBrk="0" hangingPunct="1">
              <a:lnSpc>
                <a:spcPct val="100000"/>
              </a:lnSpc>
              <a:spcBef>
                <a:spcPts val="0"/>
              </a:spcBef>
              <a:spcAft>
                <a:spcPts val="0"/>
              </a:spcAft>
              <a:buClrTx/>
              <a:buSzTx/>
              <a:buFontTx/>
              <a:buNone/>
              <a:tabLst/>
              <a:defRPr/>
            </a:pPr>
            <a:r>
              <a:rPr lang="en-CA" b="1" dirty="0"/>
              <a:t>Social and Ethical Behavior in the Internet of Things </a:t>
            </a:r>
            <a:r>
              <a:rPr lang="en-CA" b="0" dirty="0"/>
              <a:t>(important article (referenced above) by </a:t>
            </a:r>
            <a:r>
              <a:rPr lang="en-CA" b="0" dirty="0" err="1"/>
              <a:t>Vint</a:t>
            </a:r>
            <a:r>
              <a:rPr lang="en-CA" b="0" dirty="0"/>
              <a:t> Cerf – a </a:t>
            </a:r>
            <a:r>
              <a:rPr lang="en-CA" dirty="0"/>
              <a:t>father of the internet – and Francine Berman, computer-science professor at Rensselaer Polytechnic Institute and a long-time expert on computer infrastructure. </a:t>
            </a:r>
            <a:r>
              <a:rPr lang="en-US" sz="1200" kern="1200" dirty="0">
                <a:solidFill>
                  <a:schemeClr val="tx1"/>
                </a:solidFill>
                <a:effectLst/>
                <a:latin typeface="+mn-lt"/>
                <a:ea typeface="+mn-ea"/>
                <a:cs typeface="+mn-cs"/>
              </a:rPr>
              <a:t>https://cacm.acm.org/magazines/2017/2/212443-social-and-ethical-behavior-in-the-internet-of-things/fulltext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Connectivity FYI: </a:t>
            </a:r>
            <a:r>
              <a:rPr lang="en-US" sz="1200" u="sng" kern="1200" dirty="0">
                <a:solidFill>
                  <a:schemeClr val="tx1"/>
                </a:solidFill>
                <a:effectLst/>
                <a:latin typeface="+mn-lt"/>
                <a:ea typeface="+mn-ea"/>
                <a:cs typeface="+mn-cs"/>
                <a:hlinkClick r:id="rId10"/>
              </a:rPr>
              <a:t>https://www.rs-online.com/designspark/eleven-internet-of-things-iot-protocols-you-need-to-know-about</a:t>
            </a:r>
            <a:r>
              <a:rPr lang="en-US" sz="1200" u="sng"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u="none" dirty="0"/>
              <a:t>https://www.postscapes.com/internet-of-things-protocols/</a:t>
            </a:r>
          </a:p>
          <a:p>
            <a:pPr marL="0" marR="0" lvl="0" indent="0" algn="l" defTabSz="914400" rtl="0" eaLnBrk="1" fontAlgn="auto" latinLnBrk="0" hangingPunct="1">
              <a:lnSpc>
                <a:spcPct val="100000"/>
              </a:lnSpc>
              <a:spcBef>
                <a:spcPts val="0"/>
              </a:spcBef>
              <a:spcAft>
                <a:spcPts val="0"/>
              </a:spcAft>
              <a:buClrTx/>
              <a:buSzTx/>
              <a:buFontTx/>
              <a:buNone/>
              <a:tabLst/>
              <a:defRPr/>
            </a:pPr>
            <a:r>
              <a:rPr lang="en-CA" u="none" dirty="0"/>
              <a:t>http://datasmart.ash.harvard.edu/news/article/internet-of-things-in-focus-859</a:t>
            </a:r>
          </a:p>
          <a:p>
            <a:pPr marL="0" marR="0" lvl="0" indent="0" algn="l" defTabSz="914400" rtl="0" eaLnBrk="1" fontAlgn="auto" latinLnBrk="0" hangingPunct="1">
              <a:lnSpc>
                <a:spcPct val="100000"/>
              </a:lnSpc>
              <a:spcBef>
                <a:spcPts val="0"/>
              </a:spcBef>
              <a:spcAft>
                <a:spcPts val="0"/>
              </a:spcAft>
              <a:buClrTx/>
              <a:buSzTx/>
              <a:buFontTx/>
              <a:buNone/>
              <a:tabLst/>
              <a:defRPr/>
            </a:pPr>
            <a:r>
              <a:rPr lang="en-CA" u="none" dirty="0"/>
              <a:t>http://www.zdnet.com/article/your-forgotten-iot-gadgets-will-leave-a-disastrous-toxic-legacy/</a:t>
            </a:r>
          </a:p>
          <a:p>
            <a:pPr marL="0" marR="0" lvl="0" indent="0" algn="l" defTabSz="914400" rtl="0" eaLnBrk="1" fontAlgn="auto" latinLnBrk="0" hangingPunct="1">
              <a:lnSpc>
                <a:spcPct val="100000"/>
              </a:lnSpc>
              <a:spcBef>
                <a:spcPts val="0"/>
              </a:spcBef>
              <a:spcAft>
                <a:spcPts val="0"/>
              </a:spcAft>
              <a:buClrTx/>
              <a:buSzTx/>
              <a:buFontTx/>
              <a:buNone/>
              <a:tabLst/>
              <a:defRPr/>
            </a:pPr>
            <a:r>
              <a:rPr lang="en-CA" u="none" dirty="0"/>
              <a:t>http://www.zdnet.com/article/dell-outlines-iot-strategy-plans-to-spend-1-billion-on-r-d-over-three-years/</a:t>
            </a:r>
          </a:p>
          <a:p>
            <a:pPr marL="0" marR="0" lvl="0" indent="0" algn="l" defTabSz="914400" rtl="0" eaLnBrk="1" fontAlgn="auto" latinLnBrk="0" hangingPunct="1">
              <a:lnSpc>
                <a:spcPct val="100000"/>
              </a:lnSpc>
              <a:spcBef>
                <a:spcPts val="0"/>
              </a:spcBef>
              <a:spcAft>
                <a:spcPts val="0"/>
              </a:spcAft>
              <a:buClrTx/>
              <a:buSzTx/>
              <a:buFontTx/>
              <a:buNone/>
              <a:tabLst/>
              <a:defRPr/>
            </a:pPr>
            <a:r>
              <a:rPr lang="en-CA" u="none" dirty="0"/>
              <a:t>http://www.zdnet.com/article/iot-devices-will-outnumber-the-worlds-population-this-year-for-the-first-time/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u="none"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u="none" dirty="0"/>
              <a:t>Programming for embedded systems</a:t>
            </a:r>
          </a:p>
          <a:p>
            <a:pPr marL="0" marR="0" lvl="0" indent="0" algn="l" defTabSz="914400" rtl="0" eaLnBrk="1" fontAlgn="auto" latinLnBrk="0" hangingPunct="1">
              <a:lnSpc>
                <a:spcPct val="100000"/>
              </a:lnSpc>
              <a:spcBef>
                <a:spcPts val="0"/>
              </a:spcBef>
              <a:spcAft>
                <a:spcPts val="0"/>
              </a:spcAft>
              <a:buClrTx/>
              <a:buSzTx/>
              <a:buFontTx/>
              <a:buNone/>
              <a:tabLst/>
              <a:defRPr/>
            </a:pPr>
            <a:r>
              <a:rPr lang="en-CA" u="none" dirty="0"/>
              <a:t>https://barrgroup.com/embedded-systems/books/embedded-c-coding-standard</a:t>
            </a:r>
          </a:p>
          <a:p>
            <a:pPr marL="0" marR="0" lvl="0" indent="0" algn="l" defTabSz="914400" rtl="0" eaLnBrk="1" fontAlgn="auto" latinLnBrk="0" hangingPunct="1">
              <a:lnSpc>
                <a:spcPct val="100000"/>
              </a:lnSpc>
              <a:spcBef>
                <a:spcPts val="0"/>
              </a:spcBef>
              <a:spcAft>
                <a:spcPts val="0"/>
              </a:spcAft>
              <a:buClrTx/>
              <a:buSzTx/>
              <a:buFontTx/>
              <a:buNone/>
              <a:tabLst/>
              <a:defRPr/>
            </a:pPr>
            <a:r>
              <a:rPr lang="en-CA" u="none" dirty="0"/>
              <a:t>https://embeddedgurus.com/stack-overflow/2008/06/efficient-c-tips-1-choosing-the-correct-integer-size/</a:t>
            </a:r>
          </a:p>
          <a:p>
            <a:endParaRPr lang="en-CA" dirty="0"/>
          </a:p>
        </p:txBody>
      </p:sp>
      <p:sp>
        <p:nvSpPr>
          <p:cNvPr id="4" name="Slide Number Placeholder 3"/>
          <p:cNvSpPr>
            <a:spLocks noGrp="1"/>
          </p:cNvSpPr>
          <p:nvPr>
            <p:ph type="sldNum" sz="quarter" idx="10"/>
          </p:nvPr>
        </p:nvSpPr>
        <p:spPr/>
        <p:txBody>
          <a:bodyPr/>
          <a:lstStyle/>
          <a:p>
            <a:fld id="{01C9F2AC-98D8-4317-B2FF-F9AFC647C4AC}" type="slidenum">
              <a:rPr lang="en-US" smtClean="0"/>
              <a:t>6</a:t>
            </a:fld>
            <a:endParaRPr lang="en-US"/>
          </a:p>
        </p:txBody>
      </p:sp>
    </p:spTree>
    <p:extLst>
      <p:ext uri="{BB962C8B-B14F-4D97-AF65-F5344CB8AC3E}">
        <p14:creationId xmlns:p14="http://schemas.microsoft.com/office/powerpoint/2010/main" val="13050783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 platform can create local standalone applications deployed to a single PC (</a:t>
            </a:r>
            <a:r>
              <a:rPr lang="en-US" i="1" dirty="0"/>
              <a:t>Windows Forms</a:t>
            </a:r>
            <a:r>
              <a:rPr lang="en-US" dirty="0"/>
              <a:t>) although the browser with its JavaScript engine is now the default User Interface platform.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ASP – Active Server Pages aspect of .NET interacts with Microsoft’s web server, IIS - </a:t>
            </a:r>
            <a:r>
              <a:rPr lang="en-CA" dirty="0"/>
              <a:t>Internet Information Services</a:t>
            </a:r>
            <a:r>
              <a:rPr lang="en-US" dirty="0"/>
              <a:t>, to run applications via a client’s browser.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 are courses using this platform in the School of ICT.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Programs written in any language for .NET Framework execute in a software environment named Common Language Runtime (CLR), an application </a:t>
            </a:r>
            <a:r>
              <a:rPr lang="en-CA" b="1" dirty="0"/>
              <a:t>virtual machine </a:t>
            </a:r>
            <a:r>
              <a:rPr lang="en-CA" dirty="0"/>
              <a:t>that provides services such as security, memory management, and exception handling. This is similar to the Java Virtual Machine concept.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The Model-View-Controller (MVC) architectural pattern is commonly used by most object oriented development platforms. MVC separates an application into three main components: the model (data domain), the view (User Interface), and the controller (handle user interaction, work with the model, and ultimately select a view to render that displays UI). This pattern is used in most object oriented development platforms. In theory, the same controller could use a browser/web view, a different view for a local application on a desktop's big screen display, keyboard, and mouse and a different view for a smartphone. The same controller talks to a model where the underlying data store could be changed from a traditional relational DB (e.g. Oracle or IBM's DB2) to a </a:t>
            </a:r>
            <a:r>
              <a:rPr lang="en-CA" dirty="0" err="1"/>
              <a:t>noSQL</a:t>
            </a:r>
            <a:r>
              <a:rPr lang="en-CA" dirty="0"/>
              <a:t> DB (e.g. MongoDB). ADO.NET allows programmers to access data and data services from any type of database. Data stores and SQL access are abstracted away from the application into a data Model.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https://msdn.microsoft.com/en-us/library/dd381412(v=vs.108).aspx  </a:t>
            </a:r>
            <a:r>
              <a:rPr lang="en-CA" b="1" dirty="0"/>
              <a:t>ASP.NET MVC Overview</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https://msdn.microsoft.com/en-us/library/ff649643.aspx (identified as "</a:t>
            </a:r>
            <a:r>
              <a:rPr lang="en-CA" dirty="0"/>
              <a:t>Retired Content" but a good explanation of MVC concepts)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https://msdn.microsoft.com/en-us/magazine/mt842512.aspx  </a:t>
            </a:r>
            <a:r>
              <a:rPr lang="en-CA" b="1" dirty="0"/>
              <a:t>Simpler ASP.NET MVC Apps with Razor Pages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Web programming experts know the info here –&gt; https://codeburst.io/how-browsers-work-6350a4234634</a:t>
            </a:r>
          </a:p>
        </p:txBody>
      </p:sp>
      <p:sp>
        <p:nvSpPr>
          <p:cNvPr id="4" name="Slide Number Placeholder 3"/>
          <p:cNvSpPr>
            <a:spLocks noGrp="1"/>
          </p:cNvSpPr>
          <p:nvPr>
            <p:ph type="sldNum" sz="quarter" idx="10"/>
          </p:nvPr>
        </p:nvSpPr>
        <p:spPr/>
        <p:txBody>
          <a:bodyPr/>
          <a:lstStyle/>
          <a:p>
            <a:fld id="{314F67C4-4AAE-4E12-A8E7-F5B8FF9C811E}" type="slidenum">
              <a:rPr lang="en-US" smtClean="0"/>
              <a:t>7</a:t>
            </a:fld>
            <a:endParaRPr lang="en-US"/>
          </a:p>
        </p:txBody>
      </p:sp>
    </p:spTree>
    <p:extLst>
      <p:ext uri="{BB962C8B-B14F-4D97-AF65-F5344CB8AC3E}">
        <p14:creationId xmlns:p14="http://schemas.microsoft.com/office/powerpoint/2010/main" val="8704389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Illustration By Shmuel Csaba Otto </a:t>
            </a:r>
            <a:r>
              <a:rPr lang="en-CA" dirty="0" err="1"/>
              <a:t>Traian</a:t>
            </a:r>
            <a:r>
              <a:rPr lang="en-CA" dirty="0"/>
              <a:t>, CC BY-SA 3.0, https://commons.wikimedia.org/w/index.php?curid=28224098</a:t>
            </a:r>
          </a:p>
          <a:p>
            <a:r>
              <a:rPr lang="en-US" dirty="0"/>
              <a:t>From </a:t>
            </a:r>
            <a:r>
              <a:rPr lang="en-CA" dirty="0"/>
              <a:t>https://en.wikipedia.org/wiki/LAMP_(software_bundle)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Another common platform is the LAMP stack an open source web platform used to run dynamic web sites and servers. It includes Linux OS, Apache web server, MySQL database, and PHP/Python/Perl programming. Linux OS runs on a variety of hardware from PCs to IBM mainframes.</a:t>
            </a:r>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 are courses using aspects of this platform throughout the School of ICT.</a:t>
            </a:r>
          </a:p>
          <a:p>
            <a:endParaRPr lang="en-CA" dirty="0"/>
          </a:p>
        </p:txBody>
      </p:sp>
      <p:sp>
        <p:nvSpPr>
          <p:cNvPr id="4" name="Slide Number Placeholder 3"/>
          <p:cNvSpPr>
            <a:spLocks noGrp="1"/>
          </p:cNvSpPr>
          <p:nvPr>
            <p:ph type="sldNum" sz="quarter" idx="10"/>
          </p:nvPr>
        </p:nvSpPr>
        <p:spPr/>
        <p:txBody>
          <a:bodyPr/>
          <a:lstStyle/>
          <a:p>
            <a:fld id="{01C9F2AC-98D8-4317-B2FF-F9AFC647C4AC}" type="slidenum">
              <a:rPr lang="en-US" smtClean="0"/>
              <a:t>8</a:t>
            </a:fld>
            <a:endParaRPr lang="en-US"/>
          </a:p>
        </p:txBody>
      </p:sp>
    </p:spTree>
    <p:extLst>
      <p:ext uri="{BB962C8B-B14F-4D97-AF65-F5344CB8AC3E}">
        <p14:creationId xmlns:p14="http://schemas.microsoft.com/office/powerpoint/2010/main" val="4241152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the LAMP stack.</a:t>
            </a:r>
          </a:p>
          <a:p>
            <a:r>
              <a:rPr lang="en-US" dirty="0"/>
              <a:t>CGI - </a:t>
            </a:r>
            <a:r>
              <a:rPr lang="en-CA" dirty="0"/>
              <a:t>Common Gateway Interface, a standard for dynamic generation of web pages by a web server. Allows a web page to call a program.</a:t>
            </a:r>
          </a:p>
          <a:p>
            <a:r>
              <a:rPr lang="en-US" dirty="0"/>
              <a:t>P</a:t>
            </a:r>
            <a:r>
              <a:rPr lang="en-CA" dirty="0"/>
              <a:t>HP - PHP originally stood for Personal Home Page, but it now stands for the recursive acronym </a:t>
            </a:r>
            <a:r>
              <a:rPr lang="en-CA" u="sng" dirty="0"/>
              <a:t>P</a:t>
            </a:r>
            <a:r>
              <a:rPr lang="en-CA" dirty="0"/>
              <a:t>HP: </a:t>
            </a:r>
            <a:r>
              <a:rPr lang="en-CA" u="sng" dirty="0"/>
              <a:t>H</a:t>
            </a:r>
            <a:r>
              <a:rPr lang="en-CA" dirty="0"/>
              <a:t>ypertext </a:t>
            </a:r>
            <a:r>
              <a:rPr lang="en-CA" u="sng" dirty="0"/>
              <a:t>P</a:t>
            </a:r>
            <a:r>
              <a:rPr lang="en-CA" dirty="0"/>
              <a:t>reprocessor.</a:t>
            </a:r>
          </a:p>
          <a:p>
            <a:r>
              <a:rPr lang="en-US" dirty="0"/>
              <a:t>G</a:t>
            </a:r>
            <a:r>
              <a:rPr lang="en-CA" dirty="0"/>
              <a:t>NU: GNU's Not Unix (another clever recursive acronym…and RMS is clever. Google: RMS GNU)</a:t>
            </a:r>
          </a:p>
        </p:txBody>
      </p:sp>
      <p:sp>
        <p:nvSpPr>
          <p:cNvPr id="4" name="Slide Number Placeholder 3"/>
          <p:cNvSpPr>
            <a:spLocks noGrp="1"/>
          </p:cNvSpPr>
          <p:nvPr>
            <p:ph type="sldNum" sz="quarter" idx="10"/>
          </p:nvPr>
        </p:nvSpPr>
        <p:spPr/>
        <p:txBody>
          <a:bodyPr/>
          <a:lstStyle/>
          <a:p>
            <a:fld id="{01C9F2AC-98D8-4317-B2FF-F9AFC647C4AC}" type="slidenum">
              <a:rPr lang="en-US" smtClean="0"/>
              <a:t>9</a:t>
            </a:fld>
            <a:endParaRPr lang="en-US"/>
          </a:p>
        </p:txBody>
      </p:sp>
    </p:spTree>
    <p:extLst>
      <p:ext uri="{BB962C8B-B14F-4D97-AF65-F5344CB8AC3E}">
        <p14:creationId xmlns:p14="http://schemas.microsoft.com/office/powerpoint/2010/main" val="16242756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ym typeface="Wingdings" panose="05000000000000000000" pitchFamily="2" charset="2"/>
              </a:rPr>
              <a:t></a:t>
            </a:r>
            <a:r>
              <a:rPr lang="en-CA" dirty="0">
                <a:sym typeface="Wingdings" panose="05000000000000000000" pitchFamily="2" charset="2"/>
              </a:rPr>
              <a:t> </a:t>
            </a:r>
            <a:r>
              <a:rPr lang="en-CA" b="1" dirty="0">
                <a:sym typeface="Wingdings" panose="05000000000000000000" pitchFamily="2" charset="2"/>
              </a:rPr>
              <a:t>These will not be on the quiz.</a:t>
            </a:r>
            <a:endParaRPr lang="en-CA" b="1" dirty="0"/>
          </a:p>
          <a:p>
            <a:endParaRPr lang="en-US" sz="1200" b="1" i="0" kern="1200" dirty="0">
              <a:solidFill>
                <a:schemeClr val="tx1"/>
              </a:solidFill>
              <a:effectLst/>
              <a:latin typeface="+mn-lt"/>
              <a:ea typeface="+mn-ea"/>
              <a:cs typeface="+mn-cs"/>
            </a:endParaRPr>
          </a:p>
          <a:p>
            <a:r>
              <a:rPr lang="en-US" sz="1200" b="1" i="0" kern="1200" dirty="0" err="1">
                <a:solidFill>
                  <a:schemeClr val="tx1"/>
                </a:solidFill>
                <a:effectLst/>
                <a:latin typeface="+mn-lt"/>
                <a:ea typeface="+mn-ea"/>
                <a:cs typeface="+mn-cs"/>
              </a:rPr>
              <a:t>MO</a:t>
            </a:r>
            <a:r>
              <a:rPr lang="en-US" sz="1200" b="0" i="0" kern="1200" dirty="0" err="1">
                <a:solidFill>
                  <a:schemeClr val="tx1"/>
                </a:solidFill>
                <a:effectLst/>
                <a:latin typeface="+mn-lt"/>
                <a:ea typeface="+mn-ea"/>
                <a:cs typeface="+mn-cs"/>
              </a:rPr>
              <a:t>ther</a:t>
            </a:r>
            <a:r>
              <a:rPr lang="en-US" sz="1200" b="1" i="0" kern="1200" dirty="0" err="1">
                <a:solidFill>
                  <a:schemeClr val="tx1"/>
                </a:solidFill>
                <a:effectLst/>
                <a:latin typeface="+mn-lt"/>
                <a:ea typeface="+mn-ea"/>
                <a:cs typeface="+mn-cs"/>
              </a:rPr>
              <a:t>BO</a:t>
            </a:r>
            <a:r>
              <a:rPr lang="en-US" sz="1200" b="0" i="0" kern="1200" dirty="0" err="1">
                <a:solidFill>
                  <a:schemeClr val="tx1"/>
                </a:solidFill>
                <a:effectLst/>
                <a:latin typeface="+mn-lt"/>
                <a:ea typeface="+mn-ea"/>
                <a:cs typeface="+mn-cs"/>
              </a:rPr>
              <a:t>ard</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Machine – what geeks call computers</a:t>
            </a:r>
          </a:p>
          <a:p>
            <a:r>
              <a:rPr lang="en-US" sz="1200" b="0" i="0" kern="1200" dirty="0">
                <a:solidFill>
                  <a:schemeClr val="tx1"/>
                </a:solidFill>
                <a:effectLst/>
                <a:latin typeface="+mn-lt"/>
                <a:ea typeface="+mn-ea"/>
                <a:cs typeface="+mn-cs"/>
              </a:rPr>
              <a:t>Central / Floating-point / Graphics Processing Unit, </a:t>
            </a:r>
            <a:r>
              <a:rPr lang="en-CA" sz="1200" b="1" i="0" kern="1200" dirty="0">
                <a:solidFill>
                  <a:schemeClr val="tx1"/>
                </a:solidFill>
                <a:effectLst/>
                <a:latin typeface="+mn-lt"/>
                <a:ea typeface="+mn-ea"/>
                <a:cs typeface="+mn-cs"/>
              </a:rPr>
              <a:t>Arithmetic Logic Unit </a:t>
            </a:r>
            <a:r>
              <a:rPr lang="en-CA" sz="1200" b="0" i="0" kern="1200" dirty="0">
                <a:solidFill>
                  <a:schemeClr val="tx1"/>
                </a:solidFill>
                <a:effectLst/>
                <a:latin typeface="+mn-lt"/>
                <a:ea typeface="+mn-ea"/>
                <a:cs typeface="+mn-cs"/>
              </a:rPr>
              <a:t>performs </a:t>
            </a:r>
            <a:r>
              <a:rPr lang="en-CA" sz="1200" b="0" i="0" kern="1200" dirty="0" err="1">
                <a:solidFill>
                  <a:schemeClr val="tx1"/>
                </a:solidFill>
                <a:effectLst/>
                <a:latin typeface="+mn-lt"/>
                <a:ea typeface="+mn-ea"/>
                <a:cs typeface="+mn-cs"/>
              </a:rPr>
              <a:t>calcs</a:t>
            </a:r>
            <a:r>
              <a:rPr lang="en-CA" sz="1200" b="0" i="0" kern="1200" dirty="0">
                <a:solidFill>
                  <a:schemeClr val="tx1"/>
                </a:solidFill>
                <a:effectLst/>
                <a:latin typeface="+mn-lt"/>
                <a:ea typeface="+mn-ea"/>
                <a:cs typeface="+mn-cs"/>
              </a:rPr>
              <a:t> on integer binary numbers.</a:t>
            </a:r>
            <a:endParaRPr lang="en-CA" sz="1200" b="1"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Synchronous Dynamic Random-Access Memory</a:t>
            </a:r>
            <a:r>
              <a:rPr lang="en-CA" sz="1200" b="0" i="0" kern="1200" dirty="0">
                <a:solidFill>
                  <a:schemeClr val="tx1"/>
                </a:solidFill>
                <a:effectLst/>
                <a:latin typeface="+mn-lt"/>
                <a:ea typeface="+mn-ea"/>
                <a:cs typeface="+mn-cs"/>
              </a:rPr>
              <a:t> (</a:t>
            </a:r>
            <a:r>
              <a:rPr lang="en-CA" sz="1200" b="1" i="0" kern="1200" dirty="0">
                <a:solidFill>
                  <a:schemeClr val="tx1"/>
                </a:solidFill>
                <a:effectLst/>
                <a:latin typeface="+mn-lt"/>
                <a:ea typeface="+mn-ea"/>
                <a:cs typeface="+mn-cs"/>
              </a:rPr>
              <a:t>SDRAM</a:t>
            </a:r>
            <a:r>
              <a:rPr lang="en-CA" sz="1200" b="0" i="0" kern="1200" dirty="0">
                <a:solidFill>
                  <a:schemeClr val="tx1"/>
                </a:solidFill>
                <a:effectLst/>
                <a:latin typeface="+mn-lt"/>
                <a:ea typeface="+mn-ea"/>
                <a:cs typeface="+mn-cs"/>
              </a:rPr>
              <a:t>) is any </a:t>
            </a:r>
            <a:r>
              <a:rPr lang="en-CA" sz="1200" b="0" i="0" u="none" strike="noStrike" kern="1200" dirty="0">
                <a:solidFill>
                  <a:schemeClr val="tx1"/>
                </a:solidFill>
                <a:effectLst/>
                <a:latin typeface="+mn-lt"/>
                <a:ea typeface="+mn-ea"/>
                <a:cs typeface="+mn-cs"/>
                <a:hlinkClick r:id="rId3" tooltip="Dynamic random-access memory"/>
              </a:rPr>
              <a:t>Dynamic Random-Access Memory</a:t>
            </a:r>
            <a:r>
              <a:rPr lang="en-CA" sz="1200" b="0" i="0" kern="1200" dirty="0">
                <a:solidFill>
                  <a:schemeClr val="tx1"/>
                </a:solidFill>
                <a:effectLst/>
                <a:latin typeface="+mn-lt"/>
                <a:ea typeface="+mn-ea"/>
                <a:cs typeface="+mn-cs"/>
              </a:rPr>
              <a:t> (DRAM)</a:t>
            </a:r>
          </a:p>
          <a:p>
            <a:r>
              <a:rPr lang="en-US" sz="1200" b="0" i="0" kern="1200" dirty="0">
                <a:solidFill>
                  <a:schemeClr val="tx1"/>
                </a:solidFill>
                <a:effectLst/>
                <a:latin typeface="+mn-lt"/>
                <a:ea typeface="+mn-ea"/>
                <a:cs typeface="+mn-cs"/>
              </a:rPr>
              <a:t>D</a:t>
            </a:r>
            <a:r>
              <a:rPr lang="en-CA" sz="1200" b="0" i="0" kern="1200" dirty="0">
                <a:solidFill>
                  <a:schemeClr val="tx1"/>
                </a:solidFill>
                <a:effectLst/>
                <a:latin typeface="+mn-lt"/>
                <a:ea typeface="+mn-ea"/>
                <a:cs typeface="+mn-cs"/>
              </a:rPr>
              <a:t>DR - Double data rate synchronous dynamic random-access memory (DDR SDRAM), DDR versions 1 - 4</a:t>
            </a:r>
          </a:p>
          <a:p>
            <a:r>
              <a:rPr lang="en-US" sz="1200" b="0" i="0" kern="1200" dirty="0">
                <a:solidFill>
                  <a:schemeClr val="tx1"/>
                </a:solidFill>
                <a:effectLst/>
                <a:latin typeface="+mn-lt"/>
                <a:ea typeface="+mn-ea"/>
                <a:cs typeface="+mn-cs"/>
              </a:rPr>
              <a:t>B</a:t>
            </a:r>
            <a:r>
              <a:rPr lang="en-CA" sz="1200" b="0" i="0" kern="1200" dirty="0">
                <a:solidFill>
                  <a:schemeClr val="tx1"/>
                </a:solidFill>
                <a:effectLst/>
                <a:latin typeface="+mn-lt"/>
                <a:ea typeface="+mn-ea"/>
                <a:cs typeface="+mn-cs"/>
              </a:rPr>
              <a:t>IOS – Basic Input/</a:t>
            </a:r>
            <a:r>
              <a:rPr lang="en-CA" sz="1200" b="0" i="0" kern="1200" dirty="0" err="1">
                <a:solidFill>
                  <a:schemeClr val="tx1"/>
                </a:solidFill>
                <a:effectLst/>
                <a:latin typeface="+mn-lt"/>
                <a:ea typeface="+mn-ea"/>
                <a:cs typeface="+mn-cs"/>
              </a:rPr>
              <a:t>Ouput</a:t>
            </a:r>
            <a:r>
              <a:rPr lang="en-CA" sz="1200" b="0" i="0" kern="1200" dirty="0">
                <a:solidFill>
                  <a:schemeClr val="tx1"/>
                </a:solidFill>
                <a:effectLst/>
                <a:latin typeface="+mn-lt"/>
                <a:ea typeface="+mn-ea"/>
                <a:cs typeface="+mn-cs"/>
              </a:rPr>
              <a:t> System that boots up a computer from an EEPROM Electrically Erasable Programmable Read Only Memory </a:t>
            </a:r>
          </a:p>
          <a:p>
            <a:r>
              <a:rPr lang="en-CA" dirty="0"/>
              <a:t>UEFI -  </a:t>
            </a:r>
            <a:r>
              <a:rPr lang="en-CA" b="1" dirty="0"/>
              <a:t>Unified Extensible Firmware Interface</a:t>
            </a:r>
            <a:r>
              <a:rPr lang="en-CA" dirty="0"/>
              <a:t> (</a:t>
            </a:r>
            <a:r>
              <a:rPr lang="en-CA" b="1" dirty="0"/>
              <a:t>UEFI</a:t>
            </a:r>
            <a:r>
              <a:rPr lang="en-CA" dirty="0"/>
              <a:t>) is a </a:t>
            </a:r>
            <a:r>
              <a:rPr lang="en-CA" dirty="0">
                <a:hlinkClick r:id="rId4" tooltip="Specification"/>
              </a:rPr>
              <a:t>specification</a:t>
            </a:r>
            <a:r>
              <a:rPr lang="en-CA" dirty="0"/>
              <a:t> that defines a software </a:t>
            </a:r>
            <a:r>
              <a:rPr lang="en-CA" dirty="0">
                <a:hlinkClick r:id="rId5" tooltip="Interface (computer science)"/>
              </a:rPr>
              <a:t>interface</a:t>
            </a:r>
            <a:r>
              <a:rPr lang="en-CA" dirty="0"/>
              <a:t> between an </a:t>
            </a:r>
            <a:r>
              <a:rPr lang="en-CA" dirty="0">
                <a:hlinkClick r:id="rId6" tooltip="Operating system"/>
              </a:rPr>
              <a:t>operating system</a:t>
            </a:r>
            <a:r>
              <a:rPr lang="en-CA" dirty="0"/>
              <a:t> and platform </a:t>
            </a:r>
            <a:r>
              <a:rPr lang="en-CA" dirty="0">
                <a:hlinkClick r:id="rId7" tooltip="Firmware"/>
              </a:rPr>
              <a:t>firmware</a:t>
            </a:r>
            <a:r>
              <a:rPr lang="en-CA" dirty="0"/>
              <a:t>. </a:t>
            </a:r>
            <a:br>
              <a:rPr lang="en-CA" dirty="0"/>
            </a:br>
            <a:r>
              <a:rPr lang="en-CA" dirty="0"/>
              <a:t>UEFI replaces the Basic </a:t>
            </a:r>
            <a:r>
              <a:rPr lang="en-CA" dirty="0" err="1"/>
              <a:t>Input/Output</a:t>
            </a:r>
            <a:r>
              <a:rPr lang="en-CA" dirty="0"/>
              <a:t> System (</a:t>
            </a:r>
            <a:r>
              <a:rPr lang="en-CA" dirty="0">
                <a:hlinkClick r:id="rId8" tooltip="BIOS"/>
              </a:rPr>
              <a:t>BIOS</a:t>
            </a:r>
            <a:r>
              <a:rPr lang="en-CA" dirty="0"/>
              <a:t>) firmware interface originally present in all </a:t>
            </a:r>
            <a:r>
              <a:rPr lang="en-CA" dirty="0">
                <a:hlinkClick r:id="rId9" tooltip="IBM PC compatible"/>
              </a:rPr>
              <a:t>IBM PC-compatible</a:t>
            </a:r>
            <a:r>
              <a:rPr lang="en-CA" dirty="0"/>
              <a:t> </a:t>
            </a:r>
            <a:r>
              <a:rPr lang="en-CA" dirty="0">
                <a:hlinkClick r:id="rId10" tooltip="Personal computer"/>
              </a:rPr>
              <a:t>personal computers</a:t>
            </a:r>
            <a:r>
              <a:rPr lang="en-CA" dirty="0"/>
              <a:t>,</a:t>
            </a:r>
            <a:endParaRPr lang="en-CA" sz="1200" b="0"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SSD solid-state drive</a:t>
            </a:r>
            <a:r>
              <a:rPr lang="en-CA" sz="1200" b="0" i="0" kern="1200" dirty="0">
                <a:solidFill>
                  <a:schemeClr val="tx1"/>
                </a:solidFill>
                <a:effectLst/>
                <a:latin typeface="+mn-lt"/>
                <a:ea typeface="+mn-ea"/>
                <a:cs typeface="+mn-cs"/>
              </a:rPr>
              <a:t> , Hard Disk Drive, Compact Disc-Read Only Memory, Floppy Disc Drive</a:t>
            </a:r>
          </a:p>
          <a:p>
            <a:r>
              <a:rPr lang="en-US" sz="1200" b="0" i="0" kern="1200" dirty="0">
                <a:solidFill>
                  <a:schemeClr val="tx1"/>
                </a:solidFill>
                <a:effectLst/>
                <a:latin typeface="+mn-lt"/>
                <a:ea typeface="+mn-ea"/>
                <a:cs typeface="+mn-cs"/>
              </a:rPr>
              <a:t>USB – Universal Serial Bus, </a:t>
            </a:r>
            <a:r>
              <a:rPr lang="en-CA" sz="1200" b="1" i="0" u="none" strike="noStrike" kern="1200" dirty="0">
                <a:solidFill>
                  <a:schemeClr val="tx1"/>
                </a:solidFill>
                <a:effectLst/>
                <a:latin typeface="+mn-lt"/>
                <a:ea typeface="+mn-ea"/>
                <a:cs typeface="+mn-cs"/>
              </a:rPr>
              <a:t>Secure Digital Card (SD card)</a:t>
            </a:r>
          </a:p>
          <a:p>
            <a:r>
              <a:rPr lang="en-CA" dirty="0"/>
              <a:t>SIM (Subscriber Identity Module) </a:t>
            </a:r>
          </a:p>
          <a:p>
            <a:r>
              <a:rPr lang="en-US" dirty="0"/>
              <a:t>N</a:t>
            </a:r>
            <a:r>
              <a:rPr lang="en-CA" dirty="0"/>
              <a:t>IC – Network Interface Card</a:t>
            </a:r>
          </a:p>
          <a:p>
            <a:r>
              <a:rPr lang="en-CA" sz="1200" b="0" i="0" kern="1200" dirty="0">
                <a:solidFill>
                  <a:schemeClr val="tx1"/>
                </a:solidFill>
                <a:effectLst/>
                <a:latin typeface="+mn-lt"/>
                <a:ea typeface="+mn-ea"/>
                <a:cs typeface="+mn-cs"/>
              </a:rPr>
              <a:t>Wi-Fi =  Wi-Fi Alliance hired Interbrand to create a name that was "a little catchier than ''IEEE 802.11b Direct Sequence.'  </a:t>
            </a:r>
            <a:r>
              <a:rPr lang="en-CA" sz="1200" b="0" i="1" kern="1200" dirty="0">
                <a:solidFill>
                  <a:schemeClr val="tx1"/>
                </a:solidFill>
                <a:effectLst/>
                <a:latin typeface="+mn-lt"/>
                <a:ea typeface="+mn-ea"/>
                <a:cs typeface="+mn-cs"/>
              </a:rPr>
              <a:t>Wi-Fi</a:t>
            </a:r>
            <a:r>
              <a:rPr lang="en-CA" sz="1200" b="0" i="0" kern="1200" dirty="0">
                <a:solidFill>
                  <a:schemeClr val="tx1"/>
                </a:solidFill>
                <a:effectLst/>
                <a:latin typeface="+mn-lt"/>
                <a:ea typeface="+mn-ea"/>
                <a:cs typeface="+mn-cs"/>
              </a:rPr>
              <a:t> is a word invented </a:t>
            </a:r>
            <a:r>
              <a:rPr lang="en-CA" dirty="0"/>
              <a:t>as a </a:t>
            </a:r>
            <a:r>
              <a:rPr lang="en-CA" dirty="0">
                <a:hlinkClick r:id="rId11" tooltip="Pun"/>
              </a:rPr>
              <a:t>pun</a:t>
            </a:r>
            <a:r>
              <a:rPr lang="en-CA" dirty="0"/>
              <a:t> upon the word </a:t>
            </a:r>
            <a:r>
              <a:rPr lang="en-CA" dirty="0">
                <a:hlinkClick r:id="rId12" tooltip="High fidelity"/>
              </a:rPr>
              <a:t>hi-fi</a:t>
            </a:r>
            <a:r>
              <a:rPr lang="en-CA" dirty="0"/>
              <a:t>.</a:t>
            </a:r>
          </a:p>
        </p:txBody>
      </p:sp>
      <p:sp>
        <p:nvSpPr>
          <p:cNvPr id="4" name="Slide Number Placeholder 3"/>
          <p:cNvSpPr>
            <a:spLocks noGrp="1"/>
          </p:cNvSpPr>
          <p:nvPr>
            <p:ph type="sldNum" sz="quarter" idx="10"/>
          </p:nvPr>
        </p:nvSpPr>
        <p:spPr/>
        <p:txBody>
          <a:bodyPr/>
          <a:lstStyle/>
          <a:p>
            <a:fld id="{01C9F2AC-98D8-4317-B2FF-F9AFC647C4AC}" type="slidenum">
              <a:rPr lang="en-US" smtClean="0"/>
              <a:t>10</a:t>
            </a:fld>
            <a:endParaRPr lang="en-US"/>
          </a:p>
        </p:txBody>
      </p:sp>
    </p:spTree>
    <p:extLst>
      <p:ext uri="{BB962C8B-B14F-4D97-AF65-F5344CB8AC3E}">
        <p14:creationId xmlns:p14="http://schemas.microsoft.com/office/powerpoint/2010/main" val="13482725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Program – a program is an application in an executable file, commonly with an EXE and/or DLL (Dynamic Linked Library) file extension. For example MS Word’s WINWORD.EXE. It is a file on a drive ready to be executed, i.e. run.</a:t>
            </a:r>
          </a:p>
          <a:p>
            <a:endParaRPr lang="en-US" baseline="0" dirty="0"/>
          </a:p>
          <a:p>
            <a:r>
              <a:rPr lang="en-US" baseline="0" dirty="0"/>
              <a:t>When a program file is run, the OS creates a </a:t>
            </a:r>
            <a:r>
              <a:rPr lang="en-US" b="1" baseline="0" dirty="0"/>
              <a:t>process</a:t>
            </a:r>
            <a:r>
              <a:rPr lang="en-US" baseline="0" dirty="0"/>
              <a:t>. Unique resources are reserved and memory addresses allocated for each process. </a:t>
            </a:r>
          </a:p>
          <a:p>
            <a:r>
              <a:rPr lang="en-US" baseline="0" dirty="0"/>
              <a:t>Some programs like PowerPoint will have a single process with one or more threads (AKA child process or sub-process) for each PPT file being edited. Other programs will have separate processes for each task, e.g. Chrome.</a:t>
            </a:r>
            <a:br>
              <a:rPr lang="en-US" baseline="0" dirty="0"/>
            </a:br>
            <a:r>
              <a:rPr lang="en-US" b="1" baseline="0" dirty="0"/>
              <a:t>[ use Task Manager to show WINWORD.EXE as the process for MS WORD ] </a:t>
            </a:r>
          </a:p>
          <a:p>
            <a:endParaRPr lang="en-US" baseline="0" dirty="0"/>
          </a:p>
          <a:p>
            <a:r>
              <a:rPr lang="en-US" baseline="0" dirty="0"/>
              <a:t>Inside a process, a specific action is performed in a “thread”. More than one thread can run concurrently. For example, a thread listens for a mouse click, another thread waits for you to finish typing a word and spell checks it. You can print a document and immediately continue using Word while the printing thread runs in the background.</a:t>
            </a:r>
          </a:p>
          <a:p>
            <a:endParaRPr lang="en-US" baseline="0" dirty="0"/>
          </a:p>
          <a:p>
            <a:r>
              <a:rPr lang="en-US" baseline="0" dirty="0"/>
              <a:t>Programming with threads is covered in our object oriented programming classes using C++, C# or Java.</a:t>
            </a:r>
          </a:p>
          <a:p>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b="1" dirty="0"/>
              <a:t>About Processes and Threads</a:t>
            </a:r>
          </a:p>
          <a:p>
            <a:r>
              <a:rPr lang="en-US" dirty="0"/>
              <a:t>https://msdn.microsoft.com/en-us/library/windows/desktop/ms681917(v=vs.85).aspx</a:t>
            </a:r>
          </a:p>
          <a:p>
            <a:r>
              <a:rPr lang="en-CA" dirty="0"/>
              <a:t>"Each </a:t>
            </a:r>
            <a:r>
              <a:rPr lang="en-CA" i="1" dirty="0"/>
              <a:t>process</a:t>
            </a:r>
            <a:r>
              <a:rPr lang="en-CA" dirty="0"/>
              <a:t> provides the resources needed to execute a program. A process has a virtual address space, executable code, open handles to system objects, a security context, a unique process identifier, environment variables, a priority class, minimum and maximum working set sizes, and at least one thread of execution. Each process is started with a single thread, often called the </a:t>
            </a:r>
            <a:r>
              <a:rPr lang="en-CA" i="1" dirty="0"/>
              <a:t>primary thread</a:t>
            </a:r>
            <a:r>
              <a:rPr lang="en-CA" dirty="0"/>
              <a:t>, but can create additional threads from any of its threads.</a:t>
            </a:r>
          </a:p>
          <a:p>
            <a:r>
              <a:rPr lang="en-CA" dirty="0"/>
              <a:t>A </a:t>
            </a:r>
            <a:r>
              <a:rPr lang="en-CA" i="1" dirty="0"/>
              <a:t>thread</a:t>
            </a:r>
            <a:r>
              <a:rPr lang="en-CA" dirty="0"/>
              <a:t> is the entity within a process that can be scheduled for execution. All threads of a process share its virtual address space and system resources. In addition, each thread maintains exception handlers, a scheduling priority, thread local storage, a unique thread identifier, and a set of structures the system will use to save the thread context until it is scheduled. The </a:t>
            </a:r>
            <a:r>
              <a:rPr lang="en-CA" i="1" dirty="0"/>
              <a:t>thread context</a:t>
            </a:r>
            <a:r>
              <a:rPr lang="en-CA" dirty="0"/>
              <a:t> includes the thread's set of machine registers, the kernel stack, a thread environment block, and a user stack in the address space of the thread's process. </a:t>
            </a:r>
            <a:r>
              <a:rPr lang="en-US" dirty="0"/>
              <a:t>"</a:t>
            </a:r>
            <a:endParaRPr lang="en-CA" dirty="0"/>
          </a:p>
        </p:txBody>
      </p:sp>
      <p:sp>
        <p:nvSpPr>
          <p:cNvPr id="4" name="Slide Number Placeholder 3"/>
          <p:cNvSpPr>
            <a:spLocks noGrp="1"/>
          </p:cNvSpPr>
          <p:nvPr>
            <p:ph type="sldNum" sz="quarter" idx="10"/>
          </p:nvPr>
        </p:nvSpPr>
        <p:spPr/>
        <p:txBody>
          <a:bodyPr/>
          <a:lstStyle/>
          <a:p>
            <a:fld id="{314F67C4-4AAE-4E12-A8E7-F5B8FF9C811E}" type="slidenum">
              <a:rPr lang="en-US" smtClean="0"/>
              <a:t>11</a:t>
            </a:fld>
            <a:endParaRPr lang="en-US" dirty="0"/>
          </a:p>
        </p:txBody>
      </p:sp>
    </p:spTree>
    <p:extLst>
      <p:ext uri="{BB962C8B-B14F-4D97-AF65-F5344CB8AC3E}">
        <p14:creationId xmlns:p14="http://schemas.microsoft.com/office/powerpoint/2010/main" val="34835892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14F67C4-4AAE-4E12-A8E7-F5B8FF9C811E}" type="slidenum">
              <a:rPr lang="en-US" smtClean="0"/>
              <a:t>12</a:t>
            </a:fld>
            <a:endParaRPr lang="en-US" dirty="0"/>
          </a:p>
        </p:txBody>
      </p:sp>
    </p:spTree>
    <p:extLst>
      <p:ext uri="{BB962C8B-B14F-4D97-AF65-F5344CB8AC3E}">
        <p14:creationId xmlns:p14="http://schemas.microsoft.com/office/powerpoint/2010/main" val="13121636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use Apps but they don’t change them.</a:t>
            </a:r>
          </a:p>
          <a:p>
            <a:r>
              <a:rPr lang="en-US" dirty="0"/>
              <a:t>Programmers create Apps and use System Services through APIs (more about that in a moment)</a:t>
            </a:r>
          </a:p>
          <a:p>
            <a:r>
              <a:rPr lang="en-US" dirty="0"/>
              <a:t>Software Engineers and computer scientists create services and high level Operating System functions that humans see and interact with.</a:t>
            </a:r>
          </a:p>
          <a:p>
            <a:r>
              <a:rPr lang="en-US" dirty="0"/>
              <a:t>Hardware (Electrical and Computer) Engineers design the hardware and low level system software that lets an operating system talk to the hardware.</a:t>
            </a:r>
            <a:endParaRPr lang="en-CA" dirty="0"/>
          </a:p>
        </p:txBody>
      </p:sp>
      <p:sp>
        <p:nvSpPr>
          <p:cNvPr id="4" name="Slide Number Placeholder 3"/>
          <p:cNvSpPr>
            <a:spLocks noGrp="1"/>
          </p:cNvSpPr>
          <p:nvPr>
            <p:ph type="sldNum" sz="quarter" idx="10"/>
          </p:nvPr>
        </p:nvSpPr>
        <p:spPr/>
        <p:txBody>
          <a:bodyPr/>
          <a:lstStyle/>
          <a:p>
            <a:fld id="{01C9F2AC-98D8-4317-B2FF-F9AFC647C4AC}" type="slidenum">
              <a:rPr lang="en-US" smtClean="0"/>
              <a:t>13</a:t>
            </a:fld>
            <a:endParaRPr lang="en-US"/>
          </a:p>
        </p:txBody>
      </p:sp>
    </p:spTree>
    <p:extLst>
      <p:ext uri="{BB962C8B-B14F-4D97-AF65-F5344CB8AC3E}">
        <p14:creationId xmlns:p14="http://schemas.microsoft.com/office/powerpoint/2010/main" val="18244165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a:t>
            </a:r>
            <a:r>
              <a:rPr lang="en-US" baseline="0" dirty="0"/>
              <a:t> operating system to be more reliable, memory must be protected from bad programs or bad hardware.</a:t>
            </a:r>
          </a:p>
          <a:p>
            <a:r>
              <a:rPr lang="en-US" baseline="0" dirty="0"/>
              <a:t>increased memory protection can also provide increased security. </a:t>
            </a:r>
          </a:p>
          <a:p>
            <a:r>
              <a:rPr lang="en-US" baseline="0" dirty="0"/>
              <a:t>Thus the system is more reliable because </a:t>
            </a:r>
            <a:r>
              <a:rPr lang="en-US" baseline="0"/>
              <a:t>an application program </a:t>
            </a:r>
            <a:r>
              <a:rPr lang="en-US" baseline="0" dirty="0"/>
              <a:t>has no direct access to memory, resources or hardware. It only has the ability to </a:t>
            </a:r>
            <a:r>
              <a:rPr lang="en-US" i="1" baseline="0" dirty="0"/>
              <a:t>request </a:t>
            </a:r>
            <a:r>
              <a:rPr lang="en-US" baseline="0" dirty="0"/>
              <a:t>access. The request is done through an API (Application Program Interface – more on next slide), the operating system service will contact the kernel executive services which will make a system hardware call to perform the appropriate action. When the action is completed, a reply is sent back through the stack to the application program that called the API.</a:t>
            </a:r>
            <a:endParaRPr lang="en-US" dirty="0"/>
          </a:p>
        </p:txBody>
      </p:sp>
      <p:sp>
        <p:nvSpPr>
          <p:cNvPr id="4" name="Slide Number Placeholder 3"/>
          <p:cNvSpPr>
            <a:spLocks noGrp="1"/>
          </p:cNvSpPr>
          <p:nvPr>
            <p:ph type="sldNum" sz="quarter" idx="10"/>
          </p:nvPr>
        </p:nvSpPr>
        <p:spPr/>
        <p:txBody>
          <a:bodyPr/>
          <a:lstStyle/>
          <a:p>
            <a:fld id="{314F67C4-4AAE-4E12-A8E7-F5B8FF9C811E}" type="slidenum">
              <a:rPr lang="en-US" smtClean="0"/>
              <a:t>14</a:t>
            </a:fld>
            <a:endParaRPr lang="en-US" dirty="0"/>
          </a:p>
        </p:txBody>
      </p:sp>
    </p:spTree>
    <p:extLst>
      <p:ext uri="{BB962C8B-B14F-4D97-AF65-F5344CB8AC3E}">
        <p14:creationId xmlns:p14="http://schemas.microsoft.com/office/powerpoint/2010/main" val="39628917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D65FC648-1F58-4487-94F1-D84682C1775B}" type="slidenum">
              <a:rPr lang="en-US" smtClean="0"/>
              <a:pPr eaLnBrk="1" hangingPunct="1"/>
              <a:t>15</a:t>
            </a:fld>
            <a:endParaRPr lang="en-US" dirty="0"/>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pPr>
            <a:r>
              <a:rPr lang="en-US" sz="1200" dirty="0"/>
              <a:t>APIs are the glue between the OS and Apps. Your app wants to prompt the user to open or save a file. The programmer does not want to know how to navigate the storage hardware or the directory tables to hardware addresses or even the dialog box that the user sees. Press Ctrl-O in Word or PowerPoint. Do you want to write that? And do it again for each platform? Not any more. We use APIs. An API is, loosely, a procedure call with parameters. </a:t>
            </a:r>
            <a:r>
              <a:rPr lang="en-US" sz="1200" dirty="0" err="1"/>
              <a:t>E.g.call</a:t>
            </a:r>
            <a:r>
              <a:rPr lang="en-US" sz="1200" dirty="0"/>
              <a:t> </a:t>
            </a:r>
            <a:r>
              <a:rPr lang="en-US" sz="1200" dirty="0" err="1"/>
              <a:t>OpenFile</a:t>
            </a:r>
            <a:r>
              <a:rPr lang="en-US" sz="1200" dirty="0"/>
              <a:t>([path\]</a:t>
            </a:r>
            <a:r>
              <a:rPr lang="en-US" sz="1200" dirty="0" err="1"/>
              <a:t>fileName</a:t>
            </a:r>
            <a:r>
              <a:rPr lang="en-US" sz="1200" dirty="0"/>
              <a:t>, </a:t>
            </a:r>
            <a:r>
              <a:rPr lang="en-US" sz="1200" dirty="0" err="1"/>
              <a:t>fileHandle</a:t>
            </a:r>
            <a:r>
              <a:rPr lang="en-US" sz="1200" dirty="0"/>
              <a:t>). Your program asks the OS for a file by name, the system sends back a “handle” which is an OS reference to that file, now opened and allocated to your program. Your program uses the handle to read and write the file, and finally close it.</a:t>
            </a:r>
          </a:p>
          <a:p>
            <a:pPr eaLnBrk="1" hangingPunct="1">
              <a:lnSpc>
                <a:spcPct val="80000"/>
              </a:lnSpc>
            </a:pPr>
            <a:endParaRPr lang="en-US" sz="1200" dirty="0"/>
          </a:p>
          <a:p>
            <a:pPr marL="0" marR="0" lvl="0" indent="0" algn="l" defTabSz="914400" rtl="0" eaLnBrk="1" fontAlgn="auto" latinLnBrk="0" hangingPunct="1">
              <a:lnSpc>
                <a:spcPct val="80000"/>
              </a:lnSpc>
              <a:spcBef>
                <a:spcPts val="0"/>
              </a:spcBef>
              <a:spcAft>
                <a:spcPts val="0"/>
              </a:spcAft>
              <a:buClrTx/>
              <a:buSzTx/>
              <a:buFontTx/>
              <a:buNone/>
              <a:tabLst/>
              <a:defRPr/>
            </a:pPr>
            <a:r>
              <a:rPr lang="en-US" sz="1200" dirty="0"/>
              <a:t>The benefit is that a single API makes the applications more “portable”. For example, an application written for a Windows PC, could work on Surface Tablets, Windows Phones (not too many of those), Xbox, and Windows Server. The local implementation of the API will be different depending on the platform, but your program will not know the difference.</a:t>
            </a:r>
          </a:p>
          <a:p>
            <a:pPr marL="0" marR="0" lvl="0" indent="0" algn="l" defTabSz="914400" rtl="0" eaLnBrk="1" fontAlgn="auto" latinLnBrk="0" hangingPunct="1">
              <a:lnSpc>
                <a:spcPct val="8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80000"/>
              </a:lnSpc>
              <a:spcBef>
                <a:spcPts val="0"/>
              </a:spcBef>
              <a:spcAft>
                <a:spcPts val="0"/>
              </a:spcAft>
              <a:buClrTx/>
              <a:buSzTx/>
              <a:buFontTx/>
              <a:buNone/>
              <a:tabLst/>
              <a:defRPr/>
            </a:pPr>
            <a:r>
              <a:rPr lang="en-US" sz="1200" dirty="0"/>
              <a:t>The disadvantage of this approach is that the APIs must be </a:t>
            </a:r>
            <a:r>
              <a:rPr lang="en-US" sz="1200" b="1" dirty="0"/>
              <a:t>rigidly defined</a:t>
            </a:r>
            <a:r>
              <a:rPr lang="en-US" sz="1200" dirty="0"/>
              <a:t> and adhered to which can limit programming flexibility.</a:t>
            </a:r>
            <a:r>
              <a:rPr lang="en-US" sz="1200" baseline="0" dirty="0"/>
              <a:t> </a:t>
            </a:r>
            <a:r>
              <a:rPr lang="en-US" sz="1200" dirty="0"/>
              <a:t>Advantage is… changes to an OS or hardware can be made without changing the API interface. The OS or hardware can be overhauled and improved without breaking application software because the API remains the same.</a:t>
            </a:r>
          </a:p>
          <a:p>
            <a:pPr eaLnBrk="1" hangingPunct="1">
              <a:lnSpc>
                <a:spcPct val="80000"/>
              </a:lnSpc>
            </a:pPr>
            <a:endParaRPr lang="en-US" sz="1200" dirty="0"/>
          </a:p>
          <a:p>
            <a:pPr eaLnBrk="1" hangingPunct="1">
              <a:lnSpc>
                <a:spcPct val="80000"/>
              </a:lnSpc>
            </a:pPr>
            <a:r>
              <a:rPr lang="en-US" sz="1200" dirty="0"/>
              <a:t>See </a:t>
            </a:r>
            <a:r>
              <a:rPr lang="en-CA" sz="1200" u="sng" kern="1200" dirty="0">
                <a:solidFill>
                  <a:schemeClr val="tx1"/>
                </a:solidFill>
                <a:effectLst/>
                <a:latin typeface="+mn-lt"/>
                <a:ea typeface="+mn-ea"/>
                <a:cs typeface="+mn-cs"/>
                <a:hlinkClick r:id="rId3"/>
              </a:rPr>
              <a:t>https://www.youtube.com/watch?v=s7wmiS2mSXY</a:t>
            </a:r>
            <a:r>
              <a:rPr lang="en-CA" sz="1200" u="sng" kern="1200" dirty="0">
                <a:solidFill>
                  <a:schemeClr val="tx1"/>
                </a:solidFill>
                <a:effectLst/>
                <a:latin typeface="+mn-lt"/>
                <a:ea typeface="+mn-ea"/>
                <a:cs typeface="+mn-cs"/>
              </a:rPr>
              <a:t> </a:t>
            </a:r>
            <a:r>
              <a:rPr lang="en-CA" dirty="0"/>
              <a:t>in this week’s activity.</a:t>
            </a:r>
            <a:endParaRPr lang="en-US" sz="1200" dirty="0"/>
          </a:p>
          <a:p>
            <a:pPr eaLnBrk="1" hangingPunct="1">
              <a:lnSpc>
                <a:spcPct val="80000"/>
              </a:lnSpc>
            </a:pPr>
            <a:endParaRPr lang="en-US" sz="1200" dirty="0"/>
          </a:p>
          <a:p>
            <a:pPr eaLnBrk="1" hangingPunct="1">
              <a:lnSpc>
                <a:spcPct val="80000"/>
              </a:lnSpc>
            </a:pPr>
            <a:endParaRPr lang="en-US" sz="1200" dirty="0"/>
          </a:p>
          <a:p>
            <a:pPr eaLnBrk="1" hangingPunct="1">
              <a:lnSpc>
                <a:spcPct val="80000"/>
              </a:lnSpc>
            </a:pPr>
            <a:endParaRPr lang="en-US" sz="1200" dirty="0"/>
          </a:p>
        </p:txBody>
      </p:sp>
    </p:spTree>
    <p:extLst>
      <p:ext uri="{BB962C8B-B14F-4D97-AF65-F5344CB8AC3E}">
        <p14:creationId xmlns:p14="http://schemas.microsoft.com/office/powerpoint/2010/main" val="21782520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modular operating system has</a:t>
            </a:r>
            <a:r>
              <a:rPr lang="en-US" baseline="0" dirty="0"/>
              <a:t> a c</a:t>
            </a:r>
            <a:r>
              <a:rPr lang="en-US" dirty="0"/>
              <a:t>lear delineation</a:t>
            </a:r>
            <a:r>
              <a:rPr lang="en-US" baseline="0" dirty="0"/>
              <a:t> of functions such as Task Management, File Management, Device Management and a GUI interface. Each function operations as a “stand-a-lone” program, called a service.  Each service runs in its own memory space. This makes it easier to update modules without having to change the whole system. It also makes programming easier by defining the function components and “abstracting” them or hiding the details from the programmer.</a:t>
            </a:r>
            <a:endParaRPr lang="en-CA"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	The opposite approach is to design a monolithic system which provides the same services, but the relationship between the components is not as clear. Consequently, a simple change in one service, could have a “ripple” effect throughout the operating system. For example, a change in hardware could mean that the operating system must be recompiled to incorporate the new device driver in order for the hardware to work.</a:t>
            </a:r>
            <a:endParaRPr lang="en-US" dirty="0"/>
          </a:p>
          <a:p>
            <a:r>
              <a:rPr lang="en-US" dirty="0"/>
              <a:t>	In a monolithic kernel OS, the program runs  as a single large static binary file process running entirely in a single address space. Basic OS services such as task management, file management, and device management all run in same memory space. Entire services are loaded on boot up and reside in memory and work is done using system calls.</a:t>
            </a:r>
          </a:p>
        </p:txBody>
      </p:sp>
      <p:sp>
        <p:nvSpPr>
          <p:cNvPr id="4" name="Slide Number Placeholder 3"/>
          <p:cNvSpPr>
            <a:spLocks noGrp="1"/>
          </p:cNvSpPr>
          <p:nvPr>
            <p:ph type="sldNum" sz="quarter" idx="10"/>
          </p:nvPr>
        </p:nvSpPr>
        <p:spPr/>
        <p:txBody>
          <a:bodyPr/>
          <a:lstStyle/>
          <a:p>
            <a:fld id="{314F67C4-4AAE-4E12-A8E7-F5B8FF9C811E}" type="slidenum">
              <a:rPr lang="en-US" smtClean="0"/>
              <a:t>16</a:t>
            </a:fld>
            <a:endParaRPr lang="en-US"/>
          </a:p>
        </p:txBody>
      </p:sp>
    </p:spTree>
    <p:extLst>
      <p:ext uri="{BB962C8B-B14F-4D97-AF65-F5344CB8AC3E}">
        <p14:creationId xmlns:p14="http://schemas.microsoft.com/office/powerpoint/2010/main" val="7635484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OS is not better than the other, just different. The question is which one is best for your circumstances, tasks, software availability.</a:t>
            </a:r>
            <a:endParaRPr lang="en-CA" dirty="0"/>
          </a:p>
        </p:txBody>
      </p:sp>
      <p:sp>
        <p:nvSpPr>
          <p:cNvPr id="4" name="Slide Number Placeholder 3"/>
          <p:cNvSpPr>
            <a:spLocks noGrp="1"/>
          </p:cNvSpPr>
          <p:nvPr>
            <p:ph type="sldNum" sz="quarter" idx="10"/>
          </p:nvPr>
        </p:nvSpPr>
        <p:spPr/>
        <p:txBody>
          <a:bodyPr/>
          <a:lstStyle/>
          <a:p>
            <a:fld id="{01C9F2AC-98D8-4317-B2FF-F9AFC647C4AC}" type="slidenum">
              <a:rPr lang="en-US" smtClean="0"/>
              <a:t>17</a:t>
            </a:fld>
            <a:endParaRPr lang="en-US"/>
          </a:p>
        </p:txBody>
      </p:sp>
    </p:spTree>
    <p:extLst>
      <p:ext uri="{BB962C8B-B14F-4D97-AF65-F5344CB8AC3E}">
        <p14:creationId xmlns:p14="http://schemas.microsoft.com/office/powerpoint/2010/main" val="39129089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a:t>
            </a:r>
            <a:r>
              <a:rPr lang="en-US" baseline="0" dirty="0"/>
              <a:t> the beginning of operating systems users have wanted to do multiple tasks at the same time and have the ability to switch between running applications. Now, it is considered normal, not so in the early days.</a:t>
            </a:r>
          </a:p>
          <a:p>
            <a:r>
              <a:rPr lang="en-CA" dirty="0"/>
              <a:t>Multitasking uses a single CPU but switches in time slices between tasks (task=application or process).</a:t>
            </a:r>
          </a:p>
          <a:p>
            <a:r>
              <a:rPr lang="en-CA" dirty="0"/>
              <a:t>Multiprocessing means true parallel execution of multiple but separate processes on separate CPUs within a system. </a:t>
            </a:r>
          </a:p>
          <a:p>
            <a:r>
              <a:rPr lang="en-CA" sz="1200" kern="1200" dirty="0">
                <a:solidFill>
                  <a:schemeClr val="tx1"/>
                </a:solidFill>
                <a:latin typeface="+mn-lt"/>
                <a:ea typeface="+mn-ea"/>
                <a:cs typeface="+mn-cs"/>
              </a:rPr>
              <a:t>Parallel processing </a:t>
            </a:r>
            <a:r>
              <a:rPr lang="en-CA" dirty="0"/>
              <a:t>means a single process or task using multiple CPUs simultaneously; </a:t>
            </a:r>
            <a:r>
              <a:rPr lang="en-CA" b="1" dirty="0"/>
              <a:t>this requires specific application programming or an OS which carefully manages a single process's threads to avoid race conditions.</a:t>
            </a:r>
          </a:p>
          <a:p>
            <a:r>
              <a:rPr lang="en-US" sz="1200" kern="1200" dirty="0">
                <a:solidFill>
                  <a:schemeClr val="tx1"/>
                </a:solidFill>
                <a:latin typeface="+mn-lt"/>
                <a:ea typeface="+mn-ea"/>
                <a:cs typeface="+mn-cs"/>
              </a:rPr>
              <a:t>T</a:t>
            </a:r>
            <a:r>
              <a:rPr lang="en-CA" sz="1200" kern="1200" dirty="0" err="1">
                <a:solidFill>
                  <a:schemeClr val="tx1"/>
                </a:solidFill>
                <a:latin typeface="+mn-lt"/>
                <a:ea typeface="+mn-ea"/>
                <a:cs typeface="+mn-cs"/>
              </a:rPr>
              <a:t>hese</a:t>
            </a:r>
            <a:r>
              <a:rPr lang="en-CA" sz="1200" kern="1200" dirty="0">
                <a:solidFill>
                  <a:schemeClr val="tx1"/>
                </a:solidFill>
                <a:latin typeface="+mn-lt"/>
                <a:ea typeface="+mn-ea"/>
                <a:cs typeface="+mn-cs"/>
              </a:rPr>
              <a:t> three types of processing can all occur within the same system. The Operating System controls access to shared memory and peripherals and schedules tasks among CPUs. All contemporary PCs, tablets and smartphones have multiple CPU "cores" on a single chip.</a:t>
            </a:r>
            <a:endParaRPr lang="en-US" sz="1200" kern="1200" dirty="0">
              <a:solidFill>
                <a:schemeClr val="tx1"/>
              </a:solidFill>
              <a:latin typeface="+mn-lt"/>
              <a:ea typeface="+mn-ea"/>
              <a:cs typeface="+mn-cs"/>
            </a:endParaRPr>
          </a:p>
          <a:p>
            <a:endParaRPr lang="en-US" baseline="0" dirty="0"/>
          </a:p>
          <a:p>
            <a:r>
              <a:rPr lang="en-US" baseline="0" dirty="0"/>
              <a:t>Why multitasking? CPU + RAM are fast, I/O is slow.</a:t>
            </a:r>
          </a:p>
          <a:p>
            <a:r>
              <a:rPr lang="en-US" baseline="0" dirty="0"/>
              <a:t>MS-Word is formatting your document for printing by sending it to the print spooler which uses a holding area on secondary storage (a drive) to buffer the even slower device.</a:t>
            </a:r>
          </a:p>
          <a:p>
            <a:r>
              <a:rPr lang="en-US" baseline="0" dirty="0"/>
              <a:t>You’ve asked Outlook to check your email while that happens. But it is slow due to network bandwidth constraints and traffic on your </a:t>
            </a:r>
            <a:r>
              <a:rPr lang="en-US" b="1" baseline="0" dirty="0"/>
              <a:t>intranet</a:t>
            </a:r>
            <a:r>
              <a:rPr lang="en-US" baseline="0" dirty="0"/>
              <a:t>.</a:t>
            </a:r>
          </a:p>
          <a:p>
            <a:r>
              <a:rPr lang="en-US" baseline="0" dirty="0"/>
              <a:t>So you open a tab in your browser and begin that big download to your USB drive which takes time. Your </a:t>
            </a:r>
            <a:r>
              <a:rPr lang="en-US" b="1" baseline="0" dirty="0"/>
              <a:t>internet</a:t>
            </a:r>
            <a:r>
              <a:rPr lang="en-US" b="0" baseline="0" dirty="0"/>
              <a:t> connection is fast (for an outside network connection) and you are using a USB 3.0 device but your older computer has only USB 2.0 ports so the throughput to the your USB drive will be slow. But is the write speed slower than the internet connection? Maybe not.</a:t>
            </a:r>
          </a:p>
          <a:p>
            <a:r>
              <a:rPr lang="en-US" b="0" baseline="0" dirty="0"/>
              <a:t>So you start playing Solitaire. It runs in fast CPU + ram but the I/O to the mouse and screen is slow. Nevertheless, the mouse and screen I/O is usually faster than you can move your hand or read.</a:t>
            </a:r>
          </a:p>
          <a:p>
            <a:r>
              <a:rPr lang="en-US" b="0" baseline="0" dirty="0"/>
              <a:t>Finally, the printer spits out your document, you have new email from your course instructor, the download is finally complete…but you are still playing Solitaire.</a:t>
            </a:r>
          </a:p>
          <a:p>
            <a:endParaRPr lang="en-US" b="0" baseline="0" dirty="0"/>
          </a:p>
          <a:p>
            <a:endParaRPr lang="en-US" b="0" baseline="0" dirty="0"/>
          </a:p>
        </p:txBody>
      </p:sp>
      <p:sp>
        <p:nvSpPr>
          <p:cNvPr id="4" name="Slide Number Placeholder 3"/>
          <p:cNvSpPr>
            <a:spLocks noGrp="1"/>
          </p:cNvSpPr>
          <p:nvPr>
            <p:ph type="sldNum" sz="quarter" idx="10"/>
          </p:nvPr>
        </p:nvSpPr>
        <p:spPr/>
        <p:txBody>
          <a:bodyPr/>
          <a:lstStyle/>
          <a:p>
            <a:fld id="{314F67C4-4AAE-4E12-A8E7-F5B8FF9C811E}" type="slidenum">
              <a:rPr lang="en-US" smtClean="0"/>
              <a:t>18</a:t>
            </a:fld>
            <a:endParaRPr lang="en-US" dirty="0"/>
          </a:p>
        </p:txBody>
      </p:sp>
    </p:spTree>
    <p:extLst>
      <p:ext uri="{BB962C8B-B14F-4D97-AF65-F5344CB8AC3E}">
        <p14:creationId xmlns:p14="http://schemas.microsoft.com/office/powerpoint/2010/main" val="1552360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There are many strategies to multitasking depending the needs of the system. Some aspects of the operating system get priority over applications. A PC running your applications treats most apps equally. Your phone pays a little more attention to incoming signals (someone is calling you, a text arrives) than you punching numbers into the calculator app but you don’t notice because you are slowest thing running.</a:t>
            </a:r>
          </a:p>
          <a:p>
            <a:endParaRPr lang="en-US" baseline="0" dirty="0"/>
          </a:p>
          <a:p>
            <a:r>
              <a:rPr lang="en-US" baseline="0" dirty="0"/>
              <a:t>A computer controlling a robot pays attention in “real-time”, i.e. the robot always comes first, its interrupt signals are processed with higher priority than other OS tasks. </a:t>
            </a:r>
            <a:r>
              <a:rPr lang="en-CA" sz="1200" b="0" i="0" kern="1200" dirty="0">
                <a:solidFill>
                  <a:schemeClr val="tx1"/>
                </a:solidFill>
                <a:effectLst/>
                <a:latin typeface="+mn-lt"/>
                <a:ea typeface="+mn-ea"/>
                <a:cs typeface="+mn-cs"/>
              </a:rPr>
              <a:t>Real-time responses are often understood to be in the order of milliseconds, and sometimes microseconds. E.g. fly-by-wire aircraft controls, anti-lock brakes in a car. The computer checks for signals from the outside world, from outside its “system boundary”, so frequently that, to a human or the robot, it appears to be operating continuously in human perceived real time. As far as the robot knows, the computer system is always available to process the robot's output and does not delay in directing the robot's next action. In "real-time", the computer is always waiting on the robot, the robot is never waiting for the computer.</a:t>
            </a:r>
            <a:endParaRPr lang="en-US" baseline="0" dirty="0"/>
          </a:p>
          <a:p>
            <a:endParaRPr lang="en-US" baseline="0" dirty="0"/>
          </a:p>
          <a:p>
            <a:r>
              <a:rPr lang="en-CA" baseline="0" dirty="0"/>
              <a:t>https://en.wikipedia.org/wiki/Human_multitasking</a:t>
            </a:r>
            <a:br>
              <a:rPr lang="en-CA" baseline="0" dirty="0"/>
            </a:br>
            <a:r>
              <a:rPr lang="en-CA" baseline="0" dirty="0"/>
              <a:t>Human multitasking is an apparent human ability to perform more than one task, or activity, over a short period (1 hour). An example of multitasking is taking phone calls while typing an email and reading a book. Multitasking can result in time wasted due to human context switching and apparently causing more errors due to insufficient attention. Studies have shown that it is impossible to focus on more than one task at a time. However, if one is proficient at one of the tasks at hand, then it is possible to do these tasks.</a:t>
            </a:r>
            <a:endParaRPr lang="en-US" baseline="0" dirty="0"/>
          </a:p>
        </p:txBody>
      </p:sp>
      <p:sp>
        <p:nvSpPr>
          <p:cNvPr id="4" name="Slide Number Placeholder 3"/>
          <p:cNvSpPr>
            <a:spLocks noGrp="1"/>
          </p:cNvSpPr>
          <p:nvPr>
            <p:ph type="sldNum" sz="quarter" idx="10"/>
          </p:nvPr>
        </p:nvSpPr>
        <p:spPr/>
        <p:txBody>
          <a:bodyPr/>
          <a:lstStyle/>
          <a:p>
            <a:fld id="{314F67C4-4AAE-4E12-A8E7-F5B8FF9C811E}" type="slidenum">
              <a:rPr lang="en-US" smtClean="0"/>
              <a:t>19</a:t>
            </a:fld>
            <a:endParaRPr lang="en-US"/>
          </a:p>
        </p:txBody>
      </p:sp>
    </p:spTree>
    <p:extLst>
      <p:ext uri="{BB962C8B-B14F-4D97-AF65-F5344CB8AC3E}">
        <p14:creationId xmlns:p14="http://schemas.microsoft.com/office/powerpoint/2010/main" val="22755802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Why can a 32 bit process can access only 2GB of RAM? A 32 bit unsigned integer can address 4GB (long </a:t>
            </a:r>
            <a:r>
              <a:rPr lang="en-CA" dirty="0" err="1"/>
              <a:t>int</a:t>
            </a:r>
            <a:r>
              <a:rPr lang="en-CA" dirty="0"/>
              <a:t> data types).</a:t>
            </a:r>
            <a:br>
              <a:rPr lang="en-CA" dirty="0"/>
            </a:br>
            <a:r>
              <a:rPr lang="en-US" dirty="0"/>
              <a:t>https://superuser.com/questions/1163749/why-do-32-bit-processes-have-a-2gb-ram-limit</a:t>
            </a:r>
            <a:br>
              <a:rPr lang="en-US" dirty="0"/>
            </a:br>
            <a:r>
              <a:rPr lang="en-US" dirty="0"/>
              <a:t>"</a:t>
            </a:r>
            <a:r>
              <a:rPr lang="en-CA" sz="1200" b="0" i="0" kern="1200" dirty="0">
                <a:solidFill>
                  <a:schemeClr val="tx1"/>
                </a:solidFill>
                <a:effectLst/>
                <a:latin typeface="+mn-lt"/>
                <a:ea typeface="+mn-ea"/>
                <a:cs typeface="+mn-cs"/>
              </a:rPr>
              <a:t>In the NT platform the 4 GB virtual address space is by default divided into 2 parts, the lower 2 GB for process address space and the upper 2 GB for system use."</a:t>
            </a:r>
            <a:endParaRPr lang="en-US" dirty="0"/>
          </a:p>
          <a:p>
            <a:endParaRPr lang="en-US" dirty="0"/>
          </a:p>
          <a:p>
            <a:r>
              <a:rPr lang="en-US" dirty="0"/>
              <a:t>When to worry about thrashing? When your program uses large arrays of data structures. </a:t>
            </a:r>
          </a:p>
          <a:p>
            <a:r>
              <a:rPr lang="en-US" dirty="0"/>
              <a:t>Consider dynamic memory allocations</a:t>
            </a:r>
          </a:p>
          <a:p>
            <a:r>
              <a:rPr lang="en-US" dirty="0"/>
              <a:t>Consider deleting elements. The easy way is to just forget the index or effectively blank out an element or mark it deleted. However, when using large arrays, REUSE deleted elements. Or, maintain a stack or queue of pointers to available array elements. This way, you could dynamically add another chunk of array elements as needed instead of the largest number you think </a:t>
            </a:r>
            <a:r>
              <a:rPr lang="en-US"/>
              <a:t>you would ever need.</a:t>
            </a:r>
            <a:endParaRPr lang="en-US" dirty="0"/>
          </a:p>
          <a:p>
            <a:endParaRPr lang="en-US" dirty="0"/>
          </a:p>
          <a:p>
            <a:r>
              <a:rPr lang="en-US" dirty="0"/>
              <a:t>Virtual memory and caching are memory management techniques developed for multiprocessing operating systems.</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Virtual memory is a separate memory space for each program, all programs running may, in total, need more than the actual physical RAM (main memory) capacity. The OS manages this overallocation of physical memory by using slower secondary storage as if it was primary storage. The operating system “swaps” data between these fast and slow areas as needed by the applications running; the applications do not know the difference. </a:t>
            </a:r>
            <a:r>
              <a:rPr lang="en-US" dirty="0"/>
              <a:t>To the application, it looks like it has the system to itself with as much memory as it needs. "I</a:t>
            </a:r>
            <a:r>
              <a:rPr lang="en-CA" sz="1200" b="0" i="0" kern="1200" dirty="0">
                <a:solidFill>
                  <a:schemeClr val="tx1"/>
                </a:solidFill>
                <a:effectLst/>
                <a:latin typeface="+mn-lt"/>
                <a:ea typeface="+mn-ea"/>
                <a:cs typeface="+mn-cs"/>
              </a:rPr>
              <a:t>n the interests of performance, security, and reliability, each process has it's own private 2 GB address space but there is only one system address space. Processes are isolated in their own private address space and cannot see others. System address space is off limits to normal processes and is accessible only to kernel level components such as the OS itself and device drivers. If a process goes astray it can only hurt itself, other processes and the OS are unaffected."</a:t>
            </a:r>
            <a:endParaRPr lang="en-US" dirty="0"/>
          </a:p>
          <a:p>
            <a:endParaRPr lang="en-US" dirty="0"/>
          </a:p>
          <a:p>
            <a:r>
              <a:rPr lang="en-US" dirty="0"/>
              <a:t>Caching is storing the most frequently used data in the fastest memory. There is expensive, very fast cache memory between the CPU and slower RAM. Available physical RAM is allocated to cache data going to and from slow I/O devices. HDDs have their own caching. Embedded cache on the HDD captures write operations quickly allowing the program to continue asap while the HDD cache and hardware independently perform the slow physical write operations.</a:t>
            </a:r>
          </a:p>
          <a:p>
            <a:endParaRPr lang="en-US" dirty="0"/>
          </a:p>
          <a:p>
            <a:r>
              <a:rPr lang="en-US" dirty="0"/>
              <a:t>Systems that employ virtual memory use hardware more efficiently than systems without virtual memory</a:t>
            </a:r>
            <a:r>
              <a:rPr lang="en-US" baseline="0" dirty="0"/>
              <a:t> and </a:t>
            </a:r>
            <a:r>
              <a:rPr lang="en-US" dirty="0"/>
              <a:t>make programming of applications easier. Operating systems have sophisticated algorithms to manage virtual memory and caching. The programmer rarely has to worry whether their executable program with its variables and data buffers will ‘fit’ into physical memory. To the program, it looks like it has the entire system to itself with as much memory as it needs.</a:t>
            </a:r>
          </a:p>
          <a:p>
            <a:endParaRPr lang="en-US" dirty="0"/>
          </a:p>
          <a:p>
            <a:r>
              <a:rPr lang="en-US" dirty="0"/>
              <a:t>https://en.wikipedia.org/wiki/Thrashing_(computer_science)</a:t>
            </a:r>
            <a:br>
              <a:rPr lang="en-US" dirty="0"/>
            </a:br>
            <a:r>
              <a:rPr lang="en-US" dirty="0"/>
              <a:t>T</a:t>
            </a:r>
            <a:r>
              <a:rPr lang="en-CA" dirty="0" err="1"/>
              <a:t>hrashing</a:t>
            </a:r>
            <a:r>
              <a:rPr lang="en-CA" dirty="0"/>
              <a:t> occurs when a computer's virtual memory subsystem is in a constant state of paging, rapidly exchanging data in memory for data on disk, to the exclusion of most application-level processing. This causes the performance of the computer to degrade or collapse. The situation may continue indefinitely until the underlying cause is addressed</a:t>
            </a:r>
            <a:endParaRPr lang="en-US" dirty="0"/>
          </a:p>
        </p:txBody>
      </p:sp>
      <p:sp>
        <p:nvSpPr>
          <p:cNvPr id="4" name="Slide Number Placeholder 3"/>
          <p:cNvSpPr>
            <a:spLocks noGrp="1"/>
          </p:cNvSpPr>
          <p:nvPr>
            <p:ph type="sldNum" sz="quarter" idx="10"/>
          </p:nvPr>
        </p:nvSpPr>
        <p:spPr/>
        <p:txBody>
          <a:bodyPr/>
          <a:lstStyle/>
          <a:p>
            <a:fld id="{314F67C4-4AAE-4E12-A8E7-F5B8FF9C811E}" type="slidenum">
              <a:rPr lang="en-US" smtClean="0"/>
              <a:t>20</a:t>
            </a:fld>
            <a:endParaRPr lang="en-US" dirty="0"/>
          </a:p>
        </p:txBody>
      </p:sp>
    </p:spTree>
    <p:extLst>
      <p:ext uri="{BB962C8B-B14F-4D97-AF65-F5344CB8AC3E}">
        <p14:creationId xmlns:p14="http://schemas.microsoft.com/office/powerpoint/2010/main" val="7403932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Intel® Hyper-Threading Technology (Intel® HT Technology) uses processor resources more efficiently, enabling multiple threads to run on each core. As a performance feature, it also increases processor throughput, improving </a:t>
            </a:r>
          </a:p>
          <a:p>
            <a:r>
              <a:rPr lang="en-CA" dirty="0"/>
              <a:t>overall performance on threaded software.</a:t>
            </a:r>
          </a:p>
          <a:p>
            <a:r>
              <a:rPr lang="en-CA" dirty="0"/>
              <a:t>https://www.intel.com/content/www/us/en/architecture-and-technology/hyper-threading/hyper-threading-technology.html</a:t>
            </a:r>
          </a:p>
          <a:p>
            <a:endParaRPr lang="en-US" dirty="0"/>
          </a:p>
          <a:p>
            <a:r>
              <a:rPr lang="en-CA" dirty="0"/>
              <a:t>The logical processors in a hyper-threaded core share the execution resources. These resources include the execution engine, caches, and system bus interface; the sharing of resources allows two logical processors to work with each other more efficiently, and allows a logical processor to borrow resources from a stalled logical core (assuming both logical cores are associated with the same physical core). A processor stalls when it is waiting for data it has sent for so it can finish processing the present thread. https://en.wikipedia.org/wiki/Hyper-threading</a:t>
            </a:r>
          </a:p>
        </p:txBody>
      </p:sp>
      <p:sp>
        <p:nvSpPr>
          <p:cNvPr id="4" name="Slide Number Placeholder 3"/>
          <p:cNvSpPr>
            <a:spLocks noGrp="1"/>
          </p:cNvSpPr>
          <p:nvPr>
            <p:ph type="sldNum" sz="quarter" idx="10"/>
          </p:nvPr>
        </p:nvSpPr>
        <p:spPr/>
        <p:txBody>
          <a:bodyPr/>
          <a:lstStyle/>
          <a:p>
            <a:fld id="{01C9F2AC-98D8-4317-B2FF-F9AFC647C4AC}" type="slidenum">
              <a:rPr lang="en-US" smtClean="0"/>
              <a:t>21</a:t>
            </a:fld>
            <a:endParaRPr lang="en-US"/>
          </a:p>
        </p:txBody>
      </p:sp>
    </p:spTree>
    <p:extLst>
      <p:ext uri="{BB962C8B-B14F-4D97-AF65-F5344CB8AC3E}">
        <p14:creationId xmlns:p14="http://schemas.microsoft.com/office/powerpoint/2010/main" val="39343152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 strong trend in business today is system virtualization. VMware has built a huge business doing this on the Intel platform. IBM did it long before on mainframes and Power System-</a:t>
            </a:r>
            <a:r>
              <a:rPr lang="en-US" dirty="0" err="1"/>
              <a:t>i</a:t>
            </a:r>
            <a:r>
              <a:rPr lang="en-US" dirty="0"/>
              <a:t>.  Because </a:t>
            </a:r>
            <a:r>
              <a:rPr lang="en-US" baseline="0" dirty="0"/>
              <a:t>CPUs are grossly under utilized, system virtualization allows businesses to run multiple instances of the same or different operating systems on the same hardware to better utilize its resources. This saves money on buying more machines, the space needed to house those machines, and the electricity to power and cool those machines. Secondly, on the Intel x86 platform, different types software rarely played well together; the web service stole memory from the database service and neither liked the accounting system which clogged the I/O channels. By virtualizing, each major application/service got its own (virtual) machine and communicated through a (virtual) network as if between different servers.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Each “guest” OS is managed by a Virtual Machine (VM) that</a:t>
            </a:r>
            <a:r>
              <a:rPr lang="en-US" baseline="0" dirty="0"/>
              <a:t> simulates a complete hardware platform, known as a partition. The VM and IT administrator </a:t>
            </a:r>
            <a:r>
              <a:rPr lang="en-US" dirty="0"/>
              <a:t>controls how much CPU, memory, and storage is allocated to each partition.</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u="none" strike="noStrike" kern="1200" dirty="0">
                <a:solidFill>
                  <a:schemeClr val="tx1"/>
                </a:solidFill>
                <a:effectLst/>
                <a:latin typeface="+mn-lt"/>
                <a:ea typeface="+mn-ea"/>
                <a:cs typeface="+mn-cs"/>
              </a:rPr>
              <a:t>Linux is increasingly being run on mainframes and midrange servers in virtualized partitions – because it is cheaper to do that rather than run server farms of white boxes.</a:t>
            </a:r>
            <a:endParaRPr lang="en-CA"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314F67C4-4AAE-4E12-A8E7-F5B8FF9C811E}" type="slidenum">
              <a:rPr lang="en-US" smtClean="0"/>
              <a:t>22</a:t>
            </a:fld>
            <a:endParaRPr lang="en-US"/>
          </a:p>
        </p:txBody>
      </p:sp>
    </p:spTree>
    <p:extLst>
      <p:ext uri="{BB962C8B-B14F-4D97-AF65-F5344CB8AC3E}">
        <p14:creationId xmlns:p14="http://schemas.microsoft.com/office/powerpoint/2010/main" val="33846140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t>
            </a:r>
            <a:r>
              <a:rPr lang="en-US"/>
              <a:t>on the quiz…</a:t>
            </a:r>
            <a:endParaRPr lang="en-CA"/>
          </a:p>
        </p:txBody>
      </p:sp>
      <p:sp>
        <p:nvSpPr>
          <p:cNvPr id="4" name="Slide Number Placeholder 3"/>
          <p:cNvSpPr>
            <a:spLocks noGrp="1"/>
          </p:cNvSpPr>
          <p:nvPr>
            <p:ph type="sldNum" sz="quarter" idx="10"/>
          </p:nvPr>
        </p:nvSpPr>
        <p:spPr/>
        <p:txBody>
          <a:bodyPr/>
          <a:lstStyle/>
          <a:p>
            <a:fld id="{01C9F2AC-98D8-4317-B2FF-F9AFC647C4AC}" type="slidenum">
              <a:rPr lang="en-US" smtClean="0"/>
              <a:t>23</a:t>
            </a:fld>
            <a:endParaRPr lang="en-US"/>
          </a:p>
        </p:txBody>
      </p:sp>
    </p:spTree>
    <p:extLst>
      <p:ext uri="{BB962C8B-B14F-4D97-AF65-F5344CB8AC3E}">
        <p14:creationId xmlns:p14="http://schemas.microsoft.com/office/powerpoint/2010/main" val="24196159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In 1964, a project called “</a:t>
            </a:r>
            <a:r>
              <a:rPr lang="en-US" b="0" dirty="0" err="1"/>
              <a:t>Multics</a:t>
            </a:r>
            <a:r>
              <a:rPr lang="en-US" b="0" dirty="0"/>
              <a:t>” (Multiplexed Information and Computing</a:t>
            </a:r>
            <a:r>
              <a:rPr lang="en-US" b="0" baseline="0" dirty="0"/>
              <a:t> Service) </a:t>
            </a:r>
            <a:r>
              <a:rPr lang="en-US" b="0" dirty="0"/>
              <a:t>was launched. This was the first open source project to </a:t>
            </a:r>
            <a:r>
              <a:rPr lang="en-US" b="0" baseline="0" dirty="0"/>
              <a:t>develop a multiuser, multiprocessor  OS. ( the term open source had not been developed yet) </a:t>
            </a:r>
            <a:r>
              <a:rPr lang="en-US" baseline="0" dirty="0"/>
              <a:t>The project leader was MIT with major contributors from General Electric, and Bell Labs </a:t>
            </a:r>
            <a:r>
              <a:rPr lang="en-US" dirty="0"/>
              <a:t>(the research division of AT&amp;T).  See https://en.wikipedia.org/wiki/Multics</a:t>
            </a:r>
            <a:endParaRPr lang="en-US" b="0" baseline="0" dirty="0"/>
          </a:p>
          <a:p>
            <a:endParaRPr lang="en-US" baseline="0" dirty="0"/>
          </a:p>
          <a:p>
            <a:r>
              <a:rPr lang="en-US" i="1" baseline="0" dirty="0"/>
              <a:t>Multics was not a success.</a:t>
            </a:r>
            <a:r>
              <a:rPr lang="en-US" i="1" dirty="0"/>
              <a:t> However, the ideas in Multics went on to be very successful.</a:t>
            </a:r>
          </a:p>
          <a:p>
            <a:endParaRPr lang="en-US" dirty="0"/>
          </a:p>
          <a:p>
            <a:r>
              <a:rPr lang="en-CA" sz="1200" b="0" i="0" kern="1200" dirty="0">
                <a:solidFill>
                  <a:schemeClr val="tx1"/>
                </a:solidFill>
                <a:effectLst/>
                <a:latin typeface="+mn-lt"/>
                <a:ea typeface="+mn-ea"/>
                <a:cs typeface="+mn-cs"/>
              </a:rPr>
              <a:t>The design and features of Multics greatly influenced the </a:t>
            </a:r>
            <a:r>
              <a:rPr lang="en-CA" sz="1200" b="0" i="0" u="none" strike="noStrike" kern="1200" dirty="0">
                <a:solidFill>
                  <a:schemeClr val="tx1"/>
                </a:solidFill>
                <a:effectLst/>
                <a:latin typeface="+mn-lt"/>
                <a:ea typeface="+mn-ea"/>
                <a:cs typeface="+mn-cs"/>
                <a:hlinkClick r:id="rId3" tooltip="Unix"/>
              </a:rPr>
              <a:t>Unix</a:t>
            </a:r>
            <a:r>
              <a:rPr lang="en-CA" sz="1200" b="0" i="0" kern="1200" dirty="0">
                <a:solidFill>
                  <a:schemeClr val="tx1"/>
                </a:solidFill>
                <a:effectLst/>
                <a:latin typeface="+mn-lt"/>
                <a:ea typeface="+mn-ea"/>
                <a:cs typeface="+mn-cs"/>
              </a:rPr>
              <a:t> operating system, which was originally written by two ex-programmers from the older project, </a:t>
            </a:r>
            <a:r>
              <a:rPr lang="en-CA" sz="1200" b="0" i="0" u="none" strike="noStrike" kern="1200" dirty="0">
                <a:solidFill>
                  <a:schemeClr val="tx1"/>
                </a:solidFill>
                <a:effectLst/>
                <a:latin typeface="+mn-lt"/>
                <a:ea typeface="+mn-ea"/>
                <a:cs typeface="+mn-cs"/>
                <a:hlinkClick r:id="rId4" tooltip="Ken Thompson"/>
              </a:rPr>
              <a:t>Ken Thompson</a:t>
            </a:r>
            <a:r>
              <a:rPr lang="en-CA" sz="1200" b="0" i="0" kern="1200" dirty="0">
                <a:solidFill>
                  <a:schemeClr val="tx1"/>
                </a:solidFill>
                <a:effectLst/>
                <a:latin typeface="+mn-lt"/>
                <a:ea typeface="+mn-ea"/>
                <a:cs typeface="+mn-cs"/>
              </a:rPr>
              <a:t> and </a:t>
            </a:r>
            <a:r>
              <a:rPr lang="en-CA" sz="1200" b="0" i="0" u="none" strike="noStrike" kern="1200" dirty="0">
                <a:solidFill>
                  <a:schemeClr val="tx1"/>
                </a:solidFill>
                <a:effectLst/>
                <a:latin typeface="+mn-lt"/>
                <a:ea typeface="+mn-ea"/>
                <a:cs typeface="+mn-cs"/>
                <a:hlinkClick r:id="rId5" tooltip="Dennis Ritchie"/>
              </a:rPr>
              <a:t>Dennis Ritchie</a:t>
            </a:r>
            <a:r>
              <a:rPr lang="en-CA" sz="1200" b="0" i="0" kern="1200" dirty="0">
                <a:solidFill>
                  <a:schemeClr val="tx1"/>
                </a:solidFill>
                <a:effectLst/>
                <a:latin typeface="+mn-lt"/>
                <a:ea typeface="+mn-ea"/>
                <a:cs typeface="+mn-cs"/>
              </a:rPr>
              <a:t>. Ritchie developed C to develop UNIX. The name </a:t>
            </a:r>
            <a:r>
              <a:rPr lang="en-CA" sz="1200" b="0" i="1" kern="1200" dirty="0">
                <a:solidFill>
                  <a:schemeClr val="tx1"/>
                </a:solidFill>
                <a:effectLst/>
                <a:latin typeface="+mn-lt"/>
                <a:ea typeface="+mn-ea"/>
                <a:cs typeface="+mn-cs"/>
              </a:rPr>
              <a:t>Unix</a:t>
            </a:r>
            <a:r>
              <a:rPr lang="en-CA" sz="1200" b="0" i="0" kern="1200" dirty="0">
                <a:solidFill>
                  <a:schemeClr val="tx1"/>
                </a:solidFill>
                <a:effectLst/>
                <a:latin typeface="+mn-lt"/>
                <a:ea typeface="+mn-ea"/>
                <a:cs typeface="+mn-cs"/>
              </a:rPr>
              <a:t> (originally </a:t>
            </a:r>
            <a:r>
              <a:rPr lang="en-CA" sz="1200" b="0" i="0" kern="1200" dirty="0" err="1">
                <a:solidFill>
                  <a:schemeClr val="tx1"/>
                </a:solidFill>
                <a:effectLst/>
                <a:latin typeface="+mn-lt"/>
                <a:ea typeface="+mn-ea"/>
                <a:cs typeface="+mn-cs"/>
              </a:rPr>
              <a:t>Unics</a:t>
            </a:r>
            <a:r>
              <a:rPr lang="en-CA" sz="1200" b="0" i="0" kern="1200" dirty="0">
                <a:solidFill>
                  <a:schemeClr val="tx1"/>
                </a:solidFill>
                <a:effectLst/>
                <a:latin typeface="+mn-lt"/>
                <a:ea typeface="+mn-ea"/>
                <a:cs typeface="+mn-cs"/>
              </a:rPr>
              <a:t>) is itself a pun on </a:t>
            </a:r>
            <a:r>
              <a:rPr lang="en-CA" sz="1200" b="0" i="1" kern="1200" dirty="0">
                <a:solidFill>
                  <a:schemeClr val="tx1"/>
                </a:solidFill>
                <a:effectLst/>
                <a:latin typeface="+mn-lt"/>
                <a:ea typeface="+mn-ea"/>
                <a:cs typeface="+mn-cs"/>
              </a:rPr>
              <a:t>Multics</a:t>
            </a:r>
            <a:r>
              <a:rPr lang="en-CA" sz="1200" b="0" i="0" kern="1200" dirty="0">
                <a:solidFill>
                  <a:schemeClr val="tx1"/>
                </a:solidFill>
                <a:effectLst/>
                <a:latin typeface="+mn-lt"/>
                <a:ea typeface="+mn-ea"/>
                <a:cs typeface="+mn-cs"/>
              </a:rPr>
              <a:t>. The C language allowed the OS to be very portable (unlike the Assembler of Multics) requiring only a relatively small amount of machine-dependent code to be replaced when porting Unix to other computing platforms. This greatly contributed to its success.</a:t>
            </a:r>
          </a:p>
          <a:p>
            <a:endParaRPr lang="en-US" b="0" baseline="0" dirty="0"/>
          </a:p>
          <a:p>
            <a:r>
              <a:rPr lang="en-US" b="0" baseline="0" dirty="0"/>
              <a:t>UNIX was designed by computer scientists for computer scientists to conduct research. </a:t>
            </a:r>
            <a:r>
              <a:rPr lang="en-CA" b="0" baseline="0" dirty="0"/>
              <a:t>The earliest distributions of Unix from Bell Labs in the 1970s included the source code to the operating system, allowing researchers at universities to modify and extend Unix</a:t>
            </a:r>
            <a:r>
              <a:rPr lang="en-US" b="0" baseline="0" dirty="0"/>
              <a:t>.</a:t>
            </a:r>
            <a:r>
              <a:rPr lang="en-US" baseline="0" dirty="0"/>
              <a:t> As the project matured, some of the contributors to the project decided in 1983 to create commercial versions of the OS, System V (five) </a:t>
            </a:r>
            <a:r>
              <a:rPr lang="en-US" i="1" baseline="0" dirty="0"/>
              <a:t>-- which is why today there are many different versions of UNIX IBM AIX, HP/X, Solaris. </a:t>
            </a:r>
            <a:r>
              <a:rPr lang="en-US" baseline="0" dirty="0"/>
              <a:t>Through the 1970s and into the 1980s, the University of California at Berkeley continued to share its version of UNIX, known as the Berkeley Standard Distribution (BSD).  </a:t>
            </a:r>
          </a:p>
          <a:p>
            <a:endParaRPr lang="en-US" baseline="0" dirty="0"/>
          </a:p>
          <a:p>
            <a:r>
              <a:rPr lang="en-US" baseline="0" dirty="0"/>
              <a:t>Subsequently, many lawyers became rich sorting out whose UNIX intellectual property was whose.  </a:t>
            </a:r>
            <a:r>
              <a:rPr lang="en-CA" baseline="0" dirty="0"/>
              <a:t>The 1992 lawsuit and injunction on distribution slowed development of the free-software descendants of BSD. Linus Torvalds has said that if 386BSD or the GNU kernel had been available at the time, he probably would not have created Linux.</a:t>
            </a:r>
            <a:endParaRPr lang="en-US" baseline="0" dirty="0"/>
          </a:p>
          <a:p>
            <a:endParaRPr lang="en-US" baseline="0" dirty="0"/>
          </a:p>
          <a:p>
            <a:r>
              <a:rPr lang="en-US" baseline="0" dirty="0"/>
              <a:t>OpenBSD descended from BSD after the lawsuit dust settled. It is important as an OS because it has different goals than Linux. The MAC Leopard OS and iOS are a BSD-based variants.</a:t>
            </a:r>
          </a:p>
          <a:p>
            <a:endParaRPr lang="en-US" baseline="0" dirty="0"/>
          </a:p>
          <a:p>
            <a:r>
              <a:rPr lang="en-US" baseline="0" dirty="0"/>
              <a:t>VMS operating systems was developed by DEC (Digital Equipment Corporation) for its VAX line of computers and in the 80’s the VAX was the most  popular minicomputer </a:t>
            </a:r>
            <a:r>
              <a:rPr lang="en-US" i="1" baseline="0" dirty="0"/>
              <a:t>(small mainframe, VAX is also in common use today along with the IBM iSeries or </a:t>
            </a:r>
            <a:r>
              <a:rPr lang="en-US" i="1" baseline="0" dirty="0" err="1"/>
              <a:t>PowerServer</a:t>
            </a:r>
            <a:r>
              <a:rPr lang="en-US" i="1" baseline="0" dirty="0"/>
              <a:t> with IBM-</a:t>
            </a:r>
            <a:r>
              <a:rPr lang="en-US" i="1" baseline="0" dirty="0" err="1"/>
              <a:t>i</a:t>
            </a:r>
            <a:r>
              <a:rPr lang="en-US" i="1" baseline="0" dirty="0"/>
              <a:t> or the original AS-400 which is taught at Seneca)</a:t>
            </a:r>
            <a:r>
              <a:rPr lang="en-US" baseline="0" dirty="0"/>
              <a:t> and is still in common use today. </a:t>
            </a:r>
          </a:p>
          <a:p>
            <a:endParaRPr lang="en-US" baseline="0" dirty="0"/>
          </a:p>
          <a:p>
            <a:r>
              <a:rPr lang="en-US" baseline="0" dirty="0"/>
              <a:t>VMS is important for 2 reasons:</a:t>
            </a:r>
          </a:p>
          <a:p>
            <a:pPr marL="228600" indent="-228600">
              <a:buFont typeface="+mj-lt"/>
              <a:buAutoNum type="arabicPeriod"/>
            </a:pPr>
            <a:r>
              <a:rPr lang="en-US" baseline="0" dirty="0"/>
              <a:t> it was the first to develop the use of Virtual memory which is now a standard feature of all operating systems.</a:t>
            </a:r>
          </a:p>
          <a:p>
            <a:pPr marL="228600" indent="-228600">
              <a:buFont typeface="+mj-lt"/>
              <a:buAutoNum type="arabicPeriod"/>
            </a:pPr>
            <a:r>
              <a:rPr lang="en-US" baseline="0" dirty="0"/>
              <a:t> the project leader for VMS was a man by the name of Dave Cutler, who had worked on both </a:t>
            </a:r>
            <a:r>
              <a:rPr lang="en-US" baseline="0" dirty="0" err="1"/>
              <a:t>Multics</a:t>
            </a:r>
            <a:r>
              <a:rPr lang="en-US" baseline="0" dirty="0"/>
              <a:t> and UNIX projects.</a:t>
            </a:r>
          </a:p>
          <a:p>
            <a:endParaRPr lang="en-US" baseline="0" dirty="0"/>
          </a:p>
          <a:p>
            <a:r>
              <a:rPr lang="en-US" baseline="0" dirty="0"/>
              <a:t>DEC was purchased by HP and today, HP is project leader for OpenVMS (the latter is not open source, but uses open standards)</a:t>
            </a:r>
          </a:p>
          <a:p>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CP/M stands for Control Programming Module. </a:t>
            </a:r>
            <a:r>
              <a:rPr lang="en-US" i="1" baseline="0" dirty="0"/>
              <a:t>It was designed by Gary </a:t>
            </a:r>
            <a:r>
              <a:rPr lang="en-US" i="1" baseline="0" dirty="0" err="1"/>
              <a:t>Kildall</a:t>
            </a:r>
            <a:r>
              <a:rPr lang="en-US" i="1" baseline="0" dirty="0"/>
              <a:t> when he worked for Intel</a:t>
            </a:r>
            <a:r>
              <a:rPr lang="en-US" baseline="0" dirty="0"/>
              <a:t>.</a:t>
            </a:r>
            <a:r>
              <a:rPr lang="en-US" i="1" baseline="0" dirty="0"/>
              <a:t> He left Intel and formed a company called Digital Research Inc (DRI)</a:t>
            </a:r>
            <a:r>
              <a:rPr lang="en-US" baseline="0" dirty="0"/>
              <a:t> </a:t>
            </a:r>
            <a:r>
              <a:rPr lang="en-US" i="1" baseline="0" dirty="0"/>
              <a:t>Unlike UNIX, CP/M is a single user, single task operating system</a:t>
            </a:r>
            <a:r>
              <a:rPr lang="en-US" baseline="0" dirty="0"/>
              <a:t>. CP/M is important because it was the first operating system designed for the new microcomputer (PC).  </a:t>
            </a:r>
            <a:r>
              <a:rPr lang="en-US" i="1" baseline="0" dirty="0"/>
              <a:t>IBM had developed the PC hardware but it not have an operating system. IBM failed to come to licensing terms with DRI and turned to a new company called Microsoft to develop the OS. Microsoft did not actually have or own what it sold to IBM at the time of the deal. Microsoft later bought all rights to a clone of CP/M called QDOS (Quick and Dirty Operating System) for $75,000 and </a:t>
            </a:r>
            <a:r>
              <a:rPr lang="en-US" baseline="0" dirty="0"/>
              <a:t>renamed it PC-DOS for IBM, the Personal Computer Disk Operating System. Bill Gates wisely negotiated a non-exclusive arrangement with IBM so Microsoft could sell MS-DOS. Because everything in the IBM PC was off-the-shelf components except for the BIOS, the clone computer market could flourish. MS-DOS was the basis of the Microsoft residential code base for the Windows 9x operating systems (Windows 95, 98 and Me). </a:t>
            </a:r>
          </a:p>
          <a:p>
            <a:endParaRPr lang="en-US" baseline="0" dirty="0"/>
          </a:p>
          <a:p>
            <a:r>
              <a:rPr lang="en-US" baseline="0" dirty="0"/>
              <a:t>Microsoft wanted to develop a new operating system that could be used for large commercial enterprises. </a:t>
            </a:r>
            <a:r>
              <a:rPr lang="en-US" dirty="0">
                <a:effectLst/>
              </a:rPr>
              <a:t>In 1988, Microsoft formed what would become the development team for the Microsoft Windows NT® product. </a:t>
            </a:r>
            <a:r>
              <a:rPr lang="en-US" i="1" dirty="0">
                <a:effectLst/>
              </a:rPr>
              <a:t>The team's goal was to develop a 32-bit, multi-user, multi-process operating system that was better than UNIX. </a:t>
            </a:r>
            <a:r>
              <a:rPr lang="en-US" i="1" baseline="0" dirty="0"/>
              <a:t>At the same time, DEC had cut back on Dave Cutlets project to build an more efficient OS, not based on UNIX design. Discouraged by DEC ‘s decision, Microsoft was able to hire Dave Cutler and most of his programming team to develop this more efficient OS which became known as NT (New Technology AKA Not Today).</a:t>
            </a:r>
            <a:r>
              <a:rPr lang="en-US" dirty="0"/>
              <a:t> </a:t>
            </a:r>
            <a:r>
              <a:rPr lang="en-US" i="1" dirty="0"/>
              <a:t>DEC also believed Cutler brought source code to Microsoft and sued. Microsoft eventually paid US$150 million and agreed to support DEC's Alpha CPU chip on NT. </a:t>
            </a:r>
          </a:p>
          <a:p>
            <a:endParaRPr lang="en-US" i="1" dirty="0"/>
          </a:p>
          <a:p>
            <a:r>
              <a:rPr lang="en-US" i="1" dirty="0"/>
              <a:t>https://superuser.com/questions/1163749/why-do-32-bit-processes-have-a-2gb-ram-limit</a:t>
            </a:r>
          </a:p>
          <a:p>
            <a:r>
              <a:rPr lang="en-US" dirty="0"/>
              <a:t>"</a:t>
            </a:r>
            <a:r>
              <a:rPr lang="en-CA" sz="1200" b="0" i="0" kern="1200" dirty="0">
                <a:solidFill>
                  <a:schemeClr val="tx1"/>
                </a:solidFill>
                <a:effectLst/>
                <a:latin typeface="+mn-lt"/>
                <a:ea typeface="+mn-ea"/>
                <a:cs typeface="+mn-cs"/>
              </a:rPr>
              <a:t>In the NT platform the 4 GB virtual address space is by default divided into 2 parts, the lower 2 GB for process address space and the upper 2 GB for system use."</a:t>
            </a:r>
          </a:p>
          <a:p>
            <a:r>
              <a:rPr lang="en-CA" sz="1200" b="0" i="0" kern="1200" dirty="0">
                <a:solidFill>
                  <a:schemeClr val="tx1"/>
                </a:solidFill>
                <a:effectLst/>
                <a:latin typeface="+mn-lt"/>
                <a:ea typeface="+mn-ea"/>
                <a:cs typeface="+mn-cs"/>
              </a:rPr>
              <a:t>This was a design decision made in the interests of performance, security, and reliability. Each process has it's own private 2 GB address space but there is only one system address space. Processes are isolated in their own private address space and cannot even see others. There is provision for sharing address among 2 or more processes when necessary. System address space is off limits to normal processes and is accessible only to kernel level components such as the OS itself and device drivers. If a process goes astray it can only hurt itself, other processes and the OS are unaffected.</a:t>
            </a:r>
            <a:endParaRPr lang="en-US" i="1" dirty="0"/>
          </a:p>
        </p:txBody>
      </p:sp>
      <p:sp>
        <p:nvSpPr>
          <p:cNvPr id="4" name="Slide Number Placeholder 3"/>
          <p:cNvSpPr>
            <a:spLocks noGrp="1"/>
          </p:cNvSpPr>
          <p:nvPr>
            <p:ph type="sldNum" sz="quarter" idx="10"/>
          </p:nvPr>
        </p:nvSpPr>
        <p:spPr/>
        <p:txBody>
          <a:bodyPr/>
          <a:lstStyle/>
          <a:p>
            <a:fld id="{314F67C4-4AAE-4E12-A8E7-F5B8FF9C811E}" type="slidenum">
              <a:rPr lang="en-US" smtClean="0"/>
              <a:t>24</a:t>
            </a:fld>
            <a:endParaRPr lang="en-US"/>
          </a:p>
        </p:txBody>
      </p:sp>
    </p:spTree>
    <p:extLst>
      <p:ext uri="{BB962C8B-B14F-4D97-AF65-F5344CB8AC3E}">
        <p14:creationId xmlns:p14="http://schemas.microsoft.com/office/powerpoint/2010/main" val="749749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2"/>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9B07471-B472-4C3F-B46F-D347BD4AB42B}" type="datetimeFigureOut">
              <a:rPr lang="en-CA" smtClean="0"/>
              <a:pPr/>
              <a:t>2018-03-05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520302C-C939-453E-8DD2-9FE6F9C2455B}" type="slidenum">
              <a:rPr lang="en-CA" smtClean="0"/>
              <a:pPr/>
              <a:t>‹#›</a:t>
            </a:fld>
            <a:endParaRPr lang="en-CA"/>
          </a:p>
        </p:txBody>
      </p:sp>
      <p:cxnSp>
        <p:nvCxnSpPr>
          <p:cNvPr id="8" name="Straight Connector 7"/>
          <p:cNvCxnSpPr/>
          <p:nvPr/>
        </p:nvCxnSpPr>
        <p:spPr>
          <a:xfrm>
            <a:off x="685800" y="339852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195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9B07471-B472-4C3F-B46F-D347BD4AB42B}" type="datetimeFigureOut">
              <a:rPr lang="en-CA" smtClean="0"/>
              <a:pPr/>
              <a:t>2018-03-05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520302C-C939-453E-8DD2-9FE6F9C2455B}" type="slidenum">
              <a:rPr lang="en-CA" smtClean="0"/>
              <a:pPr/>
              <a:t>‹#›</a:t>
            </a:fld>
            <a:endParaRPr lang="en-CA"/>
          </a:p>
        </p:txBody>
      </p:sp>
    </p:spTree>
    <p:extLst>
      <p:ext uri="{BB962C8B-B14F-4D97-AF65-F5344CB8AC3E}">
        <p14:creationId xmlns:p14="http://schemas.microsoft.com/office/powerpoint/2010/main" val="3865471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Query - Stop">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7571184" cy="990600"/>
          </a:xfrm>
        </p:spPr>
        <p:txBody>
          <a:bodyPr/>
          <a:lstStyle/>
          <a:p>
            <a:r>
              <a:rPr lang="en-US" dirty="0"/>
              <a:t>Click to edit Master title style</a:t>
            </a:r>
            <a:endParaRPr lang="en-CA" dirty="0"/>
          </a:p>
        </p:txBody>
      </p:sp>
      <p:sp>
        <p:nvSpPr>
          <p:cNvPr id="3" name="Date Placeholder 2"/>
          <p:cNvSpPr>
            <a:spLocks noGrp="1"/>
          </p:cNvSpPr>
          <p:nvPr>
            <p:ph type="dt" sz="half" idx="10"/>
          </p:nvPr>
        </p:nvSpPr>
        <p:spPr/>
        <p:txBody>
          <a:bodyPr/>
          <a:lstStyle/>
          <a:p>
            <a:fld id="{E9B07471-B472-4C3F-B46F-D347BD4AB42B}" type="datetimeFigureOut">
              <a:rPr lang="en-CA" smtClean="0"/>
              <a:pPr/>
              <a:t>2018-03-05</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9520302C-C939-453E-8DD2-9FE6F9C2455B}" type="slidenum">
              <a:rPr lang="en-CA" smtClean="0"/>
              <a:pPr/>
              <a:t>‹#›</a:t>
            </a:fld>
            <a:endParaRPr lang="en-CA"/>
          </a:p>
        </p:txBody>
      </p:sp>
      <p:sp>
        <p:nvSpPr>
          <p:cNvPr id="6" name="Content Placeholder 2"/>
          <p:cNvSpPr>
            <a:spLocks noGrp="1"/>
          </p:cNvSpPr>
          <p:nvPr>
            <p:ph idx="1"/>
          </p:nvPr>
        </p:nvSpPr>
        <p:spPr>
          <a:xfrm>
            <a:off x="457200" y="1600200"/>
            <a:ext cx="82296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p:cNvSpPr txBox="1"/>
          <p:nvPr userDrawn="1"/>
        </p:nvSpPr>
        <p:spPr>
          <a:xfrm>
            <a:off x="8091958" y="548681"/>
            <a:ext cx="720080" cy="830997"/>
          </a:xfrm>
          <a:prstGeom prst="rect">
            <a:avLst/>
          </a:prstGeom>
          <a:noFill/>
        </p:spPr>
        <p:txBody>
          <a:bodyPr wrap="square" rtlCol="0">
            <a:spAutoFit/>
          </a:bodyPr>
          <a:lstStyle/>
          <a:p>
            <a:r>
              <a:rPr lang="en-CA" sz="4800" dirty="0" err="1">
                <a:solidFill>
                  <a:srgbClr val="465E9C">
                    <a:lumMod val="60000"/>
                    <a:lumOff val="40000"/>
                  </a:srgbClr>
                </a:solidFill>
                <a:latin typeface="Webdings" pitchFamily="18" charset="2"/>
              </a:rPr>
              <a:t>i</a:t>
            </a:r>
            <a:endParaRPr lang="en-CA" sz="4800" dirty="0">
              <a:solidFill>
                <a:srgbClr val="465E9C">
                  <a:lumMod val="60000"/>
                  <a:lumOff val="40000"/>
                </a:srgbClr>
              </a:solidFill>
              <a:latin typeface="Webdings" pitchFamily="18" charset="2"/>
            </a:endParaRPr>
          </a:p>
        </p:txBody>
      </p:sp>
    </p:spTree>
    <p:extLst>
      <p:ext uri="{BB962C8B-B14F-4D97-AF65-F5344CB8AC3E}">
        <p14:creationId xmlns:p14="http://schemas.microsoft.com/office/powerpoint/2010/main" val="2890061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1"/>
            <a:ext cx="7772400" cy="2200275"/>
          </a:xfrm>
        </p:spPr>
        <p:txBody>
          <a:bodyPr anchor="b">
            <a:normAutofit/>
          </a:bodyPr>
          <a:lstStyle>
            <a:lvl1pPr algn="l">
              <a:defRPr sz="4000" b="0" cap="none"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722313" y="4626865"/>
            <a:ext cx="7772400" cy="1500187"/>
          </a:xfrm>
        </p:spPr>
        <p:txBody>
          <a:bodyPr anchor="t">
            <a:normAutofit/>
          </a:bodyPr>
          <a:lstStyle>
            <a:lvl1pPr marL="0" indent="0">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B07471-B472-4C3F-B46F-D347BD4AB42B}" type="datetimeFigureOut">
              <a:rPr lang="en-CA" smtClean="0"/>
              <a:pPr/>
              <a:t>2018-03-05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520302C-C939-453E-8DD2-9FE6F9C2455B}" type="slidenum">
              <a:rPr lang="en-CA" smtClean="0"/>
              <a:pPr/>
              <a:t>‹#›</a:t>
            </a:fld>
            <a:endParaRPr lang="en-CA"/>
          </a:p>
        </p:txBody>
      </p:sp>
      <p:cxnSp>
        <p:nvCxnSpPr>
          <p:cNvPr id="7" name="Straight Connector 6"/>
          <p:cNvCxnSpPr/>
          <p:nvPr/>
        </p:nvCxnSpPr>
        <p:spPr>
          <a:xfrm>
            <a:off x="731520" y="4599434"/>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0975648"/>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1676401"/>
            <a:ext cx="8219256" cy="639763"/>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l">
              <a:buNone/>
              <a:defRPr sz="2400" b="0">
                <a:solidFill>
                  <a:schemeClr val="tx2"/>
                </a:solidFill>
                <a:latin typeface="Franklin Gothic Dem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438400"/>
            <a:ext cx="821925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9B07471-B472-4C3F-B46F-D347BD4AB42B}" type="datetimeFigureOut">
              <a:rPr lang="en-CA" smtClean="0"/>
              <a:pPr/>
              <a:t>2018-03-05</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9520302C-C939-453E-8DD2-9FE6F9C2455B}" type="slidenum">
              <a:rPr lang="en-CA" smtClean="0"/>
              <a:pPr/>
              <a:t>‹#›</a:t>
            </a:fld>
            <a:endParaRPr lang="en-CA"/>
          </a:p>
        </p:txBody>
      </p:sp>
    </p:spTree>
    <p:extLst>
      <p:ext uri="{BB962C8B-B14F-4D97-AF65-F5344CB8AC3E}">
        <p14:creationId xmlns:p14="http://schemas.microsoft.com/office/powerpoint/2010/main" val="3056285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and 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47484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E9B07471-B472-4C3F-B46F-D347BD4AB42B}" type="datetimeFigureOut">
              <a:rPr lang="en-CA" smtClean="0"/>
              <a:pPr/>
              <a:t>2018-03-05</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520302C-C939-453E-8DD2-9FE6F9C2455B}" type="slidenum">
              <a:rPr lang="en-CA" smtClean="0"/>
              <a:pPr/>
              <a:t>‹#›</a:t>
            </a:fld>
            <a:endParaRPr lang="en-CA"/>
          </a:p>
        </p:txBody>
      </p:sp>
      <p:sp>
        <p:nvSpPr>
          <p:cNvPr id="9" name="Picture Placeholder 8"/>
          <p:cNvSpPr>
            <a:spLocks noGrp="1"/>
          </p:cNvSpPr>
          <p:nvPr>
            <p:ph type="pic" sz="quarter" idx="13"/>
          </p:nvPr>
        </p:nvSpPr>
        <p:spPr>
          <a:xfrm>
            <a:off x="5004048" y="1676401"/>
            <a:ext cx="4139952" cy="5181600"/>
          </a:xfrm>
        </p:spPr>
        <p:txBody>
          <a:bodyPr/>
          <a:lstStyle/>
          <a:p>
            <a:endParaRPr lang="en-CA" dirty="0"/>
          </a:p>
        </p:txBody>
      </p:sp>
    </p:spTree>
    <p:extLst>
      <p:ext uri="{BB962C8B-B14F-4D97-AF65-F5344CB8AC3E}">
        <p14:creationId xmlns:p14="http://schemas.microsoft.com/office/powerpoint/2010/main" val="1562352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1676401"/>
            <a:ext cx="3931920" cy="639763"/>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latin typeface="Franklin Gothic Dem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4880" y="1676401"/>
            <a:ext cx="3931920" cy="639763"/>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Franklin Gothic Demi" pitchFamily="34"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B07471-B472-4C3F-B46F-D347BD4AB42B}" type="datetimeFigureOut">
              <a:rPr lang="en-CA" smtClean="0"/>
              <a:pPr/>
              <a:t>2018-03-05</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9520302C-C939-453E-8DD2-9FE6F9C2455B}" type="slidenum">
              <a:rPr lang="en-CA" smtClean="0"/>
              <a:pPr/>
              <a:t>‹#›</a:t>
            </a:fld>
            <a:endParaRPr lang="en-CA"/>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494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9B07471-B472-4C3F-B46F-D347BD4AB42B}" type="datetimeFigureOut">
              <a:rPr lang="en-CA" smtClean="0"/>
              <a:pPr/>
              <a:t>2018-03-05</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9520302C-C939-453E-8DD2-9FE6F9C2455B}" type="slidenum">
              <a:rPr lang="en-CA" smtClean="0"/>
              <a:pPr/>
              <a:t>‹#›</a:t>
            </a:fld>
            <a:endParaRPr lang="en-CA"/>
          </a:p>
        </p:txBody>
      </p:sp>
    </p:spTree>
    <p:extLst>
      <p:ext uri="{BB962C8B-B14F-4D97-AF65-F5344CB8AC3E}">
        <p14:creationId xmlns:p14="http://schemas.microsoft.com/office/powerpoint/2010/main" val="11536455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B07471-B472-4C3F-B46F-D347BD4AB42B}" type="datetimeFigureOut">
              <a:rPr lang="en-CA" smtClean="0"/>
              <a:pPr/>
              <a:t>2018-03-05</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9520302C-C939-453E-8DD2-9FE6F9C2455B}" type="slidenum">
              <a:rPr lang="en-CA" smtClean="0"/>
              <a:pPr/>
              <a:t>‹#›</a:t>
            </a:fld>
            <a:endParaRPr lang="en-CA"/>
          </a:p>
        </p:txBody>
      </p:sp>
    </p:spTree>
    <p:extLst>
      <p:ext uri="{BB962C8B-B14F-4D97-AF65-F5344CB8AC3E}">
        <p14:creationId xmlns:p14="http://schemas.microsoft.com/office/powerpoint/2010/main" val="40669439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B07471-B472-4C3F-B46F-D347BD4AB42B}" type="datetimeFigureOut">
              <a:rPr lang="en-CA" smtClean="0"/>
              <a:pPr/>
              <a:t>2018-03-05</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520302C-C939-453E-8DD2-9FE6F9C2455B}" type="slidenum">
              <a:rPr lang="en-CA" smtClean="0"/>
              <a:pPr/>
              <a:t>‹#›</a:t>
            </a:fld>
            <a:endParaRPr lang="en-CA"/>
          </a:p>
        </p:txBody>
      </p:sp>
    </p:spTree>
    <p:extLst>
      <p:ext uri="{BB962C8B-B14F-4D97-AF65-F5344CB8AC3E}">
        <p14:creationId xmlns:p14="http://schemas.microsoft.com/office/powerpoint/2010/main" val="2096512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5"/>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B07471-B472-4C3F-B46F-D347BD4AB42B}" type="datetimeFigureOut">
              <a:rPr lang="en-CA" smtClean="0"/>
              <a:pPr/>
              <a:t>2018-03-05</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520302C-C939-453E-8DD2-9FE6F9C2455B}" type="slidenum">
              <a:rPr lang="en-CA" smtClean="0"/>
              <a:pPr/>
              <a:t>‹#›</a:t>
            </a:fld>
            <a:endParaRPr lang="en-CA"/>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34422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B07471-B472-4C3F-B46F-D347BD4AB42B}" type="datetimeFigureOut">
              <a:rPr lang="en-CA" smtClean="0"/>
              <a:pPr/>
              <a:t>2018-03-05</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520302C-C939-453E-8DD2-9FE6F9C2455B}" type="slidenum">
              <a:rPr lang="en-CA" smtClean="0"/>
              <a:pPr/>
              <a:t>‹#›</a:t>
            </a:fld>
            <a:endParaRPr lang="en-CA"/>
          </a:p>
        </p:txBody>
      </p:sp>
    </p:spTree>
    <p:extLst>
      <p:ext uri="{BB962C8B-B14F-4D97-AF65-F5344CB8AC3E}">
        <p14:creationId xmlns:p14="http://schemas.microsoft.com/office/powerpoint/2010/main" val="7680270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B07471-B472-4C3F-B46F-D347BD4AB42B}" type="datetimeFigureOut">
              <a:rPr lang="en-CA" smtClean="0"/>
              <a:pPr/>
              <a:t>2018-03-05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520302C-C939-453E-8DD2-9FE6F9C2455B}" type="slidenum">
              <a:rPr lang="en-CA" smtClean="0"/>
              <a:pPr/>
              <a:t>‹#›</a:t>
            </a:fld>
            <a:endParaRPr lang="en-CA"/>
          </a:p>
        </p:txBody>
      </p:sp>
    </p:spTree>
    <p:extLst>
      <p:ext uri="{BB962C8B-B14F-4D97-AF65-F5344CB8AC3E}">
        <p14:creationId xmlns:p14="http://schemas.microsoft.com/office/powerpoint/2010/main" val="12014702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B07471-B472-4C3F-B46F-D347BD4AB42B}" type="datetimeFigureOut">
              <a:rPr lang="en-CA" smtClean="0"/>
              <a:pPr/>
              <a:t>2018-03-05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520302C-C939-453E-8DD2-9FE6F9C2455B}" type="slidenum">
              <a:rPr lang="en-CA" smtClean="0"/>
              <a:pPr/>
              <a:t>‹#›</a:t>
            </a:fld>
            <a:endParaRPr lang="en-CA"/>
          </a:p>
        </p:txBody>
      </p:sp>
    </p:spTree>
    <p:extLst>
      <p:ext uri="{BB962C8B-B14F-4D97-AF65-F5344CB8AC3E}">
        <p14:creationId xmlns:p14="http://schemas.microsoft.com/office/powerpoint/2010/main" val="13487836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7"/>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E9B07471-B472-4C3F-B46F-D347BD4AB42B}" type="datetimeFigureOut">
              <a:rPr lang="en-CA" smtClean="0"/>
              <a:pPr/>
              <a:t>2018-03-05</a:t>
            </a:fld>
            <a:endParaRPr lang="en-CA"/>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CA" dirty="0"/>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9520302C-C939-453E-8DD2-9FE6F9C2455B}" type="slidenum">
              <a:rPr lang="en-CA" smtClean="0"/>
              <a:pPr/>
              <a:t>‹#›</a:t>
            </a:fld>
            <a:endParaRPr lang="en-CA"/>
          </a:p>
        </p:txBody>
      </p:sp>
    </p:spTree>
    <p:extLst>
      <p:ext uri="{BB962C8B-B14F-4D97-AF65-F5344CB8AC3E}">
        <p14:creationId xmlns:p14="http://schemas.microsoft.com/office/powerpoint/2010/main" val="33429210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914400" rtl="0" eaLnBrk="1" latinLnBrk="0" hangingPunct="1">
        <a:spcBef>
          <a:spcPct val="0"/>
        </a:spcBef>
        <a:buNone/>
        <a:defRPr sz="4000" b="0" kern="1200" spc="-100" baseline="0">
          <a:solidFill>
            <a:schemeClr val="tx2"/>
          </a:solidFill>
          <a:latin typeface="Franklin Gothic Demi" pitchFamily="34" charset="0"/>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hyperlink" Target="https://commons.wikimedia.org/w/index.php?curid=28224098" TargetMode="External"/><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hyperlink" Target="https://en.wikipedia.org/wiki/LAMP_(software_bundle)"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en.wikipedia.org/wiki/" TargetMode="External"/><Relationship Id="rId5" Type="http://schemas.openxmlformats.org/officeDocument/2006/relationships/hyperlink" Target="https://en.wikipedia.org/wiki/User:K7.india" TargetMode="Externa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hyperlink" Target="https://en.wikipedia.org/wiki/BIOS"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hyperlink" Target="https://en.wikipedia.org/wiki/Solid-state_drive" TargetMode="External"/><Relationship Id="rId5" Type="http://schemas.openxmlformats.org/officeDocument/2006/relationships/hyperlink" Target="https://en.wikipedia.org/wiki/Unified_Extensible_Firmware_Interface" TargetMode="External"/><Relationship Id="rId4" Type="http://schemas.openxmlformats.org/officeDocument/2006/relationships/hyperlink" Target="https://en.wikipedia.org/wiki/EEPROM" TargetMode="Externa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0.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8" Type="http://schemas.openxmlformats.org/officeDocument/2006/relationships/image" Target="../media/image26.jpg"/><Relationship Id="rId3" Type="http://schemas.openxmlformats.org/officeDocument/2006/relationships/image" Target="../media/image21.jpg"/><Relationship Id="rId7" Type="http://schemas.openxmlformats.org/officeDocument/2006/relationships/image" Target="../media/image25.jpg"/><Relationship Id="rId12"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24.jpg"/><Relationship Id="rId11" Type="http://schemas.openxmlformats.org/officeDocument/2006/relationships/image" Target="../media/image29.png"/><Relationship Id="rId5" Type="http://schemas.openxmlformats.org/officeDocument/2006/relationships/image" Target="../media/image23.jpg"/><Relationship Id="rId10" Type="http://schemas.openxmlformats.org/officeDocument/2006/relationships/image" Target="../media/image28.jpg"/><Relationship Id="rId4" Type="http://schemas.openxmlformats.org/officeDocument/2006/relationships/image" Target="../media/image22.jpg"/><Relationship Id="rId9" Type="http://schemas.openxmlformats.org/officeDocument/2006/relationships/image" Target="../media/image27.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CA" dirty="0"/>
              <a:t>Computer Principles for Programmers</a:t>
            </a:r>
          </a:p>
        </p:txBody>
      </p:sp>
      <p:sp>
        <p:nvSpPr>
          <p:cNvPr id="3" name="Subtitle 2"/>
          <p:cNvSpPr>
            <a:spLocks noGrp="1"/>
          </p:cNvSpPr>
          <p:nvPr>
            <p:ph type="subTitle" idx="1"/>
          </p:nvPr>
        </p:nvSpPr>
        <p:spPr>
          <a:xfrm>
            <a:off x="685800" y="3505200"/>
            <a:ext cx="7848600" cy="2876128"/>
          </a:xfrm>
        </p:spPr>
        <p:txBody>
          <a:bodyPr>
            <a:normAutofit/>
          </a:bodyPr>
          <a:lstStyle/>
          <a:p>
            <a:r>
              <a:rPr lang="en-CA" sz="3600" b="1" dirty="0"/>
              <a:t>Hardware + Software = Platform</a:t>
            </a:r>
          </a:p>
        </p:txBody>
      </p:sp>
    </p:spTree>
    <p:extLst>
      <p:ext uri="{BB962C8B-B14F-4D97-AF65-F5344CB8AC3E}">
        <p14:creationId xmlns:p14="http://schemas.microsoft.com/office/powerpoint/2010/main" val="9870571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a:t>Agenda</a:t>
            </a:r>
            <a:endParaRPr lang="en-CA" dirty="0"/>
          </a:p>
        </p:txBody>
      </p:sp>
      <p:sp>
        <p:nvSpPr>
          <p:cNvPr id="5" name="Content Placeholder 4"/>
          <p:cNvSpPr>
            <a:spLocks noGrp="1"/>
          </p:cNvSpPr>
          <p:nvPr>
            <p:ph idx="1"/>
          </p:nvPr>
        </p:nvSpPr>
        <p:spPr>
          <a:xfrm>
            <a:off x="971600" y="1600200"/>
            <a:ext cx="7715200" cy="4876800"/>
          </a:xfrm>
        </p:spPr>
        <p:txBody>
          <a:bodyPr>
            <a:normAutofit/>
          </a:bodyPr>
          <a:lstStyle/>
          <a:p>
            <a:pPr marL="0" indent="0">
              <a:spcBef>
                <a:spcPts val="800"/>
              </a:spcBef>
              <a:spcAft>
                <a:spcPts val="1200"/>
              </a:spcAft>
              <a:buNone/>
            </a:pPr>
            <a:r>
              <a:rPr lang="en-CA" dirty="0"/>
              <a:t>Quiz</a:t>
            </a:r>
          </a:p>
          <a:p>
            <a:pPr marL="0" indent="0">
              <a:spcBef>
                <a:spcPts val="800"/>
              </a:spcBef>
              <a:spcAft>
                <a:spcPts val="1200"/>
              </a:spcAft>
              <a:buNone/>
            </a:pPr>
            <a:r>
              <a:rPr lang="en-CA" dirty="0"/>
              <a:t>News</a:t>
            </a:r>
          </a:p>
          <a:p>
            <a:pPr marL="0" indent="0">
              <a:buNone/>
            </a:pPr>
            <a:r>
              <a:rPr lang="en-CA" dirty="0"/>
              <a:t>Discussion</a:t>
            </a:r>
          </a:p>
          <a:p>
            <a:pPr lvl="1"/>
            <a:r>
              <a:rPr lang="en-CA" dirty="0"/>
              <a:t>Introductory Concepts</a:t>
            </a:r>
          </a:p>
          <a:p>
            <a:pPr lvl="1"/>
            <a:r>
              <a:rPr lang="en-CA" dirty="0"/>
              <a:t>Hardware vs Software vs Firmware</a:t>
            </a:r>
          </a:p>
          <a:p>
            <a:pPr lvl="1"/>
            <a:r>
              <a:rPr lang="en-CA" dirty="0"/>
              <a:t>Principles of Systems Design</a:t>
            </a:r>
          </a:p>
          <a:p>
            <a:pPr lvl="1"/>
            <a:r>
              <a:rPr lang="en-CA" dirty="0"/>
              <a:t>Operating System Concepts</a:t>
            </a:r>
          </a:p>
          <a:p>
            <a:pPr lvl="1"/>
            <a:r>
              <a:rPr lang="en-CA" dirty="0"/>
              <a:t>Short History of System Software Development</a:t>
            </a:r>
            <a:endParaRPr lang="en-US" dirty="0"/>
          </a:p>
          <a:p>
            <a:pPr marL="0" lvl="1" indent="0">
              <a:spcBef>
                <a:spcPts val="800"/>
              </a:spcBef>
              <a:spcAft>
                <a:spcPts val="1200"/>
              </a:spcAft>
              <a:buNone/>
            </a:pPr>
            <a:r>
              <a:rPr lang="en-US" sz="2400" dirty="0"/>
              <a:t>Task Manager &amp; APIs</a:t>
            </a:r>
            <a:endParaRPr lang="en-CA" sz="2400" dirty="0"/>
          </a:p>
        </p:txBody>
      </p:sp>
      <p:pic>
        <p:nvPicPr>
          <p:cNvPr id="26" name="Picture 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7909" y="5085184"/>
            <a:ext cx="359863" cy="480053"/>
          </a:xfrm>
          <a:prstGeom prst="rect">
            <a:avLst/>
          </a:prstGeom>
        </p:spPr>
      </p:pic>
      <p:pic>
        <p:nvPicPr>
          <p:cNvPr id="27" name="Picture 2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9734" y="2833872"/>
            <a:ext cx="359863" cy="480053"/>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5737" y="2266088"/>
            <a:ext cx="359862" cy="396565"/>
          </a:xfrm>
          <a:prstGeom prst="rect">
            <a:avLst/>
          </a:prstGeom>
        </p:spPr>
      </p:pic>
      <p:pic>
        <p:nvPicPr>
          <p:cNvPr id="9" name="Picture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5374" y="1655059"/>
            <a:ext cx="328571" cy="438309"/>
          </a:xfrm>
          <a:prstGeom prst="rect">
            <a:avLst/>
          </a:prstGeom>
        </p:spPr>
      </p:pic>
    </p:spTree>
    <p:extLst>
      <p:ext uri="{BB962C8B-B14F-4D97-AF65-F5344CB8AC3E}">
        <p14:creationId xmlns:p14="http://schemas.microsoft.com/office/powerpoint/2010/main" val="349588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Quiz</a:t>
            </a:r>
          </a:p>
        </p:txBody>
      </p:sp>
      <p:sp>
        <p:nvSpPr>
          <p:cNvPr id="4" name="Content Placeholder 3"/>
          <p:cNvSpPr>
            <a:spLocks noGrp="1"/>
          </p:cNvSpPr>
          <p:nvPr>
            <p:ph idx="1"/>
          </p:nvPr>
        </p:nvSpPr>
        <p:spPr/>
        <p:txBody>
          <a:bodyPr/>
          <a:lstStyle/>
          <a:p>
            <a:endParaRPr lang="en-CA"/>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21060" y="2641171"/>
            <a:ext cx="1958066" cy="2612032"/>
          </a:xfrm>
          <a:prstGeom prst="rect">
            <a:avLst/>
          </a:prstGeom>
        </p:spPr>
      </p:pic>
    </p:spTree>
    <p:extLst>
      <p:ext uri="{BB962C8B-B14F-4D97-AF65-F5344CB8AC3E}">
        <p14:creationId xmlns:p14="http://schemas.microsoft.com/office/powerpoint/2010/main" val="2405114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dirty="0"/>
              <a:t>News of the Week</a:t>
            </a:r>
          </a:p>
        </p:txBody>
      </p:sp>
      <p:sp>
        <p:nvSpPr>
          <p:cNvPr id="6" name="Content Placeholder 5"/>
          <p:cNvSpPr>
            <a:spLocks noGrp="1"/>
          </p:cNvSpPr>
          <p:nvPr>
            <p:ph idx="1"/>
          </p:nvPr>
        </p:nvSpPr>
        <p:spPr/>
        <p:txBody>
          <a:bodyPr/>
          <a:lstStyle/>
          <a:p>
            <a:endParaRPr lang="en-CA"/>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1880" y="2660918"/>
            <a:ext cx="2240096" cy="2468569"/>
          </a:xfrm>
          <a:prstGeom prst="rect">
            <a:avLst/>
          </a:prstGeom>
        </p:spPr>
      </p:pic>
    </p:spTree>
    <p:extLst>
      <p:ext uri="{BB962C8B-B14F-4D97-AF65-F5344CB8AC3E}">
        <p14:creationId xmlns:p14="http://schemas.microsoft.com/office/powerpoint/2010/main" val="634813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71633" y="3717032"/>
            <a:ext cx="5623482" cy="2952328"/>
          </a:xfrm>
          <a:prstGeom prst="rect">
            <a:avLst/>
          </a:prstGeom>
        </p:spPr>
      </p:pic>
      <p:sp>
        <p:nvSpPr>
          <p:cNvPr id="4098" name="Slide Number Placeholder 5"/>
          <p:cNvSpPr>
            <a:spLocks noGrp="1"/>
          </p:cNvSpPr>
          <p:nvPr>
            <p:ph type="sldNum" sz="quarter" idx="12"/>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A44000DB-6ACD-49F8-A7F0-FED82B3F582C}" type="slidenum">
              <a:rPr lang="en-US" altLang="en-US" sz="1400"/>
              <a:pPr/>
              <a:t>5</a:t>
            </a:fld>
            <a:endParaRPr lang="en-US" altLang="en-US" sz="1400"/>
          </a:p>
        </p:txBody>
      </p:sp>
      <p:sp>
        <p:nvSpPr>
          <p:cNvPr id="4099" name="Rectangle 2"/>
          <p:cNvSpPr>
            <a:spLocks noGrp="1" noChangeArrowheads="1"/>
          </p:cNvSpPr>
          <p:nvPr>
            <p:ph type="title"/>
          </p:nvPr>
        </p:nvSpPr>
        <p:spPr/>
        <p:txBody>
          <a:bodyPr/>
          <a:lstStyle/>
          <a:p>
            <a:r>
              <a:rPr lang="en-US" altLang="en-US" dirty="0"/>
              <a:t>Systems</a:t>
            </a:r>
          </a:p>
        </p:txBody>
      </p:sp>
      <p:sp>
        <p:nvSpPr>
          <p:cNvPr id="4100" name="Rectangle 3"/>
          <p:cNvSpPr>
            <a:spLocks noGrp="1" noChangeArrowheads="1"/>
          </p:cNvSpPr>
          <p:nvPr>
            <p:ph type="body" idx="1"/>
          </p:nvPr>
        </p:nvSpPr>
        <p:spPr>
          <a:xfrm>
            <a:off x="385192" y="1457195"/>
            <a:ext cx="4042792" cy="4876800"/>
          </a:xfrm>
        </p:spPr>
        <p:txBody>
          <a:bodyPr>
            <a:normAutofit/>
          </a:bodyPr>
          <a:lstStyle/>
          <a:p>
            <a:r>
              <a:rPr lang="en-CA" altLang="en-US" b="1" dirty="0"/>
              <a:t>Operating System (OS)</a:t>
            </a:r>
            <a:br>
              <a:rPr lang="en-CA" altLang="en-US" b="1" dirty="0"/>
            </a:br>
            <a:r>
              <a:rPr lang="en-CA" dirty="0"/>
              <a:t>manages hardware &amp; software resources, provides common services for Application Software.</a:t>
            </a:r>
            <a:endParaRPr lang="en-US" altLang="en-US" b="1" dirty="0"/>
          </a:p>
          <a:p>
            <a:r>
              <a:rPr lang="en-CA" altLang="en-US" b="1" dirty="0"/>
              <a:t>Application Software</a:t>
            </a:r>
            <a:endParaRPr lang="en-US" altLang="en-US" b="1" dirty="0"/>
          </a:p>
          <a:p>
            <a:pPr lvl="1"/>
            <a:r>
              <a:rPr lang="en-US" altLang="en-US" dirty="0"/>
              <a:t>A program (or “app”) designed to perform a group of coordinated user functions, tasks, or activities in order to solve a problem.</a:t>
            </a:r>
          </a:p>
          <a:p>
            <a:r>
              <a:rPr lang="en-US" altLang="en-US" b="1" dirty="0"/>
              <a:t>Platform</a:t>
            </a:r>
            <a:r>
              <a:rPr lang="en-US" altLang="en-US" dirty="0"/>
              <a:t>: hardware + OS + development enviro</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331" y="583227"/>
            <a:ext cx="4015188" cy="3312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a:extLst>
              <a:ext uri="{FF2B5EF4-FFF2-40B4-BE49-F238E27FC236}">
                <a16:creationId xmlns:a16="http://schemas.microsoft.com/office/drawing/2014/main" id="{C2B0120F-E735-498C-879E-75742D30B734}"/>
              </a:ext>
            </a:extLst>
          </p:cNvPr>
          <p:cNvSpPr txBox="1"/>
          <p:nvPr/>
        </p:nvSpPr>
        <p:spPr>
          <a:xfrm>
            <a:off x="7092280" y="4839253"/>
            <a:ext cx="1882552" cy="707886"/>
          </a:xfrm>
          <a:prstGeom prst="rect">
            <a:avLst/>
          </a:prstGeom>
          <a:noFill/>
        </p:spPr>
        <p:txBody>
          <a:bodyPr wrap="square" rtlCol="0">
            <a:spAutoFit/>
          </a:bodyPr>
          <a:lstStyle/>
          <a:p>
            <a:r>
              <a:rPr lang="en-US" sz="2000" b="1" dirty="0"/>
              <a:t>TUX </a:t>
            </a:r>
            <a:r>
              <a:rPr lang="en-US" sz="2000" dirty="0"/>
              <a:t>penguin</a:t>
            </a:r>
            <a:br>
              <a:rPr lang="en-US" sz="2000" dirty="0"/>
            </a:br>
            <a:r>
              <a:rPr lang="en-CA" sz="2000" b="1" dirty="0" err="1"/>
              <a:t>T</a:t>
            </a:r>
            <a:r>
              <a:rPr lang="en-CA" sz="2000" dirty="0" err="1"/>
              <a:t>orvald's</a:t>
            </a:r>
            <a:r>
              <a:rPr lang="en-CA" sz="2000" dirty="0"/>
              <a:t> </a:t>
            </a:r>
            <a:r>
              <a:rPr lang="en-CA" sz="2000" b="1" dirty="0" err="1"/>
              <a:t>U</a:t>
            </a:r>
            <a:r>
              <a:rPr lang="en-CA" sz="2000" dirty="0" err="1"/>
              <a:t>ni</a:t>
            </a:r>
            <a:r>
              <a:rPr lang="en-CA" sz="2000" b="1" dirty="0" err="1"/>
              <a:t>X</a:t>
            </a:r>
            <a:endParaRPr lang="en-CA" sz="20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6398" y="1338265"/>
            <a:ext cx="5330058" cy="5115071"/>
          </a:xfrm>
          <a:prstGeom prst="rect">
            <a:avLst/>
          </a:prstGeom>
          <a:noFill/>
        </p:spPr>
      </p:pic>
      <p:sp>
        <p:nvSpPr>
          <p:cNvPr id="2" name="Title 1"/>
          <p:cNvSpPr>
            <a:spLocks noGrp="1"/>
          </p:cNvSpPr>
          <p:nvPr>
            <p:ph type="title"/>
          </p:nvPr>
        </p:nvSpPr>
        <p:spPr>
          <a:xfrm>
            <a:off x="457200" y="260648"/>
            <a:ext cx="8229600" cy="990600"/>
          </a:xfrm>
        </p:spPr>
        <p:txBody>
          <a:bodyPr/>
          <a:lstStyle/>
          <a:p>
            <a:pPr algn="ctr"/>
            <a:r>
              <a:rPr lang="en-US" dirty="0"/>
              <a:t>Firmware and the Internet of Things</a:t>
            </a:r>
            <a:endParaRPr lang="en-CA" dirty="0"/>
          </a:p>
        </p:txBody>
      </p:sp>
      <p:sp>
        <p:nvSpPr>
          <p:cNvPr id="4" name="TextBox 3"/>
          <p:cNvSpPr txBox="1"/>
          <p:nvPr/>
        </p:nvSpPr>
        <p:spPr>
          <a:xfrm>
            <a:off x="0" y="6597352"/>
            <a:ext cx="9036496" cy="307777"/>
          </a:xfrm>
          <a:prstGeom prst="rect">
            <a:avLst/>
          </a:prstGeom>
          <a:noFill/>
        </p:spPr>
        <p:txBody>
          <a:bodyPr wrap="square" rtlCol="0">
            <a:spAutoFit/>
          </a:bodyPr>
          <a:lstStyle/>
          <a:p>
            <a:r>
              <a:rPr lang="en-CA" sz="1400" dirty="0"/>
              <a:t>By </a:t>
            </a:r>
            <a:r>
              <a:rPr lang="en-CA" sz="1400" dirty="0" err="1"/>
              <a:t>Wilgengebroed</a:t>
            </a:r>
            <a:r>
              <a:rPr lang="en-CA" sz="1400" dirty="0"/>
              <a:t> on Flickr [CC BY 2.0 (http://creativecommons.org/licenses/by/2.0)], via Wikimedia Commons</a:t>
            </a:r>
          </a:p>
        </p:txBody>
      </p:sp>
      <p:sp>
        <p:nvSpPr>
          <p:cNvPr id="5" name="TextBox 4">
            <a:extLst>
              <a:ext uri="{FF2B5EF4-FFF2-40B4-BE49-F238E27FC236}">
                <a16:creationId xmlns:a16="http://schemas.microsoft.com/office/drawing/2014/main" id="{9BB738B9-24EF-4F05-90C8-E3706B7394A6}"/>
              </a:ext>
            </a:extLst>
          </p:cNvPr>
          <p:cNvSpPr txBox="1"/>
          <p:nvPr/>
        </p:nvSpPr>
        <p:spPr>
          <a:xfrm>
            <a:off x="827584" y="1340768"/>
            <a:ext cx="2952328" cy="2764173"/>
          </a:xfrm>
          <a:prstGeom prst="rect">
            <a:avLst/>
          </a:prstGeom>
          <a:solidFill>
            <a:srgbClr val="C80000"/>
          </a:solidFill>
          <a:effectLst>
            <a:softEdge rad="76200"/>
          </a:effectLst>
        </p:spPr>
        <p:txBody>
          <a:bodyPr wrap="square" lIns="180000" tIns="180000" rIns="180000" bIns="180000" rtlCol="0">
            <a:spAutoFit/>
          </a:bodyPr>
          <a:lstStyle/>
          <a:p>
            <a:pPr>
              <a:spcAft>
                <a:spcPts val="1400"/>
              </a:spcAft>
            </a:pPr>
            <a:r>
              <a:rPr lang="en-US" b="1" dirty="0">
                <a:solidFill>
                  <a:schemeClr val="bg1"/>
                </a:solidFill>
              </a:rPr>
              <a:t>As of 2017Q4, there are more IoT devices on the planet than people.</a:t>
            </a:r>
          </a:p>
          <a:p>
            <a:pPr>
              <a:spcAft>
                <a:spcPts val="1400"/>
              </a:spcAft>
            </a:pPr>
            <a:r>
              <a:rPr lang="en-US" b="1" dirty="0">
                <a:solidFill>
                  <a:schemeClr val="bg1"/>
                </a:solidFill>
              </a:rPr>
              <a:t>In 2019, there will be </a:t>
            </a:r>
            <a:br>
              <a:rPr lang="en-US" b="1" dirty="0">
                <a:solidFill>
                  <a:schemeClr val="bg1"/>
                </a:solidFill>
              </a:rPr>
            </a:br>
            <a:r>
              <a:rPr lang="en-US" b="1" dirty="0">
                <a:solidFill>
                  <a:schemeClr val="bg1"/>
                </a:solidFill>
              </a:rPr>
              <a:t>twice as many.</a:t>
            </a:r>
          </a:p>
          <a:p>
            <a:pPr>
              <a:spcAft>
                <a:spcPts val="1200"/>
              </a:spcAft>
            </a:pPr>
            <a:r>
              <a:rPr lang="en-US" b="1" dirty="0">
                <a:solidFill>
                  <a:schemeClr val="bg1"/>
                </a:solidFill>
              </a:rPr>
              <a:t>In 2021, there will be three times as many.</a:t>
            </a:r>
          </a:p>
        </p:txBody>
      </p:sp>
    </p:spTree>
    <p:extLst>
      <p:ext uri="{BB962C8B-B14F-4D97-AF65-F5344CB8AC3E}">
        <p14:creationId xmlns:p14="http://schemas.microsoft.com/office/powerpoint/2010/main" val="3934617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507288" cy="990600"/>
          </a:xfrm>
        </p:spPr>
        <p:txBody>
          <a:bodyPr>
            <a:normAutofit/>
          </a:bodyPr>
          <a:lstStyle/>
          <a:p>
            <a:pPr algn="ctr"/>
            <a:r>
              <a:rPr lang="en-US" dirty="0"/>
              <a:t>ASP.NET PLATFORM</a:t>
            </a:r>
          </a:p>
        </p:txBody>
      </p:sp>
      <p:pic>
        <p:nvPicPr>
          <p:cNvPr id="10" name="Picture 9">
            <a:extLst>
              <a:ext uri="{FF2B5EF4-FFF2-40B4-BE49-F238E27FC236}">
                <a16:creationId xmlns:a16="http://schemas.microsoft.com/office/drawing/2014/main" id="{BA624119-A132-4142-83C6-0DDFBA7DC8D3}"/>
              </a:ext>
            </a:extLst>
          </p:cNvPr>
          <p:cNvPicPr>
            <a:picLocks noChangeAspect="1"/>
          </p:cNvPicPr>
          <p:nvPr/>
        </p:nvPicPr>
        <p:blipFill>
          <a:blip r:embed="rId3"/>
          <a:stretch>
            <a:fillRect/>
          </a:stretch>
        </p:blipFill>
        <p:spPr>
          <a:xfrm>
            <a:off x="971600" y="1526407"/>
            <a:ext cx="7391100" cy="4411563"/>
          </a:xfrm>
          <a:prstGeom prst="rect">
            <a:avLst/>
          </a:prstGeom>
        </p:spPr>
      </p:pic>
    </p:spTree>
    <p:extLst>
      <p:ext uri="{BB962C8B-B14F-4D97-AF65-F5344CB8AC3E}">
        <p14:creationId xmlns:p14="http://schemas.microsoft.com/office/powerpoint/2010/main" val="1134951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04664"/>
            <a:ext cx="8229600" cy="990600"/>
          </a:xfrm>
        </p:spPr>
        <p:txBody>
          <a:bodyPr/>
          <a:lstStyle/>
          <a:p>
            <a:r>
              <a:rPr lang="en-US" dirty="0"/>
              <a:t>LAMP stack</a:t>
            </a:r>
            <a:endParaRPr lang="en-CA" dirty="0"/>
          </a:p>
        </p:txBody>
      </p:sp>
      <p:pic>
        <p:nvPicPr>
          <p:cNvPr id="3" name="Picture 2">
            <a:hlinkClick r:id="rId3"/>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412776"/>
            <a:ext cx="9144000" cy="5143500"/>
          </a:xfrm>
          <a:prstGeom prst="rect">
            <a:avLst/>
          </a:prstGeom>
        </p:spPr>
      </p:pic>
      <p:sp>
        <p:nvSpPr>
          <p:cNvPr id="4" name="TextBox 3"/>
          <p:cNvSpPr txBox="1"/>
          <p:nvPr/>
        </p:nvSpPr>
        <p:spPr>
          <a:xfrm>
            <a:off x="0" y="6556276"/>
            <a:ext cx="8892480" cy="307777"/>
          </a:xfrm>
          <a:prstGeom prst="rect">
            <a:avLst/>
          </a:prstGeom>
          <a:noFill/>
        </p:spPr>
        <p:txBody>
          <a:bodyPr wrap="square" rtlCol="0">
            <a:spAutoFit/>
          </a:bodyPr>
          <a:lstStyle/>
          <a:p>
            <a:r>
              <a:rPr lang="en-CA" sz="1400" dirty="0"/>
              <a:t>By Shmuel Csaba Otto </a:t>
            </a:r>
            <a:r>
              <a:rPr lang="en-CA" sz="1400" dirty="0" err="1"/>
              <a:t>Traian</a:t>
            </a:r>
            <a:r>
              <a:rPr lang="en-CA" sz="1400" dirty="0"/>
              <a:t>, CC BY-SA 3.0, https://commons.wikimedia.org/w/index.php?curid=28224098</a:t>
            </a:r>
          </a:p>
        </p:txBody>
      </p:sp>
    </p:spTree>
    <p:extLst>
      <p:ext uri="{BB962C8B-B14F-4D97-AF65-F5344CB8AC3E}">
        <p14:creationId xmlns:p14="http://schemas.microsoft.com/office/powerpoint/2010/main" val="2089214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8229600" cy="990600"/>
          </a:xfrm>
        </p:spPr>
        <p:txBody>
          <a:bodyPr/>
          <a:lstStyle/>
          <a:p>
            <a:r>
              <a:rPr lang="en-US" dirty="0"/>
              <a:t>LAMP stack</a:t>
            </a:r>
            <a:endParaRPr lang="en-CA" dirty="0"/>
          </a:p>
        </p:txBody>
      </p:sp>
      <p:pic>
        <p:nvPicPr>
          <p:cNvPr id="1026" name="Picture 2" descr="https://upload.wikimedia.org/wikipedia/commons/f/fa/LAMPP_Architecture.png">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592" y="650384"/>
            <a:ext cx="8244408" cy="619340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57090" y="1628800"/>
            <a:ext cx="400110" cy="3744416"/>
          </a:xfrm>
          <a:prstGeom prst="rect">
            <a:avLst/>
          </a:prstGeom>
          <a:noFill/>
        </p:spPr>
        <p:txBody>
          <a:bodyPr vert="vert" wrap="square" rtlCol="0">
            <a:spAutoFit/>
          </a:bodyPr>
          <a:lstStyle/>
          <a:p>
            <a:r>
              <a:rPr lang="en-CA" sz="1400" b="1" dirty="0"/>
              <a:t>Attribution: </a:t>
            </a:r>
            <a:r>
              <a:rPr lang="en-CA" sz="1400" b="1" dirty="0">
                <a:hlinkClick r:id="rId5" tooltip="wikipedia:User:K7.india"/>
              </a:rPr>
              <a:t>K7.india</a:t>
            </a:r>
            <a:r>
              <a:rPr lang="en-CA" sz="1400" b="1" dirty="0"/>
              <a:t> at </a:t>
            </a:r>
            <a:r>
              <a:rPr lang="en-CA" sz="1400" b="1" dirty="0">
                <a:hlinkClick r:id="rId6" tooltip="wikipedia:"/>
              </a:rPr>
              <a:t>English Wikipedia</a:t>
            </a:r>
            <a:endParaRPr lang="en-CA" sz="1400" dirty="0"/>
          </a:p>
        </p:txBody>
      </p:sp>
    </p:spTree>
    <p:extLst>
      <p:ext uri="{BB962C8B-B14F-4D97-AF65-F5344CB8AC3E}">
        <p14:creationId xmlns:p14="http://schemas.microsoft.com/office/powerpoint/2010/main" val="1002707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dirty="0"/>
              <a:t>Hardware components cryptic quiz</a:t>
            </a:r>
          </a:p>
        </p:txBody>
      </p:sp>
      <p:sp>
        <p:nvSpPr>
          <p:cNvPr id="6" name="Content Placeholder 5"/>
          <p:cNvSpPr>
            <a:spLocks noGrp="1"/>
          </p:cNvSpPr>
          <p:nvPr>
            <p:ph idx="1"/>
          </p:nvPr>
        </p:nvSpPr>
        <p:spPr>
          <a:xfrm>
            <a:off x="457200" y="1484784"/>
            <a:ext cx="8291264" cy="5184576"/>
          </a:xfrm>
        </p:spPr>
        <p:txBody>
          <a:bodyPr>
            <a:normAutofit/>
          </a:bodyPr>
          <a:lstStyle/>
          <a:p>
            <a:pPr marL="0" indent="0">
              <a:buNone/>
            </a:pPr>
            <a:r>
              <a:rPr lang="en-US" dirty="0"/>
              <a:t>W</a:t>
            </a:r>
            <a:r>
              <a:rPr lang="en-CA" dirty="0"/>
              <a:t>hat do all these TLAs mean? (Three Letter Acronyms)</a:t>
            </a:r>
            <a:br>
              <a:rPr lang="en-CA" dirty="0"/>
            </a:br>
            <a:r>
              <a:rPr lang="en-CA" dirty="0"/>
              <a:t>4+ letter versions are </a:t>
            </a:r>
            <a:r>
              <a:rPr lang="en-CA" dirty="0" err="1"/>
              <a:t>xTLAs</a:t>
            </a:r>
            <a:r>
              <a:rPr lang="en-CA" dirty="0"/>
              <a:t> (extended TLAs)</a:t>
            </a:r>
          </a:p>
          <a:p>
            <a:r>
              <a:rPr lang="en-US" dirty="0"/>
              <a:t>What MOBO</a:t>
            </a:r>
            <a:r>
              <a:rPr lang="en-CA" dirty="0"/>
              <a:t> is on your </a:t>
            </a:r>
            <a:r>
              <a:rPr lang="en-CA" i="1" dirty="0"/>
              <a:t>machine</a:t>
            </a:r>
            <a:r>
              <a:rPr lang="en-CA" dirty="0"/>
              <a:t>?</a:t>
            </a:r>
          </a:p>
          <a:p>
            <a:r>
              <a:rPr lang="en-CA" dirty="0"/>
              <a:t>A single CPU, FPU, or GPU may contain multiple ALUs.</a:t>
            </a:r>
          </a:p>
          <a:p>
            <a:r>
              <a:rPr lang="en-US" dirty="0"/>
              <a:t>RAM, SDRAM, </a:t>
            </a:r>
            <a:r>
              <a:rPr lang="en-US" dirty="0" err="1"/>
              <a:t>DDR</a:t>
            </a:r>
            <a:r>
              <a:rPr lang="en-US" i="1" dirty="0" err="1"/>
              <a:t>n</a:t>
            </a:r>
            <a:r>
              <a:rPr lang="en-US" dirty="0"/>
              <a:t> (main memory, volatile)</a:t>
            </a:r>
          </a:p>
          <a:p>
            <a:r>
              <a:rPr lang="en-US" dirty="0">
                <a:hlinkClick r:id="rId3"/>
              </a:rPr>
              <a:t>BIOS</a:t>
            </a:r>
            <a:r>
              <a:rPr lang="en-US" dirty="0"/>
              <a:t>, </a:t>
            </a:r>
            <a:r>
              <a:rPr lang="en-US" dirty="0">
                <a:hlinkClick r:id="rId4"/>
              </a:rPr>
              <a:t>EEPROM</a:t>
            </a:r>
            <a:r>
              <a:rPr lang="en-US" dirty="0"/>
              <a:t>, </a:t>
            </a:r>
            <a:r>
              <a:rPr lang="en-US" dirty="0">
                <a:hlinkClick r:id="rId5"/>
              </a:rPr>
              <a:t>UEFI</a:t>
            </a:r>
            <a:r>
              <a:rPr lang="en-US" dirty="0"/>
              <a:t> (firmware, </a:t>
            </a:r>
            <a:r>
              <a:rPr lang="en-CA" dirty="0"/>
              <a:t>non-volatile memory</a:t>
            </a:r>
            <a:r>
              <a:rPr lang="en-US" dirty="0"/>
              <a:t>)</a:t>
            </a:r>
          </a:p>
          <a:p>
            <a:r>
              <a:rPr lang="en-CA" dirty="0">
                <a:hlinkClick r:id="rId6"/>
              </a:rPr>
              <a:t>SSD</a:t>
            </a:r>
            <a:r>
              <a:rPr lang="en-CA" dirty="0"/>
              <a:t>, </a:t>
            </a:r>
            <a:r>
              <a:rPr lang="en-US" dirty="0"/>
              <a:t>H</a:t>
            </a:r>
            <a:r>
              <a:rPr lang="en-CA" dirty="0"/>
              <a:t>DD, CD-ROM, FDD (2</a:t>
            </a:r>
            <a:r>
              <a:rPr lang="en-CA" baseline="30000" dirty="0"/>
              <a:t>nd</a:t>
            </a:r>
            <a:r>
              <a:rPr lang="en-CA" dirty="0"/>
              <a:t>ary, non-volatile storage)</a:t>
            </a:r>
          </a:p>
          <a:p>
            <a:r>
              <a:rPr lang="en-US" dirty="0"/>
              <a:t>U</a:t>
            </a:r>
            <a:r>
              <a:rPr lang="en-CA" dirty="0"/>
              <a:t>SB, SD card</a:t>
            </a:r>
          </a:p>
          <a:p>
            <a:r>
              <a:rPr lang="en-CA" dirty="0"/>
              <a:t>SIM card </a:t>
            </a:r>
            <a:br>
              <a:rPr lang="en-CA" dirty="0"/>
            </a:br>
            <a:r>
              <a:rPr lang="en-CA" dirty="0"/>
              <a:t>(in the computer occasionally used to talk to other people)</a:t>
            </a:r>
          </a:p>
          <a:p>
            <a:r>
              <a:rPr lang="en-US" dirty="0"/>
              <a:t>N</a:t>
            </a:r>
            <a:r>
              <a:rPr lang="en-CA" dirty="0"/>
              <a:t>IC, Wi-Fi</a:t>
            </a:r>
          </a:p>
          <a:p>
            <a:pPr marL="0" indent="0" algn="ctr">
              <a:buNone/>
            </a:pPr>
            <a:r>
              <a:rPr lang="en-US" i="1" dirty="0">
                <a:highlight>
                  <a:srgbClr val="FFFF00"/>
                </a:highlight>
              </a:rPr>
              <a:t>Nothing on this slide will be on the quiz.</a:t>
            </a:r>
            <a:endParaRPr lang="en-CA" i="1" dirty="0">
              <a:highlight>
                <a:srgbClr val="FFFF00"/>
              </a:highlight>
            </a:endParaRPr>
          </a:p>
        </p:txBody>
      </p:sp>
    </p:spTree>
    <p:extLst>
      <p:ext uri="{BB962C8B-B14F-4D97-AF65-F5344CB8AC3E}">
        <p14:creationId xmlns:p14="http://schemas.microsoft.com/office/powerpoint/2010/main" val="5360601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Terminology</a:t>
            </a:r>
          </a:p>
        </p:txBody>
      </p:sp>
      <p:graphicFrame>
        <p:nvGraphicFramePr>
          <p:cNvPr id="3" name="Diagram 2"/>
          <p:cNvGraphicFramePr/>
          <p:nvPr>
            <p:extLst>
              <p:ext uri="{D42A27DB-BD31-4B8C-83A1-F6EECF244321}">
                <p14:modId xmlns:p14="http://schemas.microsoft.com/office/powerpoint/2010/main" val="1815230041"/>
              </p:ext>
            </p:extLst>
          </p:nvPr>
        </p:nvGraphicFramePr>
        <p:xfrm>
          <a:off x="914400" y="1371600"/>
          <a:ext cx="58674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ectangle 3"/>
          <p:cNvSpPr/>
          <p:nvPr/>
        </p:nvSpPr>
        <p:spPr>
          <a:xfrm>
            <a:off x="6781800" y="1322962"/>
            <a:ext cx="1828800" cy="434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Important OS Terms</a:t>
            </a:r>
          </a:p>
        </p:txBody>
      </p:sp>
    </p:spTree>
    <p:extLst>
      <p:ext uri="{BB962C8B-B14F-4D97-AF65-F5344CB8AC3E}">
        <p14:creationId xmlns:p14="http://schemas.microsoft.com/office/powerpoint/2010/main" val="1016371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dirty="0"/>
              <a:t>Principles of Systems Design</a:t>
            </a:r>
            <a:endParaRPr lang="en-US" dirty="0"/>
          </a:p>
        </p:txBody>
      </p:sp>
      <p:sp>
        <p:nvSpPr>
          <p:cNvPr id="3" name="Content Placeholder 2"/>
          <p:cNvSpPr>
            <a:spLocks noGrp="1"/>
          </p:cNvSpPr>
          <p:nvPr>
            <p:ph idx="1"/>
          </p:nvPr>
        </p:nvSpPr>
        <p:spPr>
          <a:xfrm>
            <a:off x="395536" y="1844824"/>
            <a:ext cx="8229600" cy="4876800"/>
          </a:xfrm>
        </p:spPr>
        <p:txBody>
          <a:bodyPr/>
          <a:lstStyle/>
          <a:p>
            <a:pPr marL="457200" indent="-457200">
              <a:buFont typeface="+mj-lt"/>
              <a:buAutoNum type="arabicPeriod"/>
            </a:pPr>
            <a:r>
              <a:rPr lang="en-CA" dirty="0"/>
              <a:t>Layered Architecture</a:t>
            </a:r>
          </a:p>
          <a:p>
            <a:pPr marL="457200" indent="-457200">
              <a:buFont typeface="+mj-lt"/>
              <a:buAutoNum type="arabicPeriod"/>
            </a:pPr>
            <a:r>
              <a:rPr lang="en-CA" dirty="0"/>
              <a:t>Memory Protection</a:t>
            </a:r>
          </a:p>
          <a:p>
            <a:pPr marL="457200" indent="-457200">
              <a:buFont typeface="+mj-lt"/>
              <a:buAutoNum type="arabicPeriod"/>
            </a:pPr>
            <a:r>
              <a:rPr lang="en-CA" dirty="0"/>
              <a:t>Modular Design</a:t>
            </a:r>
          </a:p>
          <a:p>
            <a:pPr marL="457200" indent="-457200">
              <a:buFont typeface="+mj-lt"/>
              <a:buAutoNum type="arabicPeriod"/>
            </a:pPr>
            <a:r>
              <a:rPr lang="en-CA" dirty="0"/>
              <a:t>Multitasking</a:t>
            </a:r>
          </a:p>
          <a:p>
            <a:pPr marL="457200" indent="-457200">
              <a:buFont typeface="+mj-lt"/>
              <a:buAutoNum type="arabicPeriod"/>
            </a:pPr>
            <a:r>
              <a:rPr lang="en-CA" dirty="0"/>
              <a:t>Virtual Memory</a:t>
            </a:r>
          </a:p>
          <a:p>
            <a:pPr marL="457200" indent="-457200">
              <a:buFont typeface="+mj-lt"/>
              <a:buAutoNum type="arabicPeriod"/>
            </a:pPr>
            <a:r>
              <a:rPr lang="en-CA" dirty="0"/>
              <a:t>Virtualization</a:t>
            </a:r>
          </a:p>
          <a:p>
            <a:endParaRPr lang="en-US" dirty="0"/>
          </a:p>
          <a:p>
            <a:endParaRPr lang="en-US" dirty="0"/>
          </a:p>
        </p:txBody>
      </p:sp>
    </p:spTree>
    <p:extLst>
      <p:ext uri="{BB962C8B-B14F-4D97-AF65-F5344CB8AC3E}">
        <p14:creationId xmlns:p14="http://schemas.microsoft.com/office/powerpoint/2010/main" val="1165520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be 1"/>
          <p:cNvSpPr/>
          <p:nvPr/>
        </p:nvSpPr>
        <p:spPr>
          <a:xfrm>
            <a:off x="1043608" y="5085184"/>
            <a:ext cx="7416824" cy="576064"/>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Hardware</a:t>
            </a:r>
            <a:endParaRPr lang="en-US" dirty="0"/>
          </a:p>
        </p:txBody>
      </p:sp>
      <p:sp>
        <p:nvSpPr>
          <p:cNvPr id="3" name="Cube 2"/>
          <p:cNvSpPr/>
          <p:nvPr/>
        </p:nvSpPr>
        <p:spPr>
          <a:xfrm>
            <a:off x="1115616" y="4221088"/>
            <a:ext cx="5426742" cy="576064"/>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System Software</a:t>
            </a:r>
            <a:endParaRPr lang="en-US" dirty="0"/>
          </a:p>
        </p:txBody>
      </p:sp>
      <p:sp>
        <p:nvSpPr>
          <p:cNvPr id="4" name="Cube 3"/>
          <p:cNvSpPr/>
          <p:nvPr/>
        </p:nvSpPr>
        <p:spPr>
          <a:xfrm>
            <a:off x="1115616" y="3356992"/>
            <a:ext cx="4156740" cy="576064"/>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System Services</a:t>
            </a:r>
            <a:endParaRPr lang="en-US" dirty="0"/>
          </a:p>
        </p:txBody>
      </p:sp>
      <p:sp>
        <p:nvSpPr>
          <p:cNvPr id="5" name="Cube 4"/>
          <p:cNvSpPr/>
          <p:nvPr/>
        </p:nvSpPr>
        <p:spPr>
          <a:xfrm>
            <a:off x="1115616" y="2492896"/>
            <a:ext cx="2814730" cy="576064"/>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Application Software</a:t>
            </a:r>
            <a:endParaRPr lang="en-US" dirty="0"/>
          </a:p>
        </p:txBody>
      </p:sp>
      <p:sp>
        <p:nvSpPr>
          <p:cNvPr id="7" name="Rounded Rectangle 6"/>
          <p:cNvSpPr/>
          <p:nvPr/>
        </p:nvSpPr>
        <p:spPr>
          <a:xfrm>
            <a:off x="1539343" y="1324248"/>
            <a:ext cx="1512168" cy="648072"/>
          </a:xfrm>
          <a:prstGeom prst="round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End User</a:t>
            </a:r>
            <a:endParaRPr lang="en-US" dirty="0"/>
          </a:p>
        </p:txBody>
      </p:sp>
      <p:sp>
        <p:nvSpPr>
          <p:cNvPr id="8" name="Rounded Rectangle 7"/>
          <p:cNvSpPr/>
          <p:nvPr/>
        </p:nvSpPr>
        <p:spPr>
          <a:xfrm>
            <a:off x="3267405" y="1324248"/>
            <a:ext cx="1584176" cy="648072"/>
          </a:xfrm>
          <a:prstGeom prst="round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Programmer</a:t>
            </a:r>
            <a:endParaRPr lang="en-US" dirty="0"/>
          </a:p>
        </p:txBody>
      </p:sp>
      <p:sp>
        <p:nvSpPr>
          <p:cNvPr id="9" name="Rounded Rectangle 8"/>
          <p:cNvSpPr/>
          <p:nvPr/>
        </p:nvSpPr>
        <p:spPr>
          <a:xfrm>
            <a:off x="6804248" y="1324248"/>
            <a:ext cx="1584176" cy="648072"/>
          </a:xfrm>
          <a:prstGeom prst="round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Hardware</a:t>
            </a:r>
            <a:br>
              <a:rPr lang="en-CA" dirty="0"/>
            </a:br>
            <a:r>
              <a:rPr lang="en-CA" dirty="0"/>
              <a:t>Engineer</a:t>
            </a:r>
            <a:endParaRPr lang="en-US" dirty="0"/>
          </a:p>
        </p:txBody>
      </p:sp>
      <p:cxnSp>
        <p:nvCxnSpPr>
          <p:cNvPr id="11" name="Straight Arrow Connector 10"/>
          <p:cNvCxnSpPr>
            <a:cxnSpLocks/>
            <a:endCxn id="7" idx="2"/>
          </p:cNvCxnSpPr>
          <p:nvPr/>
        </p:nvCxnSpPr>
        <p:spPr>
          <a:xfrm flipH="1" flipV="1">
            <a:off x="2295427" y="1972320"/>
            <a:ext cx="10162" cy="520576"/>
          </a:xfrm>
          <a:prstGeom prst="straightConnector1">
            <a:avLst/>
          </a:prstGeom>
          <a:ln w="50800">
            <a:tailEnd type="stealth"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cxnSpLocks/>
          </p:cNvCxnSpPr>
          <p:nvPr/>
        </p:nvCxnSpPr>
        <p:spPr>
          <a:xfrm flipH="1">
            <a:off x="4895046" y="1917818"/>
            <a:ext cx="586917" cy="1439174"/>
          </a:xfrm>
          <a:prstGeom prst="straightConnector1">
            <a:avLst/>
          </a:prstGeom>
          <a:ln w="50800">
            <a:tailEnd type="stealth" w="lg" len="med"/>
          </a:ln>
        </p:spPr>
        <p:style>
          <a:lnRef idx="1">
            <a:schemeClr val="accent1"/>
          </a:lnRef>
          <a:fillRef idx="0">
            <a:schemeClr val="accent1"/>
          </a:fillRef>
          <a:effectRef idx="0">
            <a:schemeClr val="accent1"/>
          </a:effectRef>
          <a:fontRef idx="minor">
            <a:schemeClr val="tx1"/>
          </a:fontRef>
        </p:style>
      </p:cxnSp>
      <p:sp>
        <p:nvSpPr>
          <p:cNvPr id="21" name="Rectangle 2"/>
          <p:cNvSpPr txBox="1">
            <a:spLocks noChangeArrowheads="1"/>
          </p:cNvSpPr>
          <p:nvPr/>
        </p:nvSpPr>
        <p:spPr>
          <a:xfrm>
            <a:off x="457200" y="476672"/>
            <a:ext cx="8229600" cy="990600"/>
          </a:xfrm>
          <a:prstGeom prst="rect">
            <a:avLst/>
          </a:prstGeom>
        </p:spPr>
        <p:txBody>
          <a:bodyPr>
            <a:normAutofit/>
          </a:bodyPr>
          <a:lstStyle>
            <a:lvl1pPr algn="l" defTabSz="914400" rtl="0" eaLnBrk="1" latinLnBrk="0" hangingPunct="1">
              <a:spcBef>
                <a:spcPct val="0"/>
              </a:spcBef>
              <a:buNone/>
              <a:defRPr sz="4000" b="0" kern="1200" spc="-100" baseline="0">
                <a:solidFill>
                  <a:schemeClr val="tx2"/>
                </a:solidFill>
                <a:latin typeface="Franklin Gothic Demi" pitchFamily="34" charset="0"/>
                <a:ea typeface="+mj-ea"/>
                <a:cs typeface="+mj-cs"/>
              </a:defRPr>
            </a:lvl1pPr>
          </a:lstStyle>
          <a:p>
            <a:r>
              <a:rPr lang="en-US" altLang="en-US" dirty="0"/>
              <a:t>1. Layered Architecture</a:t>
            </a:r>
          </a:p>
        </p:txBody>
      </p:sp>
      <p:sp>
        <p:nvSpPr>
          <p:cNvPr id="23" name="Up-Down Arrow 22"/>
          <p:cNvSpPr/>
          <p:nvPr/>
        </p:nvSpPr>
        <p:spPr>
          <a:xfrm>
            <a:off x="323528" y="2492896"/>
            <a:ext cx="576064" cy="3168352"/>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Interface</a:t>
            </a:r>
            <a:endParaRPr lang="en-US" dirty="0"/>
          </a:p>
        </p:txBody>
      </p:sp>
      <p:cxnSp>
        <p:nvCxnSpPr>
          <p:cNvPr id="24" name="Straight Arrow Connector 23"/>
          <p:cNvCxnSpPr>
            <a:cxnSpLocks/>
          </p:cNvCxnSpPr>
          <p:nvPr/>
        </p:nvCxnSpPr>
        <p:spPr>
          <a:xfrm flipH="1">
            <a:off x="3595237" y="1988840"/>
            <a:ext cx="26911" cy="504056"/>
          </a:xfrm>
          <a:prstGeom prst="straightConnector1">
            <a:avLst/>
          </a:prstGeom>
          <a:ln w="50800">
            <a:tailEnd type="stealth" w="lg"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cxnSpLocks/>
          </p:cNvCxnSpPr>
          <p:nvPr/>
        </p:nvCxnSpPr>
        <p:spPr>
          <a:xfrm flipV="1">
            <a:off x="4351320" y="1972320"/>
            <a:ext cx="1" cy="1412416"/>
          </a:xfrm>
          <a:prstGeom prst="straightConnector1">
            <a:avLst/>
          </a:prstGeom>
          <a:ln w="50800">
            <a:tailEnd type="stealth" w="lg" len="med"/>
          </a:ln>
        </p:spPr>
        <p:style>
          <a:lnRef idx="1">
            <a:schemeClr val="accent1"/>
          </a:lnRef>
          <a:fillRef idx="0">
            <a:schemeClr val="accent1"/>
          </a:fillRef>
          <a:effectRef idx="0">
            <a:schemeClr val="accent1"/>
          </a:effectRef>
          <a:fontRef idx="minor">
            <a:schemeClr val="tx1"/>
          </a:fontRef>
        </p:style>
      </p:cxnSp>
      <p:sp>
        <p:nvSpPr>
          <p:cNvPr id="32" name="Rounded Rectangle 8"/>
          <p:cNvSpPr/>
          <p:nvPr/>
        </p:nvSpPr>
        <p:spPr>
          <a:xfrm>
            <a:off x="5035826" y="1287252"/>
            <a:ext cx="1584176" cy="648072"/>
          </a:xfrm>
          <a:prstGeom prst="round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Software</a:t>
            </a:r>
            <a:br>
              <a:rPr lang="en-CA" dirty="0"/>
            </a:br>
            <a:r>
              <a:rPr lang="en-CA" dirty="0"/>
              <a:t>Engineer</a:t>
            </a:r>
            <a:endParaRPr lang="en-US" dirty="0"/>
          </a:p>
        </p:txBody>
      </p:sp>
      <p:cxnSp>
        <p:nvCxnSpPr>
          <p:cNvPr id="35" name="Straight Arrow Connector 34"/>
          <p:cNvCxnSpPr>
            <a:cxnSpLocks/>
          </p:cNvCxnSpPr>
          <p:nvPr/>
        </p:nvCxnSpPr>
        <p:spPr>
          <a:xfrm>
            <a:off x="6036085" y="1917818"/>
            <a:ext cx="8634" cy="2303270"/>
          </a:xfrm>
          <a:prstGeom prst="straightConnector1">
            <a:avLst/>
          </a:prstGeom>
          <a:ln w="50800">
            <a:tailEnd type="stealth" w="lg" len="med"/>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cxnSpLocks/>
          </p:cNvCxnSpPr>
          <p:nvPr/>
        </p:nvCxnSpPr>
        <p:spPr>
          <a:xfrm>
            <a:off x="7803049" y="1988840"/>
            <a:ext cx="0" cy="3079824"/>
          </a:xfrm>
          <a:prstGeom prst="straightConnector1">
            <a:avLst/>
          </a:prstGeom>
          <a:ln w="50800">
            <a:tailEnd type="stealth" w="lg"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cxnSpLocks/>
          </p:cNvCxnSpPr>
          <p:nvPr/>
        </p:nvCxnSpPr>
        <p:spPr>
          <a:xfrm rot="5400000">
            <a:off x="5716598" y="2759441"/>
            <a:ext cx="2592288" cy="907071"/>
          </a:xfrm>
          <a:prstGeom prst="bentConnector2">
            <a:avLst/>
          </a:prstGeom>
          <a:ln w="50800">
            <a:tailEnd type="stealth"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58335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2. Memory Protection</a:t>
            </a:r>
          </a:p>
        </p:txBody>
      </p:sp>
      <p:cxnSp>
        <p:nvCxnSpPr>
          <p:cNvPr id="5" name="Straight Connector 4"/>
          <p:cNvCxnSpPr/>
          <p:nvPr/>
        </p:nvCxnSpPr>
        <p:spPr>
          <a:xfrm>
            <a:off x="663102" y="4572000"/>
            <a:ext cx="80010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2339752" y="4800600"/>
            <a:ext cx="6114492"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r>
              <a:rPr lang="en-US" dirty="0"/>
              <a:t>Executive                    Services</a:t>
            </a:r>
          </a:p>
        </p:txBody>
      </p:sp>
      <p:sp>
        <p:nvSpPr>
          <p:cNvPr id="3" name="Rectangle 2"/>
          <p:cNvSpPr/>
          <p:nvPr/>
        </p:nvSpPr>
        <p:spPr>
          <a:xfrm>
            <a:off x="1835696" y="1556792"/>
            <a:ext cx="6633788" cy="2253208"/>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dirty="0">
                <a:solidFill>
                  <a:schemeClr val="tx1"/>
                </a:solidFill>
              </a:rPr>
              <a:t>User Mode</a:t>
            </a:r>
          </a:p>
        </p:txBody>
      </p:sp>
      <p:sp>
        <p:nvSpPr>
          <p:cNvPr id="12" name="Rounded Rectangle 11"/>
          <p:cNvSpPr/>
          <p:nvPr/>
        </p:nvSpPr>
        <p:spPr>
          <a:xfrm>
            <a:off x="3590490" y="2867130"/>
            <a:ext cx="3124200" cy="656942"/>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Server Service</a:t>
            </a:r>
          </a:p>
        </p:txBody>
      </p:sp>
      <p:sp>
        <p:nvSpPr>
          <p:cNvPr id="16" name="Rectangle 15"/>
          <p:cNvSpPr/>
          <p:nvPr/>
        </p:nvSpPr>
        <p:spPr>
          <a:xfrm>
            <a:off x="1835696" y="3918594"/>
            <a:ext cx="6618548" cy="45720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API</a:t>
            </a:r>
          </a:p>
        </p:txBody>
      </p:sp>
      <p:sp>
        <p:nvSpPr>
          <p:cNvPr id="7" name="Rounded Rectangle 6"/>
          <p:cNvSpPr/>
          <p:nvPr/>
        </p:nvSpPr>
        <p:spPr>
          <a:xfrm>
            <a:off x="3476190" y="2006963"/>
            <a:ext cx="3352800" cy="666166"/>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Application</a:t>
            </a:r>
          </a:p>
        </p:txBody>
      </p:sp>
      <p:sp>
        <p:nvSpPr>
          <p:cNvPr id="13" name="Rectangle 12"/>
          <p:cNvSpPr/>
          <p:nvPr/>
        </p:nvSpPr>
        <p:spPr>
          <a:xfrm>
            <a:off x="837746" y="6367272"/>
            <a:ext cx="7772400" cy="338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Hardware</a:t>
            </a:r>
          </a:p>
        </p:txBody>
      </p:sp>
      <p:sp>
        <p:nvSpPr>
          <p:cNvPr id="14" name="Curved Right Arrow 13"/>
          <p:cNvSpPr/>
          <p:nvPr/>
        </p:nvSpPr>
        <p:spPr>
          <a:xfrm>
            <a:off x="2011680" y="1905000"/>
            <a:ext cx="1097280" cy="1619072"/>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Request</a:t>
            </a:r>
          </a:p>
        </p:txBody>
      </p:sp>
      <p:sp>
        <p:nvSpPr>
          <p:cNvPr id="15" name="Curved Up Arrow 14"/>
          <p:cNvSpPr/>
          <p:nvPr/>
        </p:nvSpPr>
        <p:spPr>
          <a:xfrm rot="16200000">
            <a:off x="6948540" y="2105317"/>
            <a:ext cx="1676400" cy="1090284"/>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dirty="0">
                <a:solidFill>
                  <a:schemeClr val="tx1"/>
                </a:solidFill>
              </a:rPr>
              <a:t>Reply</a:t>
            </a:r>
          </a:p>
        </p:txBody>
      </p:sp>
      <p:sp>
        <p:nvSpPr>
          <p:cNvPr id="17" name="Left-Right Arrow 16"/>
          <p:cNvSpPr/>
          <p:nvPr/>
        </p:nvSpPr>
        <p:spPr>
          <a:xfrm rot="16200000">
            <a:off x="4672119" y="3846696"/>
            <a:ext cx="1051731" cy="442335"/>
          </a:xfrm>
          <a:prstGeom prst="leftRightArrow">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Left-Right Arrow 17"/>
          <p:cNvSpPr/>
          <p:nvPr/>
        </p:nvSpPr>
        <p:spPr>
          <a:xfrm rot="16200000">
            <a:off x="4306766" y="5276613"/>
            <a:ext cx="1795271" cy="429502"/>
          </a:xfrm>
          <a:prstGeom prst="leftRightArrow">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Left Arrow Callout 18"/>
          <p:cNvSpPr/>
          <p:nvPr/>
        </p:nvSpPr>
        <p:spPr>
          <a:xfrm>
            <a:off x="5527718" y="3918594"/>
            <a:ext cx="2373943" cy="457200"/>
          </a:xfrm>
          <a:prstGeom prst="left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Service Call</a:t>
            </a:r>
          </a:p>
        </p:txBody>
      </p:sp>
      <p:sp>
        <p:nvSpPr>
          <p:cNvPr id="20" name="Left Arrow Callout 19"/>
          <p:cNvSpPr/>
          <p:nvPr/>
        </p:nvSpPr>
        <p:spPr>
          <a:xfrm>
            <a:off x="5527718" y="5864352"/>
            <a:ext cx="2373943" cy="457200"/>
          </a:xfrm>
          <a:prstGeom prst="left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System Call</a:t>
            </a:r>
          </a:p>
        </p:txBody>
      </p:sp>
      <p:sp>
        <p:nvSpPr>
          <p:cNvPr id="4" name="TextBox 3"/>
          <p:cNvSpPr txBox="1"/>
          <p:nvPr/>
        </p:nvSpPr>
        <p:spPr>
          <a:xfrm>
            <a:off x="179512" y="3918594"/>
            <a:ext cx="1368152" cy="369332"/>
          </a:xfrm>
          <a:prstGeom prst="rect">
            <a:avLst/>
          </a:prstGeom>
          <a:noFill/>
        </p:spPr>
        <p:txBody>
          <a:bodyPr wrap="square" rtlCol="0">
            <a:spAutoFit/>
          </a:bodyPr>
          <a:lstStyle/>
          <a:p>
            <a:r>
              <a:rPr lang="en-CA" dirty="0"/>
              <a:t>User Mode</a:t>
            </a:r>
            <a:endParaRPr lang="en-US" dirty="0"/>
          </a:p>
        </p:txBody>
      </p:sp>
      <p:sp>
        <p:nvSpPr>
          <p:cNvPr id="21" name="TextBox 20"/>
          <p:cNvSpPr txBox="1"/>
          <p:nvPr/>
        </p:nvSpPr>
        <p:spPr>
          <a:xfrm>
            <a:off x="179512" y="4797706"/>
            <a:ext cx="1679768" cy="369332"/>
          </a:xfrm>
          <a:prstGeom prst="rect">
            <a:avLst/>
          </a:prstGeom>
          <a:noFill/>
        </p:spPr>
        <p:txBody>
          <a:bodyPr wrap="square" rtlCol="0">
            <a:spAutoFit/>
          </a:bodyPr>
          <a:lstStyle/>
          <a:p>
            <a:r>
              <a:rPr lang="en-CA" dirty="0"/>
              <a:t>Kernel Mode</a:t>
            </a:r>
            <a:endParaRPr lang="en-US" dirty="0"/>
          </a:p>
        </p:txBody>
      </p:sp>
    </p:spTree>
    <p:extLst>
      <p:ext uri="{BB962C8B-B14F-4D97-AF65-F5344CB8AC3E}">
        <p14:creationId xmlns:p14="http://schemas.microsoft.com/office/powerpoint/2010/main" val="4284658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59605" y="332656"/>
            <a:ext cx="8229600" cy="990600"/>
          </a:xfrm>
        </p:spPr>
        <p:txBody>
          <a:bodyPr>
            <a:normAutofit fontScale="90000"/>
          </a:bodyPr>
          <a:lstStyle/>
          <a:p>
            <a:pPr fontAlgn="auto">
              <a:spcAft>
                <a:spcPts val="0"/>
              </a:spcAft>
              <a:defRPr/>
            </a:pPr>
            <a:r>
              <a:rPr lang="en-CA" dirty="0"/>
              <a:t>Application Programming Interface (API)</a:t>
            </a:r>
            <a:endParaRPr lang="en-US" dirty="0"/>
          </a:p>
        </p:txBody>
      </p:sp>
      <p:pic>
        <p:nvPicPr>
          <p:cNvPr id="1026" name="Picture 2" descr="Image result for api os 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23256"/>
            <a:ext cx="9124950" cy="5124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39161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Modular Design</a:t>
            </a:r>
          </a:p>
        </p:txBody>
      </p:sp>
      <p:sp>
        <p:nvSpPr>
          <p:cNvPr id="5" name="Rectangle 4"/>
          <p:cNvSpPr/>
          <p:nvPr/>
        </p:nvSpPr>
        <p:spPr>
          <a:xfrm>
            <a:off x="685800" y="1539239"/>
            <a:ext cx="3505200" cy="5058111"/>
          </a:xfrm>
          <a:prstGeom prst="rec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t" anchorCtr="0"/>
          <a:lstStyle/>
          <a:p>
            <a:pPr algn="ctr"/>
            <a:r>
              <a:rPr lang="en-CA" dirty="0" err="1"/>
              <a:t>MicroKernel</a:t>
            </a:r>
            <a:endParaRPr lang="en-US" dirty="0"/>
          </a:p>
        </p:txBody>
      </p:sp>
      <p:grpSp>
        <p:nvGrpSpPr>
          <p:cNvPr id="3" name="Group 2"/>
          <p:cNvGrpSpPr/>
          <p:nvPr/>
        </p:nvGrpSpPr>
        <p:grpSpPr>
          <a:xfrm>
            <a:off x="913204" y="3209544"/>
            <a:ext cx="3166872" cy="3256776"/>
            <a:chOff x="914400" y="2564904"/>
            <a:chExt cx="3166872" cy="3256776"/>
          </a:xfrm>
        </p:grpSpPr>
        <p:sp>
          <p:nvSpPr>
            <p:cNvPr id="6" name="Rounded Rectangle 5"/>
            <p:cNvSpPr/>
            <p:nvPr/>
          </p:nvSpPr>
          <p:spPr>
            <a:xfrm>
              <a:off x="914400" y="2564904"/>
              <a:ext cx="1905000" cy="729984"/>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System Services</a:t>
              </a:r>
            </a:p>
          </p:txBody>
        </p:sp>
        <p:sp>
          <p:nvSpPr>
            <p:cNvPr id="7" name="Rounded Rectangle 6"/>
            <p:cNvSpPr/>
            <p:nvPr/>
          </p:nvSpPr>
          <p:spPr>
            <a:xfrm>
              <a:off x="1565148" y="4114800"/>
              <a:ext cx="2514600" cy="457200"/>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File  Management</a:t>
              </a:r>
            </a:p>
          </p:txBody>
        </p:sp>
        <p:sp>
          <p:nvSpPr>
            <p:cNvPr id="8" name="Rounded Rectangle 7"/>
            <p:cNvSpPr/>
            <p:nvPr/>
          </p:nvSpPr>
          <p:spPr>
            <a:xfrm>
              <a:off x="1562100" y="3438144"/>
              <a:ext cx="2514600" cy="457200"/>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Task Management</a:t>
              </a:r>
            </a:p>
          </p:txBody>
        </p:sp>
        <p:sp>
          <p:nvSpPr>
            <p:cNvPr id="9" name="Rounded Rectangle 8"/>
            <p:cNvSpPr/>
            <p:nvPr/>
          </p:nvSpPr>
          <p:spPr>
            <a:xfrm>
              <a:off x="1566672" y="4724400"/>
              <a:ext cx="2514600" cy="457200"/>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GUI  Interface (Shell)</a:t>
              </a:r>
            </a:p>
          </p:txBody>
        </p:sp>
        <p:sp>
          <p:nvSpPr>
            <p:cNvPr id="10" name="Rounded Rectangle 9"/>
            <p:cNvSpPr/>
            <p:nvPr/>
          </p:nvSpPr>
          <p:spPr>
            <a:xfrm>
              <a:off x="1566672" y="5364480"/>
              <a:ext cx="2514600" cy="457200"/>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Device Management</a:t>
              </a:r>
            </a:p>
          </p:txBody>
        </p:sp>
        <p:cxnSp>
          <p:nvCxnSpPr>
            <p:cNvPr id="14" name="Straight Connector 13"/>
            <p:cNvCxnSpPr/>
            <p:nvPr/>
          </p:nvCxnSpPr>
          <p:spPr>
            <a:xfrm flipH="1">
              <a:off x="1104900" y="3294888"/>
              <a:ext cx="38100" cy="2298192"/>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endCxn id="8" idx="1"/>
            </p:cNvCxnSpPr>
            <p:nvPr/>
          </p:nvCxnSpPr>
          <p:spPr>
            <a:xfrm>
              <a:off x="1123950" y="3666744"/>
              <a:ext cx="43815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119759" y="4386072"/>
              <a:ext cx="43815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097280" y="4953000"/>
              <a:ext cx="460629" cy="2133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V="1">
              <a:off x="1064895" y="5562600"/>
              <a:ext cx="539496" cy="3048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25" name="Rectangle 24"/>
          <p:cNvSpPr/>
          <p:nvPr/>
        </p:nvSpPr>
        <p:spPr>
          <a:xfrm>
            <a:off x="4721620" y="1550814"/>
            <a:ext cx="3962400" cy="5046537"/>
          </a:xfrm>
          <a:prstGeom prst="rec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t" anchorCtr="0"/>
          <a:lstStyle/>
          <a:p>
            <a:pPr algn="ctr"/>
            <a:r>
              <a:rPr lang="en-US" dirty="0"/>
              <a:t>Monolithic Kernel</a:t>
            </a:r>
          </a:p>
        </p:txBody>
      </p:sp>
      <p:sp>
        <p:nvSpPr>
          <p:cNvPr id="27" name="Rounded Rectangle 26"/>
          <p:cNvSpPr/>
          <p:nvPr/>
        </p:nvSpPr>
        <p:spPr>
          <a:xfrm>
            <a:off x="5580112" y="3368040"/>
            <a:ext cx="2721864" cy="3078480"/>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System Services</a:t>
            </a:r>
            <a:br>
              <a:rPr lang="en-US" dirty="0"/>
            </a:br>
            <a:br>
              <a:rPr lang="en-US" dirty="0"/>
            </a:br>
            <a:r>
              <a:rPr lang="en-US" dirty="0"/>
              <a:t>Task Management</a:t>
            </a:r>
            <a:br>
              <a:rPr lang="en-US" dirty="0"/>
            </a:br>
            <a:r>
              <a:rPr lang="en-US" dirty="0"/>
              <a:t>File Management</a:t>
            </a:r>
            <a:br>
              <a:rPr lang="en-US" dirty="0"/>
            </a:br>
            <a:r>
              <a:rPr lang="en-US" dirty="0"/>
              <a:t>GUI Interface</a:t>
            </a:r>
            <a:br>
              <a:rPr lang="en-US" dirty="0"/>
            </a:br>
            <a:r>
              <a:rPr lang="en-US" dirty="0"/>
              <a:t>Device Management</a:t>
            </a:r>
          </a:p>
        </p:txBody>
      </p:sp>
      <p:pic>
        <p:nvPicPr>
          <p:cNvPr id="20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54345" y="2276872"/>
            <a:ext cx="1373398" cy="7582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91951" y="1988840"/>
            <a:ext cx="1609307" cy="8951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80338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dirty="0"/>
              <a:t>Modular vs Monolithic Design</a:t>
            </a:r>
            <a:endParaRPr lang="en-US" dirty="0"/>
          </a:p>
        </p:txBody>
      </p:sp>
      <p:sp>
        <p:nvSpPr>
          <p:cNvPr id="4" name="Rectangle 3"/>
          <p:cNvSpPr/>
          <p:nvPr/>
        </p:nvSpPr>
        <p:spPr>
          <a:xfrm>
            <a:off x="685800" y="1539239"/>
            <a:ext cx="3505200" cy="5058111"/>
          </a:xfrm>
          <a:prstGeom prst="rec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t" anchorCtr="0"/>
          <a:lstStyle/>
          <a:p>
            <a:pPr algn="ctr"/>
            <a:r>
              <a:rPr lang="en-CA" dirty="0"/>
              <a:t>Micro Kernel</a:t>
            </a:r>
            <a:endParaRPr lang="en-US" dirty="0"/>
          </a:p>
        </p:txBody>
      </p:sp>
      <p:sp>
        <p:nvSpPr>
          <p:cNvPr id="5" name="Rectangle 4"/>
          <p:cNvSpPr/>
          <p:nvPr/>
        </p:nvSpPr>
        <p:spPr>
          <a:xfrm>
            <a:off x="4721620" y="1550814"/>
            <a:ext cx="3962400" cy="5046537"/>
          </a:xfrm>
          <a:prstGeom prst="rec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t" anchorCtr="0"/>
          <a:lstStyle/>
          <a:p>
            <a:pPr algn="ctr"/>
            <a:r>
              <a:rPr lang="en-US" dirty="0"/>
              <a:t>Monolithic Kernel</a:t>
            </a:r>
          </a:p>
        </p:txBody>
      </p:sp>
      <p:pic>
        <p:nvPicPr>
          <p:cNvPr id="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60624" y="2169699"/>
            <a:ext cx="1084391" cy="5986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91950" y="1871190"/>
            <a:ext cx="1609307" cy="8951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8" name="Table 7"/>
          <p:cNvGraphicFramePr>
            <a:graphicFrameLocks noGrp="1"/>
          </p:cNvGraphicFramePr>
          <p:nvPr>
            <p:extLst>
              <p:ext uri="{D42A27DB-BD31-4B8C-83A1-F6EECF244321}">
                <p14:modId xmlns:p14="http://schemas.microsoft.com/office/powerpoint/2010/main" val="3659465512"/>
              </p:ext>
            </p:extLst>
          </p:nvPr>
        </p:nvGraphicFramePr>
        <p:xfrm>
          <a:off x="992882" y="2766367"/>
          <a:ext cx="2891036" cy="1371600"/>
        </p:xfrm>
        <a:graphic>
          <a:graphicData uri="http://schemas.openxmlformats.org/drawingml/2006/table">
            <a:tbl>
              <a:tblPr firstRow="1" bandRow="1">
                <a:tableStyleId>{5C22544A-7EE6-4342-B048-85BDC9FD1C3A}</a:tableStyleId>
              </a:tblPr>
              <a:tblGrid>
                <a:gridCol w="2891036">
                  <a:extLst>
                    <a:ext uri="{9D8B030D-6E8A-4147-A177-3AD203B41FA5}">
                      <a16:colId xmlns:a16="http://schemas.microsoft.com/office/drawing/2014/main" val="20000"/>
                    </a:ext>
                  </a:extLst>
                </a:gridCol>
              </a:tblGrid>
              <a:tr h="267508">
                <a:tc>
                  <a:txBody>
                    <a:bodyPr/>
                    <a:lstStyle/>
                    <a:p>
                      <a:r>
                        <a:rPr lang="en-CA" dirty="0"/>
                        <a:t>Advantages</a:t>
                      </a:r>
                      <a:endParaRPr lang="en-US" dirty="0"/>
                    </a:p>
                  </a:txBody>
                  <a:tcPr/>
                </a:tc>
                <a:extLst>
                  <a:ext uri="{0D108BD9-81ED-4DB2-BD59-A6C34878D82A}">
                    <a16:rowId xmlns:a16="http://schemas.microsoft.com/office/drawing/2014/main" val="10000"/>
                  </a:ext>
                </a:extLst>
              </a:tr>
              <a:tr h="267508">
                <a:tc>
                  <a:txBody>
                    <a:bodyPr/>
                    <a:lstStyle/>
                    <a:p>
                      <a:r>
                        <a:rPr lang="en-CA" dirty="0"/>
                        <a:t>More</a:t>
                      </a:r>
                      <a:r>
                        <a:rPr lang="en-CA" baseline="0" dirty="0"/>
                        <a:t> reliable</a:t>
                      </a:r>
                      <a:endParaRPr lang="en-US" dirty="0"/>
                    </a:p>
                  </a:txBody>
                  <a:tcPr/>
                </a:tc>
                <a:extLst>
                  <a:ext uri="{0D108BD9-81ED-4DB2-BD59-A6C34878D82A}">
                    <a16:rowId xmlns:a16="http://schemas.microsoft.com/office/drawing/2014/main" val="10001"/>
                  </a:ext>
                </a:extLst>
              </a:tr>
              <a:tr h="267508">
                <a:tc>
                  <a:txBody>
                    <a:bodyPr/>
                    <a:lstStyle/>
                    <a:p>
                      <a:r>
                        <a:rPr lang="en-CA" dirty="0"/>
                        <a:t>Easy update, patch,</a:t>
                      </a:r>
                      <a:r>
                        <a:rPr lang="en-CA" baseline="0" dirty="0"/>
                        <a:t> extend</a:t>
                      </a:r>
                      <a:endParaRPr lang="en-US" dirty="0"/>
                    </a:p>
                  </a:txBody>
                  <a:tcPr/>
                </a:tc>
                <a:extLst>
                  <a:ext uri="{0D108BD9-81ED-4DB2-BD59-A6C34878D82A}">
                    <a16:rowId xmlns:a16="http://schemas.microsoft.com/office/drawing/2014/main" val="10002"/>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302856767"/>
              </p:ext>
            </p:extLst>
          </p:nvPr>
        </p:nvGraphicFramePr>
        <p:xfrm>
          <a:off x="5364088" y="2884017"/>
          <a:ext cx="2891036" cy="1381760"/>
        </p:xfrm>
        <a:graphic>
          <a:graphicData uri="http://schemas.openxmlformats.org/drawingml/2006/table">
            <a:tbl>
              <a:tblPr firstRow="1" bandRow="1">
                <a:tableStyleId>{5C22544A-7EE6-4342-B048-85BDC9FD1C3A}</a:tableStyleId>
              </a:tblPr>
              <a:tblGrid>
                <a:gridCol w="2891036">
                  <a:extLst>
                    <a:ext uri="{9D8B030D-6E8A-4147-A177-3AD203B41FA5}">
                      <a16:colId xmlns:a16="http://schemas.microsoft.com/office/drawing/2014/main" val="20000"/>
                    </a:ext>
                  </a:extLst>
                </a:gridCol>
              </a:tblGrid>
              <a:tr h="370840">
                <a:tc>
                  <a:txBody>
                    <a:bodyPr/>
                    <a:lstStyle/>
                    <a:p>
                      <a:r>
                        <a:rPr lang="en-CA" dirty="0"/>
                        <a:t>Advantages</a:t>
                      </a:r>
                      <a:endParaRPr lang="en-US" dirty="0"/>
                    </a:p>
                  </a:txBody>
                  <a:tcPr/>
                </a:tc>
                <a:extLst>
                  <a:ext uri="{0D108BD9-81ED-4DB2-BD59-A6C34878D82A}">
                    <a16:rowId xmlns:a16="http://schemas.microsoft.com/office/drawing/2014/main" val="10000"/>
                  </a:ext>
                </a:extLst>
              </a:tr>
              <a:tr h="370840">
                <a:tc>
                  <a:txBody>
                    <a:bodyPr/>
                    <a:lstStyle/>
                    <a:p>
                      <a:r>
                        <a:rPr lang="en-CA" dirty="0"/>
                        <a:t>Runs faster</a:t>
                      </a:r>
                      <a:endParaRPr lang="en-US" dirty="0"/>
                    </a:p>
                  </a:txBody>
                  <a:tcPr/>
                </a:tc>
                <a:extLst>
                  <a:ext uri="{0D108BD9-81ED-4DB2-BD59-A6C34878D82A}">
                    <a16:rowId xmlns:a16="http://schemas.microsoft.com/office/drawing/2014/main" val="10001"/>
                  </a:ext>
                </a:extLst>
              </a:tr>
              <a:tr h="370840">
                <a:tc>
                  <a:txBody>
                    <a:bodyPr/>
                    <a:lstStyle/>
                    <a:p>
                      <a:r>
                        <a:rPr lang="en-CA" dirty="0"/>
                        <a:t>Fewer bugs\security issues</a:t>
                      </a:r>
                      <a:endParaRPr lang="en-US" dirty="0"/>
                    </a:p>
                  </a:txBody>
                  <a:tcPr/>
                </a:tc>
                <a:extLst>
                  <a:ext uri="{0D108BD9-81ED-4DB2-BD59-A6C34878D82A}">
                    <a16:rowId xmlns:a16="http://schemas.microsoft.com/office/drawing/2014/main" val="10002"/>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2815729309"/>
              </p:ext>
            </p:extLst>
          </p:nvPr>
        </p:nvGraphicFramePr>
        <p:xfrm>
          <a:off x="992882" y="4509120"/>
          <a:ext cx="2891036" cy="1737360"/>
        </p:xfrm>
        <a:graphic>
          <a:graphicData uri="http://schemas.openxmlformats.org/drawingml/2006/table">
            <a:tbl>
              <a:tblPr firstRow="1" bandRow="1">
                <a:tableStyleId>{5C22544A-7EE6-4342-B048-85BDC9FD1C3A}</a:tableStyleId>
              </a:tblPr>
              <a:tblGrid>
                <a:gridCol w="2891036">
                  <a:extLst>
                    <a:ext uri="{9D8B030D-6E8A-4147-A177-3AD203B41FA5}">
                      <a16:colId xmlns:a16="http://schemas.microsoft.com/office/drawing/2014/main" val="20000"/>
                    </a:ext>
                  </a:extLst>
                </a:gridCol>
              </a:tblGrid>
              <a:tr h="0">
                <a:tc>
                  <a:txBody>
                    <a:bodyPr/>
                    <a:lstStyle/>
                    <a:p>
                      <a:r>
                        <a:rPr lang="en-CA" dirty="0"/>
                        <a:t>Disadvantages</a:t>
                      </a:r>
                      <a:endParaRPr lang="en-US" dirty="0"/>
                    </a:p>
                  </a:txBody>
                  <a:tcPr/>
                </a:tc>
                <a:extLst>
                  <a:ext uri="{0D108BD9-81ED-4DB2-BD59-A6C34878D82A}">
                    <a16:rowId xmlns:a16="http://schemas.microsoft.com/office/drawing/2014/main" val="10000"/>
                  </a:ext>
                </a:extLst>
              </a:tr>
              <a:tr h="322835">
                <a:tc>
                  <a:txBody>
                    <a:bodyPr/>
                    <a:lstStyle/>
                    <a:p>
                      <a:r>
                        <a:rPr lang="en-CA" dirty="0"/>
                        <a:t>Slower</a:t>
                      </a:r>
                      <a:r>
                        <a:rPr lang="en-CA" baseline="0" dirty="0"/>
                        <a:t> performance</a:t>
                      </a:r>
                      <a:endParaRPr lang="en-US" dirty="0"/>
                    </a:p>
                  </a:txBody>
                  <a:tcPr/>
                </a:tc>
                <a:extLst>
                  <a:ext uri="{0D108BD9-81ED-4DB2-BD59-A6C34878D82A}">
                    <a16:rowId xmlns:a16="http://schemas.microsoft.com/office/drawing/2014/main" val="10001"/>
                  </a:ext>
                </a:extLst>
              </a:tr>
              <a:tr h="322835">
                <a:tc>
                  <a:txBody>
                    <a:bodyPr/>
                    <a:lstStyle/>
                    <a:p>
                      <a:r>
                        <a:rPr lang="en-CA" dirty="0"/>
                        <a:t>Larger</a:t>
                      </a:r>
                      <a:r>
                        <a:rPr lang="en-CA" baseline="0" dirty="0"/>
                        <a:t> source code</a:t>
                      </a:r>
                      <a:endParaRPr lang="en-US" dirty="0"/>
                    </a:p>
                  </a:txBody>
                  <a:tcPr/>
                </a:tc>
                <a:extLst>
                  <a:ext uri="{0D108BD9-81ED-4DB2-BD59-A6C34878D82A}">
                    <a16:rowId xmlns:a16="http://schemas.microsoft.com/office/drawing/2014/main" val="10002"/>
                  </a:ext>
                </a:extLst>
              </a:tr>
              <a:tr h="322835">
                <a:tc>
                  <a:txBody>
                    <a:bodyPr/>
                    <a:lstStyle/>
                    <a:p>
                      <a:r>
                        <a:rPr lang="en-CA" dirty="0"/>
                        <a:t>Task</a:t>
                      </a:r>
                      <a:r>
                        <a:rPr lang="en-CA" baseline="0" dirty="0"/>
                        <a:t> Management complex</a:t>
                      </a:r>
                      <a:endParaRPr lang="en-US" dirty="0"/>
                    </a:p>
                  </a:txBody>
                  <a:tcPr/>
                </a:tc>
                <a:extLst>
                  <a:ext uri="{0D108BD9-81ED-4DB2-BD59-A6C34878D82A}">
                    <a16:rowId xmlns:a16="http://schemas.microsoft.com/office/drawing/2014/main" val="10003"/>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468918916"/>
              </p:ext>
            </p:extLst>
          </p:nvPr>
        </p:nvGraphicFramePr>
        <p:xfrm>
          <a:off x="5436096" y="4581128"/>
          <a:ext cx="2891036" cy="1651000"/>
        </p:xfrm>
        <a:graphic>
          <a:graphicData uri="http://schemas.openxmlformats.org/drawingml/2006/table">
            <a:tbl>
              <a:tblPr firstRow="1" bandRow="1">
                <a:tableStyleId>{5C22544A-7EE6-4342-B048-85BDC9FD1C3A}</a:tableStyleId>
              </a:tblPr>
              <a:tblGrid>
                <a:gridCol w="2891036">
                  <a:extLst>
                    <a:ext uri="{9D8B030D-6E8A-4147-A177-3AD203B41FA5}">
                      <a16:colId xmlns:a16="http://schemas.microsoft.com/office/drawing/2014/main" val="20000"/>
                    </a:ext>
                  </a:extLst>
                </a:gridCol>
              </a:tblGrid>
              <a:tr h="370840">
                <a:tc>
                  <a:txBody>
                    <a:bodyPr/>
                    <a:lstStyle/>
                    <a:p>
                      <a:r>
                        <a:rPr lang="en-CA" dirty="0"/>
                        <a:t>Disadvantages</a:t>
                      </a:r>
                      <a:endParaRPr lang="en-US" dirty="0"/>
                    </a:p>
                  </a:txBody>
                  <a:tcPr/>
                </a:tc>
                <a:extLst>
                  <a:ext uri="{0D108BD9-81ED-4DB2-BD59-A6C34878D82A}">
                    <a16:rowId xmlns:a16="http://schemas.microsoft.com/office/drawing/2014/main" val="10000"/>
                  </a:ext>
                </a:extLst>
              </a:tr>
              <a:tr h="370840">
                <a:tc>
                  <a:txBody>
                    <a:bodyPr/>
                    <a:lstStyle/>
                    <a:p>
                      <a:r>
                        <a:rPr lang="en-CA" dirty="0"/>
                        <a:t>Difficult to update, patch, extend</a:t>
                      </a:r>
                      <a:endParaRPr lang="en-US" dirty="0"/>
                    </a:p>
                  </a:txBody>
                  <a:tcPr/>
                </a:tc>
                <a:extLst>
                  <a:ext uri="{0D108BD9-81ED-4DB2-BD59-A6C34878D82A}">
                    <a16:rowId xmlns:a16="http://schemas.microsoft.com/office/drawing/2014/main" val="10001"/>
                  </a:ext>
                </a:extLst>
              </a:tr>
              <a:tr h="370840">
                <a:tc>
                  <a:txBody>
                    <a:bodyPr/>
                    <a:lstStyle/>
                    <a:p>
                      <a:r>
                        <a:rPr lang="en-CA" dirty="0"/>
                        <a:t>Recompiling</a:t>
                      </a:r>
                      <a:r>
                        <a:rPr lang="en-CA" baseline="0" dirty="0"/>
                        <a:t> kernel time consuming</a:t>
                      </a:r>
                      <a:endParaRPr lang="en-US"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7518016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Multi-tasking &amp; Multi-processing</a:t>
            </a:r>
          </a:p>
        </p:txBody>
      </p:sp>
      <p:sp>
        <p:nvSpPr>
          <p:cNvPr id="3" name="Content Placeholder 2"/>
          <p:cNvSpPr>
            <a:spLocks noGrp="1"/>
          </p:cNvSpPr>
          <p:nvPr>
            <p:ph sz="quarter" idx="1"/>
          </p:nvPr>
        </p:nvSpPr>
        <p:spPr>
          <a:xfrm>
            <a:off x="457200" y="1600200"/>
            <a:ext cx="8507288" cy="4876800"/>
          </a:xfrm>
        </p:spPr>
        <p:txBody>
          <a:bodyPr>
            <a:normAutofit/>
          </a:bodyPr>
          <a:lstStyle/>
          <a:p>
            <a:pPr marL="0" indent="0">
              <a:buNone/>
            </a:pPr>
            <a:r>
              <a:rPr lang="en-US" dirty="0"/>
              <a:t>Operating System </a:t>
            </a:r>
            <a:r>
              <a:rPr lang="en-US" i="1" dirty="0"/>
              <a:t>appears </a:t>
            </a:r>
            <a:br>
              <a:rPr lang="en-US" i="1" dirty="0"/>
            </a:br>
            <a:r>
              <a:rPr lang="en-US" dirty="0"/>
              <a:t>to run multiple processes </a:t>
            </a:r>
            <a:br>
              <a:rPr lang="en-US" dirty="0"/>
            </a:br>
            <a:r>
              <a:rPr lang="en-US" dirty="0"/>
              <a:t>at the same time.</a:t>
            </a:r>
          </a:p>
          <a:p>
            <a:pPr marL="0" indent="0">
              <a:buNone/>
            </a:pPr>
            <a:r>
              <a:rPr lang="en-US" dirty="0"/>
              <a:t>Why multi-tasking? </a:t>
            </a:r>
          </a:p>
          <a:p>
            <a:r>
              <a:rPr lang="en-US" dirty="0"/>
              <a:t>CPU is usually waiting </a:t>
            </a:r>
            <a:br>
              <a:rPr lang="en-US" dirty="0"/>
            </a:br>
            <a:r>
              <a:rPr lang="en-US" dirty="0"/>
              <a:t>on </a:t>
            </a:r>
            <a:r>
              <a:rPr lang="en-US" dirty="0" err="1"/>
              <a:t>Input/Output</a:t>
            </a:r>
            <a:r>
              <a:rPr lang="en-US" dirty="0"/>
              <a:t> operations</a:t>
            </a:r>
          </a:p>
          <a:p>
            <a:r>
              <a:rPr lang="en-US" dirty="0"/>
              <a:t>CPU + RAM are fast, I/O is slow</a:t>
            </a:r>
          </a:p>
          <a:p>
            <a:r>
              <a:rPr lang="en-CA" b="1" dirty="0"/>
              <a:t>Multi-processing: </a:t>
            </a:r>
            <a:r>
              <a:rPr lang="en-CA" dirty="0"/>
              <a:t>Separate processes run simultaneously on multiple CPU cores sharing memory and peripherals.</a:t>
            </a:r>
          </a:p>
          <a:p>
            <a:r>
              <a:rPr lang="en-CA" b="1" dirty="0"/>
              <a:t>Parallel processing: </a:t>
            </a:r>
            <a:r>
              <a:rPr lang="en-CA" dirty="0"/>
              <a:t>A single process uses multiple CPUs/cores simultaneously.</a:t>
            </a:r>
          </a:p>
          <a:p>
            <a:endParaRPr lang="en-US" dirty="0"/>
          </a:p>
          <a:p>
            <a:endParaRPr lang="en-US"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1120" y="1600200"/>
            <a:ext cx="4053368" cy="22158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901031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6250" y="260648"/>
            <a:ext cx="8229600" cy="990600"/>
          </a:xfrm>
        </p:spPr>
        <p:txBody>
          <a:bodyPr/>
          <a:lstStyle/>
          <a:p>
            <a:r>
              <a:rPr lang="en-US" dirty="0"/>
              <a:t>4. Multi-tasking</a:t>
            </a:r>
          </a:p>
        </p:txBody>
      </p:sp>
      <p:cxnSp>
        <p:nvCxnSpPr>
          <p:cNvPr id="4" name="Straight Connector 3"/>
          <p:cNvCxnSpPr/>
          <p:nvPr/>
        </p:nvCxnSpPr>
        <p:spPr>
          <a:xfrm>
            <a:off x="1676400" y="2362200"/>
            <a:ext cx="6934200" cy="0"/>
          </a:xfrm>
          <a:prstGeom prst="line">
            <a:avLst/>
          </a:prstGeom>
          <a:ln w="88900"/>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1676400" y="3733800"/>
            <a:ext cx="6934200" cy="0"/>
          </a:xfrm>
          <a:prstGeom prst="line">
            <a:avLst/>
          </a:prstGeom>
          <a:ln w="889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1676400" y="5105400"/>
            <a:ext cx="6934200" cy="0"/>
          </a:xfrm>
          <a:prstGeom prst="line">
            <a:avLst/>
          </a:prstGeom>
          <a:ln w="88900"/>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52400" y="2089666"/>
            <a:ext cx="1295400" cy="369332"/>
          </a:xfrm>
          <a:prstGeom prst="rect">
            <a:avLst/>
          </a:prstGeom>
          <a:noFill/>
        </p:spPr>
        <p:txBody>
          <a:bodyPr wrap="square" rtlCol="0">
            <a:spAutoFit/>
          </a:bodyPr>
          <a:lstStyle/>
          <a:p>
            <a:r>
              <a:rPr lang="en-US" dirty="0"/>
              <a:t>Process 1</a:t>
            </a:r>
          </a:p>
        </p:txBody>
      </p:sp>
      <p:sp>
        <p:nvSpPr>
          <p:cNvPr id="8" name="TextBox 7"/>
          <p:cNvSpPr txBox="1"/>
          <p:nvPr/>
        </p:nvSpPr>
        <p:spPr>
          <a:xfrm>
            <a:off x="152400" y="3549134"/>
            <a:ext cx="1295400" cy="369332"/>
          </a:xfrm>
          <a:prstGeom prst="rect">
            <a:avLst/>
          </a:prstGeom>
          <a:noFill/>
        </p:spPr>
        <p:txBody>
          <a:bodyPr wrap="square" rtlCol="0">
            <a:spAutoFit/>
          </a:bodyPr>
          <a:lstStyle/>
          <a:p>
            <a:r>
              <a:rPr lang="en-US" dirty="0"/>
              <a:t>Process  2</a:t>
            </a:r>
          </a:p>
        </p:txBody>
      </p:sp>
      <p:sp>
        <p:nvSpPr>
          <p:cNvPr id="9" name="Rectangle 8"/>
          <p:cNvSpPr/>
          <p:nvPr/>
        </p:nvSpPr>
        <p:spPr>
          <a:xfrm>
            <a:off x="1709651" y="1847340"/>
            <a:ext cx="99060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Run</a:t>
            </a:r>
          </a:p>
        </p:txBody>
      </p:sp>
      <p:sp>
        <p:nvSpPr>
          <p:cNvPr id="10" name="Rectangle 9"/>
          <p:cNvSpPr/>
          <p:nvPr/>
        </p:nvSpPr>
        <p:spPr>
          <a:xfrm>
            <a:off x="4804682" y="1840058"/>
            <a:ext cx="99060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Run</a:t>
            </a:r>
          </a:p>
        </p:txBody>
      </p:sp>
      <p:sp>
        <p:nvSpPr>
          <p:cNvPr id="11" name="Rectangle 10"/>
          <p:cNvSpPr/>
          <p:nvPr/>
        </p:nvSpPr>
        <p:spPr>
          <a:xfrm>
            <a:off x="2667000" y="1822316"/>
            <a:ext cx="2137682" cy="3790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I/O Wait………..….</a:t>
            </a:r>
          </a:p>
        </p:txBody>
      </p:sp>
      <p:sp>
        <p:nvSpPr>
          <p:cNvPr id="12" name="Rectangle 11"/>
          <p:cNvSpPr/>
          <p:nvPr/>
        </p:nvSpPr>
        <p:spPr>
          <a:xfrm>
            <a:off x="5795282" y="1825805"/>
            <a:ext cx="1714500" cy="3790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I/O, CPU wait</a:t>
            </a:r>
          </a:p>
        </p:txBody>
      </p:sp>
      <p:sp>
        <p:nvSpPr>
          <p:cNvPr id="13" name="Rectangle 12"/>
          <p:cNvSpPr/>
          <p:nvPr/>
        </p:nvSpPr>
        <p:spPr>
          <a:xfrm>
            <a:off x="1475935" y="3164824"/>
            <a:ext cx="1219200" cy="3790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CPU Wait</a:t>
            </a:r>
          </a:p>
        </p:txBody>
      </p:sp>
      <p:sp>
        <p:nvSpPr>
          <p:cNvPr id="14" name="Rectangle 13"/>
          <p:cNvSpPr/>
          <p:nvPr/>
        </p:nvSpPr>
        <p:spPr>
          <a:xfrm>
            <a:off x="2697979" y="3156386"/>
            <a:ext cx="990600" cy="369332"/>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Run</a:t>
            </a:r>
          </a:p>
        </p:txBody>
      </p:sp>
      <p:sp>
        <p:nvSpPr>
          <p:cNvPr id="15" name="Rectangle 14"/>
          <p:cNvSpPr/>
          <p:nvPr/>
        </p:nvSpPr>
        <p:spPr>
          <a:xfrm>
            <a:off x="7509781" y="2622847"/>
            <a:ext cx="990601" cy="9224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Time slice expired</a:t>
            </a:r>
          </a:p>
        </p:txBody>
      </p:sp>
      <p:sp>
        <p:nvSpPr>
          <p:cNvPr id="16" name="Rectangle 15"/>
          <p:cNvSpPr/>
          <p:nvPr/>
        </p:nvSpPr>
        <p:spPr>
          <a:xfrm>
            <a:off x="5798001" y="3174551"/>
            <a:ext cx="1711780" cy="369332"/>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Run</a:t>
            </a:r>
          </a:p>
        </p:txBody>
      </p:sp>
      <p:sp>
        <p:nvSpPr>
          <p:cNvPr id="17" name="TextBox 16"/>
          <p:cNvSpPr txBox="1"/>
          <p:nvPr/>
        </p:nvSpPr>
        <p:spPr>
          <a:xfrm>
            <a:off x="476250" y="4736068"/>
            <a:ext cx="783382" cy="369332"/>
          </a:xfrm>
          <a:prstGeom prst="rect">
            <a:avLst/>
          </a:prstGeom>
          <a:noFill/>
        </p:spPr>
        <p:txBody>
          <a:bodyPr wrap="square" rtlCol="0">
            <a:spAutoFit/>
          </a:bodyPr>
          <a:lstStyle/>
          <a:p>
            <a:r>
              <a:rPr lang="en-US" dirty="0"/>
              <a:t>CPU</a:t>
            </a:r>
          </a:p>
        </p:txBody>
      </p:sp>
      <p:sp>
        <p:nvSpPr>
          <p:cNvPr id="18" name="Rectangle 17"/>
          <p:cNvSpPr/>
          <p:nvPr/>
        </p:nvSpPr>
        <p:spPr>
          <a:xfrm>
            <a:off x="1702585" y="4556126"/>
            <a:ext cx="990600" cy="3685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Run</a:t>
            </a:r>
          </a:p>
        </p:txBody>
      </p:sp>
      <p:sp>
        <p:nvSpPr>
          <p:cNvPr id="19" name="Rectangle 18"/>
          <p:cNvSpPr/>
          <p:nvPr/>
        </p:nvSpPr>
        <p:spPr>
          <a:xfrm>
            <a:off x="2695135" y="4555326"/>
            <a:ext cx="990600" cy="369333"/>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Run</a:t>
            </a:r>
          </a:p>
        </p:txBody>
      </p:sp>
      <p:sp>
        <p:nvSpPr>
          <p:cNvPr id="20" name="Rectangle 19"/>
          <p:cNvSpPr/>
          <p:nvPr/>
        </p:nvSpPr>
        <p:spPr>
          <a:xfrm>
            <a:off x="3657600" y="4519297"/>
            <a:ext cx="1219200" cy="3790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Wait</a:t>
            </a:r>
          </a:p>
        </p:txBody>
      </p:sp>
      <p:sp>
        <p:nvSpPr>
          <p:cNvPr id="21" name="Rectangle 20"/>
          <p:cNvSpPr/>
          <p:nvPr/>
        </p:nvSpPr>
        <p:spPr>
          <a:xfrm>
            <a:off x="4804682" y="4559508"/>
            <a:ext cx="990600" cy="3771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Run</a:t>
            </a:r>
          </a:p>
        </p:txBody>
      </p:sp>
      <p:sp>
        <p:nvSpPr>
          <p:cNvPr id="22" name="Rectangle 21"/>
          <p:cNvSpPr/>
          <p:nvPr/>
        </p:nvSpPr>
        <p:spPr>
          <a:xfrm>
            <a:off x="5800039" y="4559508"/>
            <a:ext cx="1709741" cy="377184"/>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Run</a:t>
            </a:r>
          </a:p>
        </p:txBody>
      </p:sp>
      <p:sp>
        <p:nvSpPr>
          <p:cNvPr id="26" name="Rectangle 25"/>
          <p:cNvSpPr/>
          <p:nvPr/>
        </p:nvSpPr>
        <p:spPr>
          <a:xfrm>
            <a:off x="3586806" y="3151522"/>
            <a:ext cx="2281338" cy="3790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I/O wait....CPU wait</a:t>
            </a:r>
          </a:p>
        </p:txBody>
      </p:sp>
      <p:sp>
        <p:nvSpPr>
          <p:cNvPr id="28" name="Rectangle 27"/>
          <p:cNvSpPr/>
          <p:nvPr/>
        </p:nvSpPr>
        <p:spPr>
          <a:xfrm>
            <a:off x="7509782" y="1824919"/>
            <a:ext cx="99060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Run</a:t>
            </a:r>
          </a:p>
        </p:txBody>
      </p:sp>
      <p:sp>
        <p:nvSpPr>
          <p:cNvPr id="29" name="Rectangle 28"/>
          <p:cNvSpPr/>
          <p:nvPr/>
        </p:nvSpPr>
        <p:spPr>
          <a:xfrm>
            <a:off x="7509781" y="4559508"/>
            <a:ext cx="990600" cy="3771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Run</a:t>
            </a:r>
          </a:p>
        </p:txBody>
      </p:sp>
    </p:spTree>
    <p:extLst>
      <p:ext uri="{BB962C8B-B14F-4D97-AF65-F5344CB8AC3E}">
        <p14:creationId xmlns:p14="http://schemas.microsoft.com/office/powerpoint/2010/main" val="4936588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Virtual Memory</a:t>
            </a:r>
          </a:p>
        </p:txBody>
      </p:sp>
      <p:pic>
        <p:nvPicPr>
          <p:cNvPr id="2050" name="Picture 2" descr="http://files.differencebetween.com/wp-content/uploads/2015/01/Virtual-Memory_Cache-Memory-vs-Virtual-Memory.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6085" y="1507958"/>
            <a:ext cx="2886075" cy="456247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CC7A0AD-B88A-40B7-844D-E364F650C23F}"/>
              </a:ext>
            </a:extLst>
          </p:cNvPr>
          <p:cNvSpPr txBox="1"/>
          <p:nvPr/>
        </p:nvSpPr>
        <p:spPr>
          <a:xfrm>
            <a:off x="592860" y="1524510"/>
            <a:ext cx="2533225" cy="4478149"/>
          </a:xfrm>
          <a:prstGeom prst="rect">
            <a:avLst/>
          </a:prstGeom>
          <a:noFill/>
        </p:spPr>
        <p:txBody>
          <a:bodyPr wrap="square" rtlCol="0">
            <a:spAutoFit/>
          </a:bodyPr>
          <a:lstStyle/>
          <a:p>
            <a:pPr>
              <a:spcAft>
                <a:spcPts val="600"/>
              </a:spcAft>
            </a:pPr>
            <a:r>
              <a:rPr lang="en-CA" dirty="0"/>
              <a:t>A 32 bit process uses up to 2GB of RAM.</a:t>
            </a:r>
          </a:p>
          <a:p>
            <a:pPr>
              <a:spcAft>
                <a:spcPts val="600"/>
              </a:spcAft>
            </a:pPr>
            <a:r>
              <a:rPr lang="en-US" dirty="0"/>
              <a:t>M</a:t>
            </a:r>
            <a:r>
              <a:rPr lang="en-CA" dirty="0"/>
              <a:t>any processes can be run even though they exceed physical memory.</a:t>
            </a:r>
          </a:p>
          <a:p>
            <a:pPr>
              <a:spcAft>
                <a:spcPts val="600"/>
              </a:spcAft>
            </a:pPr>
            <a:r>
              <a:rPr lang="en-CA" dirty="0"/>
              <a:t>Memory management swaps between limited physical RAM and ~unlimited~ virtual memory on a drive.</a:t>
            </a:r>
            <a:r>
              <a:rPr lang="en-US" dirty="0"/>
              <a:t> </a:t>
            </a:r>
          </a:p>
          <a:p>
            <a:pPr>
              <a:spcAft>
                <a:spcPts val="600"/>
              </a:spcAft>
            </a:pPr>
            <a:r>
              <a:rPr lang="en-US" dirty="0"/>
              <a:t>M</a:t>
            </a:r>
            <a:r>
              <a:rPr lang="en-CA" dirty="0" err="1"/>
              <a:t>ulti</a:t>
            </a:r>
            <a:r>
              <a:rPr lang="en-CA" dirty="0"/>
              <a:t>-tasking switches between processes and may trigger VM swapping.</a:t>
            </a:r>
          </a:p>
        </p:txBody>
      </p:sp>
      <p:sp>
        <p:nvSpPr>
          <p:cNvPr id="4" name="TextBox 3">
            <a:extLst>
              <a:ext uri="{FF2B5EF4-FFF2-40B4-BE49-F238E27FC236}">
                <a16:creationId xmlns:a16="http://schemas.microsoft.com/office/drawing/2014/main" id="{4A5619F6-3EAC-4D24-A340-A7B1214A51F8}"/>
              </a:ext>
            </a:extLst>
          </p:cNvPr>
          <p:cNvSpPr txBox="1"/>
          <p:nvPr/>
        </p:nvSpPr>
        <p:spPr>
          <a:xfrm>
            <a:off x="6113588" y="1507958"/>
            <a:ext cx="2474518" cy="4247317"/>
          </a:xfrm>
          <a:prstGeom prst="rect">
            <a:avLst/>
          </a:prstGeom>
          <a:noFill/>
        </p:spPr>
        <p:txBody>
          <a:bodyPr wrap="square" rtlCol="0">
            <a:spAutoFit/>
          </a:bodyPr>
          <a:lstStyle/>
          <a:p>
            <a:r>
              <a:rPr lang="en-US" dirty="0"/>
              <a:t>T</a:t>
            </a:r>
            <a:r>
              <a:rPr lang="en-CA" dirty="0" err="1"/>
              <a:t>hrashing</a:t>
            </a:r>
            <a:r>
              <a:rPr lang="en-CA" dirty="0"/>
              <a:t>: </a:t>
            </a:r>
            <a:br>
              <a:rPr lang="en-CA" dirty="0"/>
            </a:br>
            <a:r>
              <a:rPr lang="en-CA" dirty="0"/>
              <a:t>The system spends more time swapping processes than running them.</a:t>
            </a:r>
          </a:p>
          <a:p>
            <a:endParaRPr lang="en-CA" dirty="0"/>
          </a:p>
          <a:p>
            <a:r>
              <a:rPr lang="en-CA" dirty="0"/>
              <a:t>It occurs when a computer's virtual memory subsystem is in a constant state of over commitment with a high degree of process switching (multi-tasking).</a:t>
            </a:r>
            <a:endParaRPr lang="en-US" dirty="0"/>
          </a:p>
          <a:p>
            <a:endParaRPr lang="en-CA" dirty="0"/>
          </a:p>
        </p:txBody>
      </p:sp>
    </p:spTree>
    <p:extLst>
      <p:ext uri="{BB962C8B-B14F-4D97-AF65-F5344CB8AC3E}">
        <p14:creationId xmlns:p14="http://schemas.microsoft.com/office/powerpoint/2010/main" val="5292506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0E750B8-1B9C-456F-9720-C2845C3F53C0}"/>
              </a:ext>
            </a:extLst>
          </p:cNvPr>
          <p:cNvPicPr>
            <a:picLocks noChangeAspect="1"/>
          </p:cNvPicPr>
          <p:nvPr/>
        </p:nvPicPr>
        <p:blipFill>
          <a:blip r:embed="rId3"/>
          <a:stretch>
            <a:fillRect/>
          </a:stretch>
        </p:blipFill>
        <p:spPr>
          <a:xfrm>
            <a:off x="457200" y="1602606"/>
            <a:ext cx="8229600" cy="5169654"/>
          </a:xfrm>
          <a:prstGeom prst="rect">
            <a:avLst/>
          </a:prstGeom>
        </p:spPr>
      </p:pic>
      <p:sp>
        <p:nvSpPr>
          <p:cNvPr id="2" name="Title 1">
            <a:extLst>
              <a:ext uri="{FF2B5EF4-FFF2-40B4-BE49-F238E27FC236}">
                <a16:creationId xmlns:a16="http://schemas.microsoft.com/office/drawing/2014/main" id="{33A8AB86-DF48-429C-8A54-BC34F4A90B99}"/>
              </a:ext>
            </a:extLst>
          </p:cNvPr>
          <p:cNvSpPr>
            <a:spLocks noGrp="1"/>
          </p:cNvSpPr>
          <p:nvPr>
            <p:ph type="title"/>
          </p:nvPr>
        </p:nvSpPr>
        <p:spPr/>
        <p:txBody>
          <a:bodyPr/>
          <a:lstStyle/>
          <a:p>
            <a:r>
              <a:rPr lang="en-US" dirty="0"/>
              <a:t>CPU cores and caches</a:t>
            </a:r>
            <a:endParaRPr lang="en-CA" dirty="0"/>
          </a:p>
        </p:txBody>
      </p:sp>
    </p:spTree>
    <p:extLst>
      <p:ext uri="{BB962C8B-B14F-4D97-AF65-F5344CB8AC3E}">
        <p14:creationId xmlns:p14="http://schemas.microsoft.com/office/powerpoint/2010/main" val="17699569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6. System Virtualization with Hyper-V</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3999" y="1520301"/>
            <a:ext cx="6698513" cy="4194699"/>
          </a:xfrm>
          <a:prstGeom prst="rect">
            <a:avLst/>
          </a:prstGeom>
        </p:spPr>
      </p:pic>
      <p:sp>
        <p:nvSpPr>
          <p:cNvPr id="4" name="TextBox 3"/>
          <p:cNvSpPr txBox="1"/>
          <p:nvPr/>
        </p:nvSpPr>
        <p:spPr>
          <a:xfrm>
            <a:off x="1539240" y="6172200"/>
            <a:ext cx="6934200" cy="246221"/>
          </a:xfrm>
          <a:prstGeom prst="rect">
            <a:avLst/>
          </a:prstGeom>
          <a:noFill/>
        </p:spPr>
        <p:txBody>
          <a:bodyPr wrap="square" rtlCol="0">
            <a:spAutoFit/>
          </a:bodyPr>
          <a:lstStyle/>
          <a:p>
            <a:r>
              <a:rPr lang="en-US" sz="1000" dirty="0"/>
              <a:t>Picture taken from: http://itechthoughts.files.wordpress.com/2009/11/vbasics10.png?w=412&amp;h=258</a:t>
            </a:r>
          </a:p>
        </p:txBody>
      </p:sp>
      <p:sp>
        <p:nvSpPr>
          <p:cNvPr id="5" name="TextBox 4"/>
          <p:cNvSpPr txBox="1"/>
          <p:nvPr/>
        </p:nvSpPr>
        <p:spPr>
          <a:xfrm>
            <a:off x="6948264" y="1844824"/>
            <a:ext cx="1440160" cy="2160240"/>
          </a:xfrm>
          <a:prstGeom prst="rect">
            <a:avLst/>
          </a:prstGeom>
          <a:solidFill>
            <a:schemeClr val="bg1"/>
          </a:solidFill>
        </p:spPr>
        <p:txBody>
          <a:bodyPr wrap="square" rtlCol="0">
            <a:spAutoFit/>
          </a:bodyPr>
          <a:lstStyle/>
          <a:p>
            <a:endParaRPr lang="en-CA" dirty="0"/>
          </a:p>
        </p:txBody>
      </p:sp>
      <p:sp>
        <p:nvSpPr>
          <p:cNvPr id="6" name="TextBox 5"/>
          <p:cNvSpPr txBox="1"/>
          <p:nvPr/>
        </p:nvSpPr>
        <p:spPr>
          <a:xfrm>
            <a:off x="1403648" y="1520301"/>
            <a:ext cx="1440160" cy="756571"/>
          </a:xfrm>
          <a:prstGeom prst="rect">
            <a:avLst/>
          </a:prstGeom>
          <a:solidFill>
            <a:schemeClr val="bg1"/>
          </a:solidFill>
        </p:spPr>
        <p:txBody>
          <a:bodyPr wrap="square" rtlCol="0">
            <a:spAutoFit/>
          </a:bodyPr>
          <a:lstStyle/>
          <a:p>
            <a:endParaRPr lang="en-CA" dirty="0"/>
          </a:p>
        </p:txBody>
      </p:sp>
    </p:spTree>
    <p:extLst>
      <p:ext uri="{BB962C8B-B14F-4D97-AF65-F5344CB8AC3E}">
        <p14:creationId xmlns:p14="http://schemas.microsoft.com/office/powerpoint/2010/main" val="25486186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1556792"/>
            <a:ext cx="9144000" cy="53012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fontScale="90000"/>
          </a:bodyPr>
          <a:lstStyle/>
          <a:p>
            <a:r>
              <a:rPr lang="en-CA" dirty="0"/>
              <a:t>Notes: Short History of Small Systems OS</a:t>
            </a:r>
            <a:endParaRPr lang="en-US"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1461" y="1973046"/>
            <a:ext cx="4381078" cy="4468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598603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91556" y="1066800"/>
            <a:ext cx="1353433" cy="1371600"/>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3529" y="2361968"/>
            <a:ext cx="723900" cy="762000"/>
          </a:xfrm>
          <a:prstGeom prst="rect">
            <a:avLst/>
          </a:prstGeom>
        </p:spPr>
      </p:pic>
      <p:sp>
        <p:nvSpPr>
          <p:cNvPr id="5" name="Left-Up Arrow 4"/>
          <p:cNvSpPr/>
          <p:nvPr/>
        </p:nvSpPr>
        <p:spPr>
          <a:xfrm rot="16200000">
            <a:off x="6444394" y="272194"/>
            <a:ext cx="762000" cy="2960811"/>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Left-Up Arrow 5"/>
          <p:cNvSpPr/>
          <p:nvPr/>
        </p:nvSpPr>
        <p:spPr>
          <a:xfrm rot="5400000" flipH="1">
            <a:off x="2141064" y="375040"/>
            <a:ext cx="762000" cy="2755120"/>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ight Arrow 7"/>
          <p:cNvSpPr/>
          <p:nvPr/>
        </p:nvSpPr>
        <p:spPr>
          <a:xfrm rot="5400000">
            <a:off x="7675024" y="3401506"/>
            <a:ext cx="72009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1391" y="3821828"/>
            <a:ext cx="914400" cy="914400"/>
          </a:xfrm>
          <a:prstGeom prst="rect">
            <a:avLst/>
          </a:prstGeom>
        </p:spPr>
      </p:pic>
      <p:pic>
        <p:nvPicPr>
          <p:cNvPr id="11" name="Picture 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flipV="1">
            <a:off x="107026" y="5462782"/>
            <a:ext cx="661444" cy="793733"/>
          </a:xfrm>
          <a:prstGeom prst="rect">
            <a:avLst/>
          </a:prstGeom>
        </p:spPr>
      </p:pic>
      <p:pic>
        <p:nvPicPr>
          <p:cNvPr id="12" name="Picture 1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868750" y="5400067"/>
            <a:ext cx="919162" cy="919162"/>
          </a:xfrm>
          <a:prstGeom prst="rect">
            <a:avLst/>
          </a:prstGeom>
        </p:spPr>
      </p:pic>
      <p:pic>
        <p:nvPicPr>
          <p:cNvPr id="14" name="Picture 1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467600" y="2361968"/>
            <a:ext cx="1134939" cy="672003"/>
          </a:xfrm>
          <a:prstGeom prst="rect">
            <a:avLst/>
          </a:prstGeom>
        </p:spPr>
      </p:pic>
      <p:pic>
        <p:nvPicPr>
          <p:cNvPr id="17" name="Picture 16"/>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617839" y="4276781"/>
            <a:ext cx="834460" cy="829076"/>
          </a:xfrm>
          <a:prstGeom prst="rect">
            <a:avLst/>
          </a:prstGeom>
        </p:spPr>
      </p:pic>
      <p:pic>
        <p:nvPicPr>
          <p:cNvPr id="19" name="Picture 18"/>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153922" y="2742968"/>
            <a:ext cx="1028700" cy="647700"/>
          </a:xfrm>
          <a:prstGeom prst="rect">
            <a:avLst/>
          </a:prstGeom>
        </p:spPr>
      </p:pic>
      <p:pic>
        <p:nvPicPr>
          <p:cNvPr id="25" name="Picture 24"/>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314755" y="4099142"/>
            <a:ext cx="761905" cy="742857"/>
          </a:xfrm>
          <a:prstGeom prst="rect">
            <a:avLst/>
          </a:prstGeom>
        </p:spPr>
      </p:pic>
      <p:pic>
        <p:nvPicPr>
          <p:cNvPr id="26" name="Picture 25"/>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126623" y="5435523"/>
            <a:ext cx="1138168" cy="1240093"/>
          </a:xfrm>
          <a:prstGeom prst="rect">
            <a:avLst/>
          </a:prstGeom>
        </p:spPr>
      </p:pic>
      <p:sp>
        <p:nvSpPr>
          <p:cNvPr id="27" name="Left Arrow 26"/>
          <p:cNvSpPr/>
          <p:nvPr/>
        </p:nvSpPr>
        <p:spPr>
          <a:xfrm rot="18622612">
            <a:off x="4718930" y="4172396"/>
            <a:ext cx="3208127" cy="45649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ight Arrow 27"/>
          <p:cNvSpPr/>
          <p:nvPr/>
        </p:nvSpPr>
        <p:spPr>
          <a:xfrm rot="5400000">
            <a:off x="4482709" y="3585262"/>
            <a:ext cx="425999"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ight Arrow 28"/>
          <p:cNvSpPr/>
          <p:nvPr/>
        </p:nvSpPr>
        <p:spPr>
          <a:xfrm rot="5400000">
            <a:off x="4482709" y="5024535"/>
            <a:ext cx="425999"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ight Arrow 29"/>
          <p:cNvSpPr/>
          <p:nvPr/>
        </p:nvSpPr>
        <p:spPr>
          <a:xfrm rot="5400000">
            <a:off x="1095591" y="3241428"/>
            <a:ext cx="425999"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Left Arrow 12"/>
          <p:cNvSpPr/>
          <p:nvPr/>
        </p:nvSpPr>
        <p:spPr>
          <a:xfrm rot="18457825">
            <a:off x="562398" y="5082177"/>
            <a:ext cx="802262" cy="39803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Left Arrow 30"/>
          <p:cNvSpPr/>
          <p:nvPr/>
        </p:nvSpPr>
        <p:spPr>
          <a:xfrm rot="14300006">
            <a:off x="1364659" y="5063519"/>
            <a:ext cx="802262" cy="39803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79512" y="385670"/>
            <a:ext cx="8856984" cy="890969"/>
          </a:xfrm>
        </p:spPr>
        <p:txBody>
          <a:bodyPr>
            <a:noAutofit/>
          </a:bodyPr>
          <a:lstStyle/>
          <a:p>
            <a:r>
              <a:rPr lang="en-US" sz="3200" dirty="0"/>
              <a:t>Simplified History of mini and micro systems…</a:t>
            </a:r>
          </a:p>
        </p:txBody>
      </p:sp>
    </p:spTree>
    <p:extLst>
      <p:ext uri="{BB962C8B-B14F-4D97-AF65-F5344CB8AC3E}">
        <p14:creationId xmlns:p14="http://schemas.microsoft.com/office/powerpoint/2010/main" val="139829807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ustom 16">
      <a:dk1>
        <a:sysClr val="windowText" lastClr="000000"/>
      </a:dk1>
      <a:lt1>
        <a:sysClr val="window" lastClr="FFFFFF"/>
      </a:lt1>
      <a:dk2>
        <a:srgbClr val="465E9C"/>
      </a:dk2>
      <a:lt2>
        <a:srgbClr val="CCDDEA"/>
      </a:lt2>
      <a:accent1>
        <a:srgbClr val="FDA023"/>
      </a:accent1>
      <a:accent2>
        <a:srgbClr val="AA2B1E"/>
      </a:accent2>
      <a:accent3>
        <a:srgbClr val="71685C"/>
      </a:accent3>
      <a:accent4>
        <a:srgbClr val="64A73B"/>
      </a:accent4>
      <a:accent5>
        <a:srgbClr val="EB5605"/>
      </a:accent5>
      <a:accent6>
        <a:srgbClr val="B9CA1A"/>
      </a:accent6>
      <a:hlink>
        <a:srgbClr val="0070C0"/>
      </a:hlink>
      <a:folHlink>
        <a:srgbClr val="465E9C"/>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10166</TotalTime>
  <Words>3144</Words>
  <Application>Microsoft Office PowerPoint</Application>
  <PresentationFormat>On-screen Show (4:3)</PresentationFormat>
  <Paragraphs>346</Paragraphs>
  <Slides>24</Slides>
  <Notes>24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Franklin Gothic Demi</vt:lpstr>
      <vt:lpstr>Times New Roman</vt:lpstr>
      <vt:lpstr>Webdings</vt:lpstr>
      <vt:lpstr>Wingdings</vt:lpstr>
      <vt:lpstr>Clarity</vt:lpstr>
      <vt:lpstr>Computer Principles for Programmers</vt:lpstr>
      <vt:lpstr>Agenda</vt:lpstr>
      <vt:lpstr>Quiz</vt:lpstr>
      <vt:lpstr>News of the Week</vt:lpstr>
      <vt:lpstr>Systems</vt:lpstr>
      <vt:lpstr>Firmware and the Internet of Things</vt:lpstr>
      <vt:lpstr>ASP.NET PLATFORM</vt:lpstr>
      <vt:lpstr>LAMP stack</vt:lpstr>
      <vt:lpstr>LAMP stack</vt:lpstr>
      <vt:lpstr>Hardware components cryptic quiz</vt:lpstr>
      <vt:lpstr>Software Terminology</vt:lpstr>
      <vt:lpstr>Principles of Systems Design</vt:lpstr>
      <vt:lpstr>PowerPoint Presentation</vt:lpstr>
      <vt:lpstr>2. Memory Protection</vt:lpstr>
      <vt:lpstr>Application Programming Interface (API)</vt:lpstr>
      <vt:lpstr>3. Modular Design</vt:lpstr>
      <vt:lpstr>Modular vs Monolithic Design</vt:lpstr>
      <vt:lpstr>4. Multi-tasking &amp; Multi-processing</vt:lpstr>
      <vt:lpstr>4. Multi-tasking</vt:lpstr>
      <vt:lpstr>5. Virtual Memory</vt:lpstr>
      <vt:lpstr>CPU cores and caches</vt:lpstr>
      <vt:lpstr>6. System Virtualization with Hyper-V</vt:lpstr>
      <vt:lpstr>Notes: Short History of Small Systems OS</vt:lpstr>
      <vt:lpstr>Simplified History of mini and micro systems…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Timothy.McKenna@senecacollege.ca;Marc.Gurwitz@senecacollege.ca;Danny.Roy@senecacollege.ca</dc:creator>
  <cp:lastModifiedBy>Tim McKenna LOCAL</cp:lastModifiedBy>
  <cp:revision>273</cp:revision>
  <cp:lastPrinted>2017-10-10T13:28:29Z</cp:lastPrinted>
  <dcterms:created xsi:type="dcterms:W3CDTF">2016-07-12T01:06:18Z</dcterms:created>
  <dcterms:modified xsi:type="dcterms:W3CDTF">2018-03-05T15:07:47Z</dcterms:modified>
</cp:coreProperties>
</file>