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12"/>
  </p:notesMasterIdLst>
  <p:handoutMasterIdLst>
    <p:handoutMasterId r:id="rId13"/>
  </p:handoutMasterIdLst>
  <p:sldIdLst>
    <p:sldId id="256" r:id="rId3"/>
    <p:sldId id="271" r:id="rId4"/>
    <p:sldId id="273" r:id="rId5"/>
    <p:sldId id="278" r:id="rId6"/>
    <p:sldId id="275" r:id="rId7"/>
    <p:sldId id="276" r:id="rId8"/>
    <p:sldId id="279" r:id="rId9"/>
    <p:sldId id="280" r:id="rId10"/>
    <p:sldId id="277" r:id="rId1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81" autoAdjust="0"/>
    <p:restoredTop sz="47074" autoAdjust="0"/>
  </p:normalViewPr>
  <p:slideViewPr>
    <p:cSldViewPr>
      <p:cViewPr>
        <p:scale>
          <a:sx n="46" d="100"/>
          <a:sy n="46" d="100"/>
        </p:scale>
        <p:origin x="1324" y="48"/>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123" d="100"/>
          <a:sy n="123" d="100"/>
        </p:scale>
        <p:origin x="377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10/29/2018</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10/29/2018</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01F2A70B-78F2-4DCF-B53B-C990D2FAFB8A}" type="slidenum">
              <a:rPr lang="en-CA" smtClean="0"/>
              <a:t>1</a:t>
            </a:fld>
            <a:endParaRPr lang="en-CA"/>
          </a:p>
        </p:txBody>
      </p:sp>
    </p:spTree>
    <p:extLst>
      <p:ext uri="{BB962C8B-B14F-4D97-AF65-F5344CB8AC3E}">
        <p14:creationId xmlns:p14="http://schemas.microsoft.com/office/powerpoint/2010/main" val="397661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aseline="0" dirty="0"/>
              <a:t>There have always been colleges and universities in one form or other as places where we help each other do difficult things.</a:t>
            </a:r>
          </a:p>
          <a:p>
            <a:r>
              <a:rPr lang="en-US" sz="1600" baseline="0" dirty="0"/>
              <a:t>Although we are here to learn about technology, the teaching and learning itself is not about technology. </a:t>
            </a:r>
          </a:p>
          <a:p>
            <a:r>
              <a:rPr lang="en-US" sz="1600" baseline="0" dirty="0"/>
              <a:t>What technology is being referred to in this statement:</a:t>
            </a:r>
          </a:p>
          <a:p>
            <a:r>
              <a:rPr lang="en-CA" sz="1600" baseline="0" dirty="0"/>
              <a:t>“What will create forgetfulness...because they will not use their memories?“</a:t>
            </a:r>
          </a:p>
          <a:p>
            <a:r>
              <a:rPr lang="en-US" sz="1600" baseline="0" dirty="0"/>
              <a:t>…come on, what have you heard your parents, grandparents, and grey haired people (like me) say?</a:t>
            </a:r>
          </a:p>
          <a:p>
            <a:r>
              <a:rPr lang="en-US" sz="1600" baseline="0" dirty="0"/>
              <a:t>[the internet, smart phones, Wikipedia, </a:t>
            </a:r>
            <a:r>
              <a:rPr lang="en-US" sz="1600" baseline="0" dirty="0" err="1"/>
              <a:t>etc</a:t>
            </a:r>
            <a:r>
              <a:rPr lang="en-US" sz="1600"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It was Socrates in 370BCE who said, “</a:t>
            </a:r>
            <a:r>
              <a:rPr lang="en-CA" sz="1600" b="1" i="1" dirty="0"/>
              <a:t>Writing </a:t>
            </a:r>
            <a:r>
              <a:rPr lang="en-CA" sz="1600" baseline="0" dirty="0"/>
              <a:t>will create forgetfulness...because they will not use their memories.“ Ironically, </a:t>
            </a:r>
            <a:r>
              <a:rPr lang="en-US" sz="1600" baseline="0" dirty="0"/>
              <a:t>Plato </a:t>
            </a:r>
            <a:r>
              <a:rPr lang="en-CA" sz="1600" baseline="0" dirty="0"/>
              <a:t>wrote it down for him in</a:t>
            </a:r>
            <a:r>
              <a:rPr lang="en-CA" sz="1600" i="1" dirty="0"/>
              <a:t> The Phaedrus.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Since</a:t>
            </a:r>
            <a:r>
              <a:rPr lang="en-US" sz="1600" baseline="0" dirty="0"/>
              <a:t> then, every new form of technology has predicted doom for education in colleges and universities.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Gutenberg’s printing press caused quite a stir. People will no longer need to go to church or college – they will stay home and read for themselves. </a:t>
            </a:r>
            <a:r>
              <a:rPr lang="en-US" sz="1600" i="1" baseline="0" dirty="0"/>
              <a:t>But how will they interpret what they read?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Radio was going to replace the classroom and the concert hall.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The telephone (and later the fax machine) would replace the office.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Television was going to replace the cinema, the theatre, and the classroom.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Computer based training would replace teachers.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The Internet would replace…</a:t>
            </a:r>
            <a:r>
              <a:rPr lang="en-US" sz="1600" i="1" baseline="0" dirty="0"/>
              <a:t>everything</a:t>
            </a:r>
            <a:r>
              <a:rPr lang="en-US" sz="1600"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aseline="0" dirty="0"/>
              <a:t>So why classes and labs? Because face-to-face is the best interface. We get together to help each other do difficult things. </a:t>
            </a:r>
            <a:r>
              <a:rPr lang="en-CA" sz="1600" dirty="0"/>
              <a:t>Our objective is to learn problem-solving skills, discover new ways to think, and to look at the world differently. </a:t>
            </a:r>
            <a:endParaRPr lang="en-US" sz="1600" baseline="0" dirty="0"/>
          </a:p>
        </p:txBody>
      </p:sp>
      <p:sp>
        <p:nvSpPr>
          <p:cNvPr id="4" name="Slide Number Placeholder 3"/>
          <p:cNvSpPr>
            <a:spLocks noGrp="1"/>
          </p:cNvSpPr>
          <p:nvPr>
            <p:ph type="sldNum" sz="quarter" idx="10"/>
          </p:nvPr>
        </p:nvSpPr>
        <p:spPr/>
        <p:txBody>
          <a:bodyPr/>
          <a:lstStyle/>
          <a:p>
            <a:fld id="{01F2A70B-78F2-4DCF-B53B-C990D2FAFB8A}" type="slidenum">
              <a:rPr lang="en-CA" smtClean="0"/>
              <a:t>2</a:t>
            </a:fld>
            <a:endParaRPr lang="en-CA"/>
          </a:p>
        </p:txBody>
      </p:sp>
    </p:spTree>
    <p:extLst>
      <p:ext uri="{BB962C8B-B14F-4D97-AF65-F5344CB8AC3E}">
        <p14:creationId xmlns:p14="http://schemas.microsoft.com/office/powerpoint/2010/main" val="763954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t>Tell me, what does it feel like to be wrong? Demoralizing, embarrassing, dreadful. Actually, they are answers to a different question which is “What does it feel like to </a:t>
            </a:r>
            <a:r>
              <a:rPr lang="en-CA" sz="1800" b="1" i="1" dirty="0"/>
              <a:t>realize </a:t>
            </a:r>
            <a:r>
              <a:rPr lang="en-CA" sz="1800" dirty="0"/>
              <a:t>you are wrong?” </a:t>
            </a:r>
            <a:r>
              <a:rPr lang="en-CA" sz="1800" i="1" dirty="0"/>
              <a:t>Then </a:t>
            </a:r>
            <a:r>
              <a:rPr lang="en-CA" sz="1800" dirty="0"/>
              <a:t>it is “demoralizing, embarrassing, and dreadful.”  So, what does it feel like when you’re wrong? [click] Wile E. Coyote can run and stand in mid-air as long as he </a:t>
            </a:r>
            <a:r>
              <a:rPr lang="en-CA" sz="1800" i="1" dirty="0"/>
              <a:t>thinks </a:t>
            </a:r>
            <a:r>
              <a:rPr lang="en-CA" sz="1800" dirty="0"/>
              <a:t>there is ground beneath his feet. It is only when he goes from feeling right to feeling wrong that he falls.</a:t>
            </a:r>
          </a:p>
          <a:p>
            <a:endParaRPr lang="en-CA" sz="1800" dirty="0"/>
          </a:p>
          <a:p>
            <a:r>
              <a:rPr lang="en-CA" sz="1800" dirty="0"/>
              <a:t>Learning in primary and secondary school has often meant getting the right answer and discovering that the way to succeed in life is not to make any mistakes. Sadly, when learning to program, we make a lot of mistakes and get a lot of wrong answers. The editor corrects your typing. The compiler complains about your syntax. The program crashes or loops infinitely. The test case fails. Things are wrong until they are right…and then you’re done. On to the next project where we will be wrong again for 99% of the time. </a:t>
            </a:r>
          </a:p>
          <a:p>
            <a:endParaRPr lang="en-CA" sz="1800" dirty="0"/>
          </a:p>
          <a:p>
            <a:r>
              <a:rPr lang="en-CA" sz="1800" dirty="0"/>
              <a:t>Yet, there is only so much of being wrong anyone can take. We know human nature is fallible. But we don’t like the experience personally. </a:t>
            </a:r>
          </a:p>
          <a:p>
            <a:r>
              <a:rPr lang="en-US" sz="1800" dirty="0"/>
              <a:t>[ </a:t>
            </a:r>
            <a:r>
              <a:rPr lang="en-US" sz="1800" b="1" dirty="0"/>
              <a:t>click </a:t>
            </a:r>
            <a:r>
              <a:rPr lang="en-US" sz="1800" dirty="0"/>
              <a:t>]  </a:t>
            </a:r>
            <a:endParaRPr lang="en-CA" sz="1800" dirty="0"/>
          </a:p>
          <a:p>
            <a:r>
              <a:rPr lang="en-CA" sz="1800" dirty="0"/>
              <a:t>We need reasons to explain all this wrongness. When my</a:t>
            </a:r>
            <a:r>
              <a:rPr lang="en-CA" sz="1800" baseline="0" dirty="0"/>
              <a:t> smartphone misbehaves, I blame the network, Android, and the programmer who worked hard to make that free app for me. As programmers, w</a:t>
            </a:r>
            <a:r>
              <a:rPr lang="en-CA" sz="1800" dirty="0"/>
              <a:t>e</a:t>
            </a:r>
            <a:r>
              <a:rPr lang="en-CA" sz="1800" baseline="0" dirty="0"/>
              <a:t> will all </a:t>
            </a:r>
            <a:r>
              <a:rPr lang="en-CA" sz="1800" dirty="0"/>
              <a:t>blame the compiler at least once in our lives. </a:t>
            </a:r>
          </a:p>
          <a:p>
            <a:endParaRPr lang="en-CA" sz="1800" dirty="0"/>
          </a:p>
          <a:p>
            <a:r>
              <a:rPr lang="en-CA" sz="1800" dirty="0"/>
              <a:t>"You can't go wrong being wrong."</a:t>
            </a:r>
            <a:r>
              <a:rPr lang="en-US" sz="1800" dirty="0"/>
              <a:t> </a:t>
            </a:r>
            <a:r>
              <a:rPr lang="en-CA" sz="1800" dirty="0"/>
              <a:t>"Errors are how our assumptions become visible. And there is little more valuable than a newly-discovered assumption, because only then can you see what's holding you back and what could propel you forward." see http://www.hyperorg.com/backissues/joho-apr30-99.html#wrong</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t>How many times have we struggled into the wee hours of the morning—</a:t>
            </a:r>
            <a:r>
              <a:rPr lang="en-CA" sz="1800" i="1" dirty="0"/>
              <a:t>just one more compile</a:t>
            </a:r>
            <a:r>
              <a:rPr lang="en-CA" sz="1800" dirty="0"/>
              <a:t>—given up, and realized the solution to the problem when taking a shower the next morning?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t>Being wrong is not some kind of embarrassing defect in the human system, it's fundamental to who we are; it is the source and root of all of our productivity and creativity. (Schultz, 2010) </a:t>
            </a:r>
          </a:p>
          <a:p>
            <a:r>
              <a:rPr lang="en-CA" sz="1800" dirty="0"/>
              <a:t>"failure is the essence of programming" – Chris Szalwinski </a:t>
            </a:r>
          </a:p>
        </p:txBody>
      </p:sp>
      <p:sp>
        <p:nvSpPr>
          <p:cNvPr id="4" name="Slide Number Placeholder 3"/>
          <p:cNvSpPr>
            <a:spLocks noGrp="1"/>
          </p:cNvSpPr>
          <p:nvPr>
            <p:ph type="sldNum" sz="quarter" idx="10"/>
          </p:nvPr>
        </p:nvSpPr>
        <p:spPr/>
        <p:txBody>
          <a:bodyPr/>
          <a:lstStyle/>
          <a:p>
            <a:fld id="{01F2A70B-78F2-4DCF-B53B-C990D2FAFB8A}" type="slidenum">
              <a:rPr lang="en-CA" smtClean="0"/>
              <a:t>3</a:t>
            </a:fld>
            <a:endParaRPr lang="en-CA"/>
          </a:p>
        </p:txBody>
      </p:sp>
    </p:spTree>
    <p:extLst>
      <p:ext uri="{BB962C8B-B14F-4D97-AF65-F5344CB8AC3E}">
        <p14:creationId xmlns:p14="http://schemas.microsoft.com/office/powerpoint/2010/main" val="3971842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800" dirty="0"/>
              <a:t>How do experts get to be experts without giving up? They are good at staying within the Flow Channel. They can tolerate some anxiety because of their confidence in learning new skills to meet the challenge. They fix their boredom by finding new challenges.</a:t>
            </a:r>
          </a:p>
          <a:p>
            <a:endParaRPr lang="en-CA" sz="1800" dirty="0"/>
          </a:p>
          <a:p>
            <a:r>
              <a:rPr lang="en-CA" sz="1800" dirty="0"/>
              <a:t>Teachers, who are very comfortable with their subject matter, can often find themselves in a high state of flow when in the classroom. A teacher is in a state of flow when a student asks for a desperately needed break. Marking, on the other hand, is usually below teachers' flow channel in the boredom region. An old professor said he taught for free but was paid a lot of money to mark. </a:t>
            </a:r>
          </a:p>
          <a:p>
            <a:endParaRPr lang="en-CA" sz="1800" dirty="0"/>
          </a:p>
          <a:p>
            <a:r>
              <a:rPr lang="en-CA" sz="1800" dirty="0"/>
              <a:t>Students find themselves in the anxiety region when they know the challenge is high but feel their skills are low. Students are in the boredom region when they overestimate their skills and don't appreciate the difficulty of the challenge. In other words, students are human.</a:t>
            </a:r>
          </a:p>
        </p:txBody>
      </p:sp>
      <p:sp>
        <p:nvSpPr>
          <p:cNvPr id="4" name="Slide Number Placeholder 3"/>
          <p:cNvSpPr>
            <a:spLocks noGrp="1"/>
          </p:cNvSpPr>
          <p:nvPr>
            <p:ph type="sldNum" sz="quarter" idx="10"/>
          </p:nvPr>
        </p:nvSpPr>
        <p:spPr/>
        <p:txBody>
          <a:bodyPr/>
          <a:lstStyle/>
          <a:p>
            <a:fld id="{01F2A70B-78F2-4DCF-B53B-C990D2FAFB8A}" type="slidenum">
              <a:rPr lang="en-CA" smtClean="0"/>
              <a:t>4</a:t>
            </a:fld>
            <a:endParaRPr lang="en-CA"/>
          </a:p>
        </p:txBody>
      </p:sp>
    </p:spTree>
    <p:extLst>
      <p:ext uri="{BB962C8B-B14F-4D97-AF65-F5344CB8AC3E}">
        <p14:creationId xmlns:p14="http://schemas.microsoft.com/office/powerpoint/2010/main" val="2025741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800" dirty="0"/>
              <a:t>The act of programming implements human ideas from inductive, intuitive, quick reasoning into source code which, when debugged, results from deductive logic and syllogistic reasoning. Programming bridges the gap between concepts in one’s head (often someone else’s head) and the abstraction of those concepts into code. </a:t>
            </a:r>
          </a:p>
          <a:p>
            <a:endParaRPr lang="en-US" sz="1800" dirty="0"/>
          </a:p>
          <a:p>
            <a:r>
              <a:rPr lang="en-CA" sz="1800" dirty="0"/>
              <a:t>Humans rely on intuitive reasoning</a:t>
            </a:r>
            <a:r>
              <a:rPr lang="en-CA" sz="1800" baseline="0" dirty="0"/>
              <a:t> </a:t>
            </a:r>
            <a:r>
              <a:rPr lang="en-CA" sz="1800" dirty="0"/>
              <a:t>when making decisions every</a:t>
            </a:r>
            <a:r>
              <a:rPr lang="en-CA" sz="1800" baseline="0" dirty="0"/>
              <a:t> day. It’s quick, ‘feels’ right and is right most of the time. Finish this sentence, </a:t>
            </a:r>
            <a:r>
              <a:rPr lang="en-CA" sz="1800" dirty="0"/>
              <a:t>“The giraffe had a very long ____.”</a:t>
            </a:r>
          </a:p>
          <a:p>
            <a:endParaRPr lang="en-CA"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t>"neck" comes from inductive reasoning. It is the most salient and differentiating characteristic of the giraffe; without context, "neck" is the most likely way to end that sentence. Maybe the giraffe had a very long...flight from Kenya? relationship with a primate,</a:t>
            </a:r>
            <a:r>
              <a:rPr lang="en-CA" sz="1800" baseline="0" dirty="0"/>
              <a:t> that is, </a:t>
            </a:r>
            <a:r>
              <a:rPr lang="en-CA" sz="1800" dirty="0"/>
              <a:t>the zookeeper? </a:t>
            </a:r>
          </a:p>
          <a:p>
            <a:endParaRPr lang="en-CA" sz="1800" dirty="0"/>
          </a:p>
          <a:p>
            <a:r>
              <a:rPr lang="en-CA" sz="1800" dirty="0"/>
              <a:t>Inductive reasoning is based on observation or experience. Even if we've never met a giraffe, we feel qualified to end that sentence with "neck". Inductive reasoning is fast, generally effective, and satisfied with </a:t>
            </a:r>
            <a:r>
              <a:rPr lang="en-CA" sz="1800" i="1" dirty="0"/>
              <a:t>good enough</a:t>
            </a:r>
            <a:r>
              <a:rPr lang="en-CA" sz="1800" dirty="0"/>
              <a:t>. It is how we learned language</a:t>
            </a:r>
            <a:r>
              <a:rPr lang="en-CA" sz="1800" baseline="0" dirty="0"/>
              <a:t> as young children. It’s what we use </a:t>
            </a:r>
            <a:r>
              <a:rPr lang="en-CA" sz="1800" dirty="0"/>
              <a:t>to get through</a:t>
            </a:r>
            <a:r>
              <a:rPr lang="en-CA" sz="1800" baseline="0" dirty="0"/>
              <a:t> the day. Our experience tells us we are </a:t>
            </a:r>
            <a:r>
              <a:rPr lang="en-CA" sz="1800" i="1" baseline="0" dirty="0"/>
              <a:t>probabilistically</a:t>
            </a:r>
            <a:r>
              <a:rPr lang="en-CA" sz="1800" i="0" baseline="0" dirty="0"/>
              <a:t> </a:t>
            </a:r>
            <a:r>
              <a:rPr lang="en-CA" sz="1800" dirty="0"/>
              <a:t>right, we are </a:t>
            </a:r>
            <a:r>
              <a:rPr lang="en-CA" sz="1800" i="1" dirty="0"/>
              <a:t>close enough.</a:t>
            </a:r>
            <a:endParaRPr lang="en-CA" sz="1800" dirty="0"/>
          </a:p>
          <a:p>
            <a:endParaRPr lang="en-US" sz="1800" dirty="0"/>
          </a:p>
          <a:p>
            <a:r>
              <a:rPr lang="en-CA" sz="1800" dirty="0"/>
              <a:t>The jump to programming requires deductive reasoning which is slow, laborious, and requires reflection, analysis, and awareness of the traps of inductive</a:t>
            </a:r>
            <a:r>
              <a:rPr lang="en-CA" sz="1800" baseline="0" dirty="0"/>
              <a:t> reasoning. Inductive reasoning tells your deductive reasoning, “Relax, I’ve got this. That answer </a:t>
            </a:r>
            <a:r>
              <a:rPr lang="en-CA" sz="1800" i="1" baseline="0" dirty="0"/>
              <a:t>looks </a:t>
            </a:r>
            <a:r>
              <a:rPr lang="en-CA" sz="1800" baseline="0" dirty="0"/>
              <a:t>right, doesn’t it? No need for you to get up and go to work.” And deductive reasoning says, “Thanks. I’ll go back to my nap.”</a:t>
            </a:r>
          </a:p>
        </p:txBody>
      </p:sp>
      <p:sp>
        <p:nvSpPr>
          <p:cNvPr id="4" name="Slide Number Placeholder 3"/>
          <p:cNvSpPr>
            <a:spLocks noGrp="1"/>
          </p:cNvSpPr>
          <p:nvPr>
            <p:ph type="sldNum" sz="quarter" idx="10"/>
          </p:nvPr>
        </p:nvSpPr>
        <p:spPr/>
        <p:txBody>
          <a:bodyPr/>
          <a:lstStyle/>
          <a:p>
            <a:fld id="{01F2A70B-78F2-4DCF-B53B-C990D2FAFB8A}" type="slidenum">
              <a:rPr lang="en-CA" smtClean="0"/>
              <a:t>5</a:t>
            </a:fld>
            <a:endParaRPr lang="en-CA"/>
          </a:p>
        </p:txBody>
      </p:sp>
    </p:spTree>
    <p:extLst>
      <p:ext uri="{BB962C8B-B14F-4D97-AF65-F5344CB8AC3E}">
        <p14:creationId xmlns:p14="http://schemas.microsoft.com/office/powerpoint/2010/main" val="135731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Let’s try a little test…</a:t>
            </a:r>
            <a:endParaRPr lang="en-CA" sz="1800" dirty="0"/>
          </a:p>
          <a:p>
            <a:r>
              <a:rPr lang="en-CA" sz="1800" dirty="0"/>
              <a:t>[after the test…]</a:t>
            </a:r>
          </a:p>
          <a:p>
            <a:r>
              <a:rPr lang="en-US" sz="1800" baseline="0" dirty="0"/>
              <a:t>Don’t feel bad if your score was not perfect. A lot of research has been done using this and similar tests. Zero is often the most common score. The average is usually around 1.</a:t>
            </a:r>
          </a:p>
          <a:p>
            <a:endParaRPr lang="en-US" sz="1800" baseline="0" dirty="0"/>
          </a:p>
          <a:p>
            <a:r>
              <a:rPr lang="en-CA" sz="1800" dirty="0"/>
              <a:t>This is the Cognitive Reflection Test developed by Shane Frederick (2005). The Cognitive Reflection Test (CRT) is one of the most widely used tools to assess individual differences</a:t>
            </a:r>
            <a:r>
              <a:rPr lang="en-CA" sz="1800" baseline="0" dirty="0"/>
              <a:t> </a:t>
            </a:r>
            <a:r>
              <a:rPr lang="en-CA" sz="1800" dirty="0"/>
              <a:t>in intuitive–analytic cognitive styles. Each question cues</a:t>
            </a:r>
            <a:r>
              <a:rPr lang="en-CA" sz="1800" baseline="0" dirty="0"/>
              <a:t> </a:t>
            </a:r>
            <a:r>
              <a:rPr lang="en-CA" sz="1800" dirty="0"/>
              <a:t>a highly available and superficially appropriate but incorrect</a:t>
            </a:r>
            <a:r>
              <a:rPr lang="en-CA" sz="1800" baseline="0" dirty="0"/>
              <a:t> </a:t>
            </a:r>
            <a:r>
              <a:rPr lang="en-CA" sz="1800" dirty="0"/>
              <a:t>response, conventionally deemed the intuitive</a:t>
            </a:r>
            <a:r>
              <a:rPr lang="en-CA" sz="1800" baseline="0" dirty="0"/>
              <a:t> </a:t>
            </a:r>
            <a:r>
              <a:rPr lang="en-CA" sz="1800" dirty="0"/>
              <a:t>response. To do well on the CRT, participants must</a:t>
            </a:r>
            <a:r>
              <a:rPr lang="en-CA" sz="1800" baseline="0" dirty="0"/>
              <a:t> </a:t>
            </a:r>
            <a:r>
              <a:rPr lang="en-CA" sz="1800" dirty="0"/>
              <a:t>reflect on and question the intuitive responses</a:t>
            </a:r>
            <a:r>
              <a:rPr lang="en-CA" sz="1800" baseline="0" dirty="0"/>
              <a:t>, then override that with slower, reflective, deductive analytical reasoning.</a:t>
            </a:r>
          </a:p>
          <a:p>
            <a:endParaRPr lang="en-US" sz="1800" baseline="0" dirty="0"/>
          </a:p>
          <a:p>
            <a:r>
              <a:rPr lang="en-US" sz="1800" baseline="0" dirty="0"/>
              <a:t>In classes and labs and assignments, our objective is to practice deductive reasoning and recognize when our inductive reasoning steps in and says, “</a:t>
            </a:r>
            <a:r>
              <a:rPr lang="en-CA" sz="1800" baseline="0" dirty="0"/>
              <a:t>Relax, I’ve got this. It looks right." Because we feel like we're right until we know that we're wrong.</a:t>
            </a:r>
            <a:endParaRPr lang="en-CA" sz="1800" dirty="0"/>
          </a:p>
        </p:txBody>
      </p:sp>
      <p:sp>
        <p:nvSpPr>
          <p:cNvPr id="4" name="Slide Number Placeholder 3"/>
          <p:cNvSpPr>
            <a:spLocks noGrp="1"/>
          </p:cNvSpPr>
          <p:nvPr>
            <p:ph type="sldNum" sz="quarter" idx="10"/>
          </p:nvPr>
        </p:nvSpPr>
        <p:spPr/>
        <p:txBody>
          <a:bodyPr/>
          <a:lstStyle/>
          <a:p>
            <a:fld id="{01F2A70B-78F2-4DCF-B53B-C990D2FAFB8A}" type="slidenum">
              <a:rPr lang="en-CA" smtClean="0"/>
              <a:t>6</a:t>
            </a:fld>
            <a:endParaRPr lang="en-CA"/>
          </a:p>
        </p:txBody>
      </p:sp>
    </p:spTree>
    <p:extLst>
      <p:ext uri="{BB962C8B-B14F-4D97-AF65-F5344CB8AC3E}">
        <p14:creationId xmlns:p14="http://schemas.microsoft.com/office/powerpoint/2010/main" val="463793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Mastery, and Purpose (Dan Pink on Motivation and scads of psych and social research)</a:t>
            </a:r>
          </a:p>
          <a:p>
            <a:r>
              <a:rPr lang="en-US" dirty="0"/>
              <a:t>What we do, How we do it, Why we do it. Start with Why (Simon Sinek, https://www.youtube.com/watch?v=IPYeCltXpxw)</a:t>
            </a:r>
          </a:p>
          <a:p>
            <a:endParaRPr lang="en-US" dirty="0"/>
          </a:p>
          <a:p>
            <a:r>
              <a:rPr lang="en-US" dirty="0"/>
              <a:t>WHAT do programmers do? They write software.</a:t>
            </a:r>
          </a:p>
          <a:p>
            <a:r>
              <a:rPr lang="en-US" dirty="0"/>
              <a:t>HOW do programmers do it? They use IDEs and languages such as C, C++, C#, Java, Python, JavaScript. They go to Seneca's School of ICT.</a:t>
            </a:r>
          </a:p>
          <a:p>
            <a:r>
              <a:rPr lang="en-US" dirty="0"/>
              <a:t>WHY do programmers do it? … often, they don't know why. So find out why.</a:t>
            </a:r>
          </a:p>
          <a:p>
            <a:endParaRPr lang="en-US" dirty="0"/>
          </a:p>
          <a:p>
            <a:r>
              <a:rPr lang="en-US" dirty="0"/>
              <a:t>If Apple remained just another computer company:</a:t>
            </a:r>
          </a:p>
          <a:p>
            <a:r>
              <a:rPr lang="en-CA" i="1" dirty="0"/>
              <a:t>"We make great computers. They're user friendly, beautifully designed, and easy to use. Want to buy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i="0" dirty="0"/>
              <a:t>WHAT: We make great computers and we do it our way (Autonomy)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H</a:t>
            </a:r>
            <a:r>
              <a:rPr lang="en-CA" i="0" dirty="0"/>
              <a:t>OW: Apple computers are user friendly, beautifully designed, and easy to use. Even the packaging is beautiful  (Mastery…started with the Mac but the Mac was a failure.)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W</a:t>
            </a:r>
            <a:r>
              <a:rPr lang="en-CA" i="0" dirty="0"/>
              <a:t>HY: Never mind why. Buy one of our devices. They're white so everyone can see you have an expensive Apple product? (Why? Because we want to make money; that's our Purpose. E.g. So, you're running out of memory or storage on your iPhone / iPad / </a:t>
            </a:r>
            <a:r>
              <a:rPr lang="en-CA" i="0" dirty="0" err="1"/>
              <a:t>Macbook</a:t>
            </a:r>
            <a:r>
              <a:rPr lang="en-CA" i="0" dirty="0"/>
              <a:t>? Upgrading is easy: buy a new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B</a:t>
            </a:r>
            <a:r>
              <a:rPr lang="en-CA" i="0" dirty="0" err="1"/>
              <a:t>ut</a:t>
            </a:r>
            <a:r>
              <a:rPr lang="en-CA" i="0" dirty="0"/>
              <a:t> Apple was not </a:t>
            </a:r>
            <a:r>
              <a:rPr lang="en-US" dirty="0"/>
              <a:t>just another computer company: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t>1997 Think Different ad. (Purpose) https://www.youtube.com/watch?v=cFEarBzelBs</a:t>
            </a:r>
          </a:p>
          <a:p>
            <a:pPr marL="0" marR="0" lvl="0" indent="0" algn="l" defTabSz="914400" rtl="0" eaLnBrk="1" fontAlgn="auto" latinLnBrk="0" hangingPunct="1">
              <a:lnSpc>
                <a:spcPct val="100000"/>
              </a:lnSpc>
              <a:spcBef>
                <a:spcPts val="0"/>
              </a:spcBef>
              <a:spcAft>
                <a:spcPts val="0"/>
              </a:spcAft>
              <a:buClrTx/>
              <a:buSzTx/>
              <a:buFontTx/>
              <a:buNone/>
              <a:tabLst/>
              <a:defRPr/>
            </a:pPr>
            <a:r>
              <a:rPr lang="en-CA" i="1" dirty="0"/>
              <a:t>"With everything we do, we aim to challenge the status quo. We aim to think differently. Our products are user-friendly, beautifully designed, and easy to use. We just happen to make great computers. Want to buy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CA" i="1" dirty="0"/>
              <a:t>"With everything we do, we aim to challenge the status quo. We aim to think differently. – </a:t>
            </a:r>
            <a:r>
              <a:rPr lang="en-CA" i="0" dirty="0"/>
              <a:t>WHY, Purpose</a:t>
            </a:r>
            <a:br>
              <a:rPr lang="en-CA" i="1" dirty="0"/>
            </a:br>
            <a:r>
              <a:rPr lang="en-CA" i="1" dirty="0"/>
              <a:t>Our products are user-friendly, beautifully designed, and easy to use. – </a:t>
            </a:r>
            <a:r>
              <a:rPr lang="en-CA" i="0" dirty="0"/>
              <a:t>HOW, Mastery</a:t>
            </a:r>
            <a:br>
              <a:rPr lang="en-CA" i="1" dirty="0"/>
            </a:br>
            <a:r>
              <a:rPr lang="en-CA" i="1" dirty="0"/>
              <a:t>We just happen to make great computers. Want to buy one?" – </a:t>
            </a:r>
            <a:r>
              <a:rPr lang="en-CA" i="0" dirty="0"/>
              <a:t>WHAT, Autonomy</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Apple focuses on providing the best user experience and owns it completely. Apple designs and develops own operating systems, hardware, application software, and services. Then, it integrates them seamlessly to build easy-to-use products. Apple is not dependent on its partners for any technical breakthroughs.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1997 Apple Store (online)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1998 iMac (mastery)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2000 </a:t>
            </a:r>
            <a:r>
              <a:rPr lang="en-CA" dirty="0"/>
              <a:t>changes licensing terms to make Mac-cloning cost-prohibitive.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2</a:t>
            </a:r>
            <a:r>
              <a:rPr lang="en-CA" i="0" dirty="0"/>
              <a:t>001 iTunes </a:t>
            </a:r>
            <a:r>
              <a:rPr lang="en-CA" dirty="0"/>
              <a:t>exclusively for Mac users until 2003. iTunes </a:t>
            </a:r>
            <a:r>
              <a:rPr lang="en-CA" sz="1200" b="0" i="0" kern="1200" dirty="0">
                <a:solidFill>
                  <a:schemeClr val="tx1"/>
                </a:solidFill>
                <a:effectLst/>
                <a:latin typeface="+mn-lt"/>
                <a:ea typeface="+mn-ea"/>
                <a:cs typeface="+mn-cs"/>
              </a:rPr>
              <a:t>changed the way media was bought and consumed.</a:t>
            </a:r>
            <a:endParaRPr lang="en-CA" dirty="0"/>
          </a:p>
          <a:p>
            <a:pPr marL="360000" marR="0" lvl="0" indent="0" algn="l" defTabSz="914400" rtl="0" eaLnBrk="1" fontAlgn="auto" latinLnBrk="0" hangingPunct="1">
              <a:lnSpc>
                <a:spcPct val="100000"/>
              </a:lnSpc>
              <a:spcBef>
                <a:spcPts val="0"/>
              </a:spcBef>
              <a:spcAft>
                <a:spcPts val="0"/>
              </a:spcAft>
              <a:buClrTx/>
              <a:buSzTx/>
              <a:buFontTx/>
              <a:buNone/>
              <a:tabLst/>
              <a:defRPr/>
            </a:pPr>
            <a:r>
              <a:rPr lang="en-US" i="0" dirty="0"/>
              <a:t>2</a:t>
            </a:r>
            <a:r>
              <a:rPr lang="en-CA" i="0" dirty="0"/>
              <a:t>001 iPod </a:t>
            </a:r>
            <a:r>
              <a:rPr lang="en-CA" dirty="0"/>
              <a:t>exclusively for Mac users until 2002. successful because it was </a:t>
            </a:r>
            <a:r>
              <a:rPr lang="en-CA" i="1" dirty="0"/>
              <a:t>user-friendly, beautifully designed, and easy to use. iTunes made it easy to get stuff to put on the iPod.</a:t>
            </a:r>
            <a:br>
              <a:rPr lang="en-CA" i="1" dirty="0"/>
            </a:br>
            <a:r>
              <a:rPr lang="en-CA" i="0" dirty="0"/>
              <a:t>The white iPod and especially its white earphones let everyone know that </a:t>
            </a:r>
            <a:r>
              <a:rPr lang="en-CA" b="1" i="0" dirty="0"/>
              <a:t>you thought differently.</a:t>
            </a:r>
            <a:br>
              <a:rPr lang="en-CA" b="1" i="0" dirty="0"/>
            </a:br>
            <a:r>
              <a:rPr lang="en-CA" i="0" dirty="0"/>
              <a:t>WHY was important enough to be obvious and advertised by those white wires hanging from your ears. Why else would a music player be so conspicuous?</a:t>
            </a:r>
          </a:p>
          <a:p>
            <a:pPr marL="360000" marR="0" lvl="0" indent="0" algn="l" defTabSz="914400" rtl="0" eaLnBrk="1" fontAlgn="auto" latinLnBrk="0" hangingPunct="1">
              <a:lnSpc>
                <a:spcPct val="100000"/>
              </a:lnSpc>
              <a:spcBef>
                <a:spcPts val="0"/>
              </a:spcBef>
              <a:spcAft>
                <a:spcPts val="0"/>
              </a:spcAft>
              <a:buClrTx/>
              <a:buSzTx/>
              <a:buFontTx/>
              <a:buNone/>
              <a:tabLst/>
              <a:defRPr/>
            </a:pPr>
            <a:r>
              <a:rPr lang="en-CA" i="0" dirty="0"/>
              <a:t>It was easier to use (HOW) than other mp3 players which had been maturing on the market for 3 years already. iTunes made obtaining music easy, affordable, and legal.</a:t>
            </a:r>
            <a:br>
              <a:rPr lang="en-CA" i="0" dirty="0"/>
            </a:br>
            <a:r>
              <a:rPr lang="en-CA" i="0" dirty="0"/>
              <a:t>WHY and HOW trumped the WHAT of other technically better mp3 players which were harder to use both in terms of operation and the obtaining and formatting of music files for the player. How you obtained those files was suspect (e.g. Napster).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r>
              <a:rPr lang="en-CA" dirty="0"/>
              <a:t>003  iTunes Music Store changed media marketing and distribution for everyone not an Apple customer.</a:t>
            </a: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i="0" dirty="0"/>
              <a:t>2005: Apple becomes reliably profitable and its market cap takes off. From near bankruptcy in the 1990s, to $5B in 2003, to $31B in 2005, to $200B in 2010, to  $1T in 2018.</a:t>
            </a:r>
            <a:endParaRPr lang="en-US" i="0" dirty="0"/>
          </a:p>
        </p:txBody>
      </p:sp>
      <p:sp>
        <p:nvSpPr>
          <p:cNvPr id="4" name="Slide Number Placeholder 3"/>
          <p:cNvSpPr>
            <a:spLocks noGrp="1"/>
          </p:cNvSpPr>
          <p:nvPr>
            <p:ph type="sldNum" sz="quarter" idx="10"/>
          </p:nvPr>
        </p:nvSpPr>
        <p:spPr/>
        <p:txBody>
          <a:bodyPr/>
          <a:lstStyle/>
          <a:p>
            <a:fld id="{01F2A70B-78F2-4DCF-B53B-C990D2FAFB8A}" type="slidenum">
              <a:rPr lang="en-CA" smtClean="0"/>
              <a:t>7</a:t>
            </a:fld>
            <a:endParaRPr lang="en-CA"/>
          </a:p>
        </p:txBody>
      </p:sp>
    </p:spTree>
    <p:extLst>
      <p:ext uri="{BB962C8B-B14F-4D97-AF65-F5344CB8AC3E}">
        <p14:creationId xmlns:p14="http://schemas.microsoft.com/office/powerpoint/2010/main" val="1546079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Mastery, and Purpose (Dan Pink on Motivation and scads of psych and social research)</a:t>
            </a:r>
          </a:p>
          <a:p>
            <a:r>
              <a:rPr lang="en-US" dirty="0"/>
              <a:t>What we do, How we do it, Why we do it. Start with Why (Simon Sinek, https://www.youtube.com/watch?v=IPYeCltXpxw)</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CA" smtClean="0"/>
              <a:t>8</a:t>
            </a:fld>
            <a:endParaRPr lang="en-CA"/>
          </a:p>
        </p:txBody>
      </p:sp>
    </p:spTree>
    <p:extLst>
      <p:ext uri="{BB962C8B-B14F-4D97-AF65-F5344CB8AC3E}">
        <p14:creationId xmlns:p14="http://schemas.microsoft.com/office/powerpoint/2010/main" val="3147356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"If we knew what it was we were doing, it wouldn't be </a:t>
            </a:r>
            <a:r>
              <a:rPr lang="en-CA" sz="1200" b="0" i="0" kern="1200">
                <a:solidFill>
                  <a:schemeClr val="tx1"/>
                </a:solidFill>
                <a:effectLst/>
                <a:latin typeface="+mn-lt"/>
                <a:ea typeface="+mn-ea"/>
                <a:cs typeface="+mn-cs"/>
              </a:rPr>
              <a:t>called research, </a:t>
            </a:r>
            <a:r>
              <a:rPr lang="en-CA" sz="1200" b="0" i="0" kern="1200" dirty="0">
                <a:solidFill>
                  <a:schemeClr val="tx1"/>
                </a:solidFill>
                <a:effectLst/>
                <a:latin typeface="+mn-lt"/>
                <a:ea typeface="+mn-ea"/>
                <a:cs typeface="+mn-cs"/>
              </a:rPr>
              <a:t>would it?" attributed to Albert Einstein.</a:t>
            </a:r>
            <a:endParaRPr lang="en-US" dirty="0"/>
          </a:p>
          <a:p>
            <a:endParaRPr lang="en-US" dirty="0"/>
          </a:p>
          <a:p>
            <a:r>
              <a:rPr lang="en-US" dirty="0"/>
              <a:t>Just because programmers are wrong most of the time doesn't mean it's a bad thing. Being wrong means we get to learn new things, experiment, and do something that has not been done before. That's a nice place to be when you're wrong.</a:t>
            </a:r>
          </a:p>
          <a:p>
            <a:endParaRPr lang="en-CA" dirty="0"/>
          </a:p>
        </p:txBody>
      </p:sp>
      <p:sp>
        <p:nvSpPr>
          <p:cNvPr id="4" name="Slide Number Placeholder 3"/>
          <p:cNvSpPr>
            <a:spLocks noGrp="1"/>
          </p:cNvSpPr>
          <p:nvPr>
            <p:ph type="sldNum" sz="quarter" idx="10"/>
          </p:nvPr>
        </p:nvSpPr>
        <p:spPr/>
        <p:txBody>
          <a:bodyPr/>
          <a:lstStyle/>
          <a:p>
            <a:fld id="{01F2A70B-78F2-4DCF-B53B-C990D2FAFB8A}" type="slidenum">
              <a:rPr lang="en-CA" smtClean="0"/>
              <a:t>9</a:t>
            </a:fld>
            <a:endParaRPr lang="en-CA"/>
          </a:p>
        </p:txBody>
      </p:sp>
    </p:spTree>
    <p:extLst>
      <p:ext uri="{BB962C8B-B14F-4D97-AF65-F5344CB8AC3E}">
        <p14:creationId xmlns:p14="http://schemas.microsoft.com/office/powerpoint/2010/main" val="232886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grpSp>
        <p:nvGrpSpPr>
          <p:cNvPr id="256" name="line"/>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rPr lang="en-US" dirty="0"/>
              <a:t>2016-09-01</a:t>
            </a:r>
          </a:p>
        </p:txBody>
      </p:sp>
      <p:sp>
        <p:nvSpPr>
          <p:cNvPr id="5" name="Footer Placeholder 4"/>
          <p:cNvSpPr>
            <a:spLocks noGrp="1"/>
          </p:cNvSpPr>
          <p:nvPr>
            <p:ph type="ftr" sz="quarter" idx="11"/>
          </p:nvPr>
        </p:nvSpPr>
        <p:spPr/>
        <p:txBody>
          <a:bodyPr/>
          <a:lstStyle/>
          <a:p>
            <a:r>
              <a:rPr lang="en-US" dirty="0"/>
              <a:t>IPC144 &amp; BTP100 ‘A’ labs</a:t>
            </a: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grpSp>
        <p:nvGrpSpPr>
          <p:cNvPr id="167" name="line"/>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255" name="line"/>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FE8FB1-0A7A-443E-AAF7-31D4FA1AA312}" type="datetimeFigureOut">
              <a:rPr lang="en-US"/>
              <a:t>10/29/2018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58" name="line"/>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AFE8FB1-0A7A-443E-AAF7-31D4FA1AA312}" type="datetimeFigureOut">
              <a:rPr lang="en-US"/>
              <a:t>10/29/2018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grpSp>
        <p:nvGrpSpPr>
          <p:cNvPr id="160" name="line"/>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AFE8FB1-0A7A-443E-AAF7-31D4FA1AA312}" type="datetimeFigureOut">
              <a:rPr lang="en-US"/>
              <a:t>10/29/2018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pSp>
        <p:nvGrpSpPr>
          <p:cNvPr id="156" name="line"/>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lvl1pPr>
              <a:defRPr/>
            </a:lvl1pPr>
          </a:lstStyle>
          <a:p>
            <a:r>
              <a:rPr lang="en-US" dirty="0"/>
              <a:t>2016-09-01</a:t>
            </a:r>
          </a:p>
        </p:txBody>
      </p:sp>
      <p:sp>
        <p:nvSpPr>
          <p:cNvPr id="4" name="Footer Placeholder 3"/>
          <p:cNvSpPr>
            <a:spLocks noGrp="1"/>
          </p:cNvSpPr>
          <p:nvPr>
            <p:ph type="ftr" sz="quarter" idx="11"/>
          </p:nvPr>
        </p:nvSpPr>
        <p:spPr/>
        <p:txBody>
          <a:bodyPr/>
          <a:lstStyle/>
          <a:p>
            <a:r>
              <a:rPr lang="en-US" dirty="0"/>
              <a:t>IPC144 &amp; BTP100 ‘A’ labs</a:t>
            </a: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a:t>10/29/2018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615" name="frame"/>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AFE8FB1-0A7A-443E-AAF7-31D4FA1AA312}" type="datetimeFigureOut">
              <a:rPr lang="en-US"/>
              <a:t>10/29/2018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614" name="frame"/>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AFE8FB1-0A7A-443E-AAF7-31D4FA1AA312}" type="datetimeFigureOut">
              <a:rPr lang="en-US"/>
              <a:t>10/29/2018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pSp>
        <p:nvGrpSpPr>
          <p:cNvPr id="7" name="line"/>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a:t>10/29/2018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line"/>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8012" y="277813"/>
            <a:ext cx="9144001" cy="5898573"/>
          </a:xfrm>
        </p:spPr>
        <p:txBody>
          <a:bodyPr vert="eaVert"/>
          <a:lstStyle>
            <a:lvl5pPr>
              <a:defRPr/>
            </a:lvl5pPr>
            <a:lvl6pPr>
              <a:defRPr/>
            </a:lvl6pPr>
            <a:lvl7pPr>
              <a:defRPr/>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AFE8FB1-0A7A-443E-AAF7-31D4FA1AA312}" type="datetimeFigureOut">
              <a:rPr lang="en-US"/>
              <a:t>10/29/2018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9AFE8FB1-0A7A-443E-AAF7-31D4FA1AA312}" type="datetimeFigureOut">
              <a:rPr lang="en-US"/>
              <a:pPr/>
              <a:t>10/29/2018</a:t>
            </a:fld>
            <a:endParaRPr/>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25BA54BD-C84D-46CE-8B72-31BFB26ABA43}" type="slidenum">
              <a:rPr/>
              <a:pPr/>
              <a:t>‹#›</a:t>
            </a:fld>
            <a:endParaRPr/>
          </a:p>
        </p:txBody>
      </p:sp>
      <p:grpSp>
        <p:nvGrpSpPr>
          <p:cNvPr id="7" name="line"/>
          <p:cNvGrpSpPr/>
          <p:nvPr userDrawn="1"/>
        </p:nvGrpSpPr>
        <p:grpSpPr bwMode="invGray">
          <a:xfrm>
            <a:off x="1522413" y="1514475"/>
            <a:ext cx="10569575"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32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8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24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20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CP4P </a:t>
            </a:r>
            <a:r>
              <a:rPr lang="en-US" sz="3600" dirty="0"/>
              <a:t>*</a:t>
            </a:r>
            <a:br>
              <a:rPr lang="en-US" dirty="0"/>
            </a:br>
            <a:r>
              <a:rPr lang="en-US" dirty="0"/>
              <a:t>Problem Solving</a:t>
            </a:r>
            <a:br>
              <a:rPr lang="en-US" dirty="0"/>
            </a:br>
            <a:endParaRPr lang="en-US" dirty="0"/>
          </a:p>
        </p:txBody>
      </p:sp>
      <p:sp>
        <p:nvSpPr>
          <p:cNvPr id="7" name="Subtitle 6"/>
          <p:cNvSpPr>
            <a:spLocks noGrp="1"/>
          </p:cNvSpPr>
          <p:nvPr>
            <p:ph type="subTitle" idx="1"/>
          </p:nvPr>
        </p:nvSpPr>
        <p:spPr/>
        <p:txBody>
          <a:bodyPr/>
          <a:lstStyle/>
          <a:p>
            <a:pPr marL="457200" indent="-457200">
              <a:buFont typeface="Arial" panose="020B0604020202020204" pitchFamily="34" charset="0"/>
              <a:buChar char="•"/>
            </a:pPr>
            <a:r>
              <a:rPr lang="en-CA" dirty="0"/>
              <a:t>Computer Principles for Programmers</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Problem Solving?</a:t>
            </a:r>
            <a:endParaRPr lang="en-CA" dirty="0"/>
          </a:p>
        </p:txBody>
      </p:sp>
      <p:sp>
        <p:nvSpPr>
          <p:cNvPr id="3" name="Content Placeholder 2"/>
          <p:cNvSpPr>
            <a:spLocks noGrp="1"/>
          </p:cNvSpPr>
          <p:nvPr>
            <p:ph idx="1"/>
          </p:nvPr>
        </p:nvSpPr>
        <p:spPr/>
        <p:txBody>
          <a:bodyPr>
            <a:normAutofit/>
          </a:bodyPr>
          <a:lstStyle/>
          <a:p>
            <a:r>
              <a:rPr lang="en-CA" dirty="0"/>
              <a:t>Programming is hard. </a:t>
            </a:r>
          </a:p>
          <a:p>
            <a:pPr lvl="1"/>
            <a:r>
              <a:rPr lang="en-CA" dirty="0"/>
              <a:t>If it was easy, no one would pay us to do it.</a:t>
            </a:r>
          </a:p>
          <a:p>
            <a:r>
              <a:rPr lang="en-CA" dirty="0"/>
              <a:t>Learning is hard. </a:t>
            </a:r>
          </a:p>
          <a:p>
            <a:pPr lvl="1"/>
            <a:r>
              <a:rPr lang="en-CA" dirty="0"/>
              <a:t>If it was easy, it would be called doing.</a:t>
            </a:r>
          </a:p>
          <a:p>
            <a:r>
              <a:rPr lang="en-CA" dirty="0"/>
              <a:t>So, learning to program is doubly hard.</a:t>
            </a:r>
          </a:p>
          <a:p>
            <a:pPr lvl="1"/>
            <a:r>
              <a:rPr lang="en-US" dirty="0"/>
              <a:t>We're going to be wrong a lot through this process.</a:t>
            </a:r>
            <a:endParaRPr lang="en-CA" dirty="0"/>
          </a:p>
        </p:txBody>
      </p:sp>
    </p:spTree>
    <p:extLst>
      <p:ext uri="{BB962C8B-B14F-4D97-AF65-F5344CB8AC3E}">
        <p14:creationId xmlns:p14="http://schemas.microsoft.com/office/powerpoint/2010/main" val="425203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15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par>
                          <p:cTn id="17" fill="hold">
                            <p:stCondLst>
                              <p:cond delay="500"/>
                            </p:stCondLst>
                            <p:childTnLst>
                              <p:par>
                                <p:cTn id="18" presetID="10" presetClass="entr" presetSubtype="0" fill="hold" grpId="0" nodeType="afterEffect">
                                  <p:stCondLst>
                                    <p:cond delay="150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2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result for wile e coyote runs off cliff"/>
          <p:cNvPicPr/>
          <p:nvPr/>
        </p:nvPicPr>
        <p:blipFill rotWithShape="1">
          <a:blip r:embed="rId3" cstate="print">
            <a:extLst>
              <a:ext uri="{28A0092B-C50C-407E-A947-70E740481C1C}">
                <a14:useLocalDpi xmlns:a14="http://schemas.microsoft.com/office/drawing/2010/main" val="0"/>
              </a:ext>
            </a:extLst>
          </a:blip>
          <a:srcRect/>
          <a:stretch/>
        </p:blipFill>
        <p:spPr bwMode="auto">
          <a:xfrm>
            <a:off x="3122612" y="3429000"/>
            <a:ext cx="5943600" cy="3834765"/>
          </a:xfrm>
          <a:prstGeom prst="rect">
            <a:avLst/>
          </a:prstGeom>
          <a:noFill/>
          <a:ln>
            <a:noFill/>
          </a:ln>
        </p:spPr>
      </p:pic>
      <p:sp>
        <p:nvSpPr>
          <p:cNvPr id="2" name="Title 1"/>
          <p:cNvSpPr>
            <a:spLocks noGrp="1"/>
          </p:cNvSpPr>
          <p:nvPr>
            <p:ph type="title"/>
          </p:nvPr>
        </p:nvSpPr>
        <p:spPr/>
        <p:txBody>
          <a:bodyPr/>
          <a:lstStyle/>
          <a:p>
            <a:r>
              <a:rPr lang="en-US" dirty="0"/>
              <a:t>Programming: things to get used to</a:t>
            </a:r>
            <a:endParaRPr lang="en-CA" dirty="0"/>
          </a:p>
        </p:txBody>
      </p:sp>
      <p:sp>
        <p:nvSpPr>
          <p:cNvPr id="3" name="Content Placeholder 2"/>
          <p:cNvSpPr>
            <a:spLocks noGrp="1"/>
          </p:cNvSpPr>
          <p:nvPr>
            <p:ph idx="1"/>
          </p:nvPr>
        </p:nvSpPr>
        <p:spPr>
          <a:xfrm>
            <a:off x="1522414" y="1905000"/>
            <a:ext cx="9982198" cy="4678362"/>
          </a:xfrm>
        </p:spPr>
        <p:txBody>
          <a:bodyPr>
            <a:normAutofit/>
          </a:bodyPr>
          <a:lstStyle/>
          <a:p>
            <a:r>
              <a:rPr lang="en-CA" dirty="0"/>
              <a:t>How does it feel to be wrong?</a:t>
            </a:r>
          </a:p>
          <a:p>
            <a:pPr>
              <a:spcBef>
                <a:spcPts val="600"/>
              </a:spcBef>
            </a:pPr>
            <a:r>
              <a:rPr lang="en-CA" dirty="0"/>
              <a:t>Being wrong feels like being right…</a:t>
            </a:r>
            <a:br>
              <a:rPr lang="en-CA" dirty="0"/>
            </a:br>
            <a:r>
              <a:rPr lang="en-CA" dirty="0"/>
              <a:t>until you </a:t>
            </a:r>
            <a:r>
              <a:rPr lang="en-CA" i="1" dirty="0"/>
              <a:t>realize</a:t>
            </a:r>
            <a:r>
              <a:rPr lang="en-CA" dirty="0"/>
              <a:t> you’re wrong, like Wile E. Coyote</a:t>
            </a:r>
          </a:p>
          <a:p>
            <a:pPr>
              <a:spcBef>
                <a:spcPts val="600"/>
              </a:spcBef>
            </a:pPr>
            <a:r>
              <a:rPr lang="en-CA" dirty="0"/>
              <a:t>An expert is a man who has made all the mistakes </a:t>
            </a:r>
            <a:br>
              <a:rPr lang="en-CA" dirty="0"/>
            </a:br>
            <a:r>
              <a:rPr lang="en-CA" dirty="0"/>
              <a:t>which can be made in a very narrow field.  – </a:t>
            </a:r>
            <a:r>
              <a:rPr lang="en-CA" sz="2400" dirty="0"/>
              <a:t>Niels Bohr</a:t>
            </a:r>
          </a:p>
          <a:p>
            <a:pPr>
              <a:spcBef>
                <a:spcPts val="600"/>
              </a:spcBef>
            </a:pPr>
            <a:r>
              <a:rPr lang="en-CA" dirty="0"/>
              <a:t>Good judgement comes from experience, </a:t>
            </a:r>
            <a:br>
              <a:rPr lang="en-CA" dirty="0"/>
            </a:br>
            <a:r>
              <a:rPr lang="en-CA" dirty="0"/>
              <a:t>and experience comes from bad judgement.</a:t>
            </a:r>
          </a:p>
        </p:txBody>
      </p:sp>
    </p:spTree>
    <p:extLst>
      <p:ext uri="{BB962C8B-B14F-4D97-AF65-F5344CB8AC3E}">
        <p14:creationId xmlns:p14="http://schemas.microsoft.com/office/powerpoint/2010/main" val="3114016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4"/>
                                        </p:tgtEl>
                                        <p:attrNameLst>
                                          <p:attrName>style.visibility</p:attrName>
                                        </p:attrNameLst>
                                      </p:cBhvr>
                                      <p:to>
                                        <p:strVal val="hidden"/>
                                      </p:to>
                                    </p:set>
                                  </p:childTnLst>
                                </p:cTn>
                              </p:par>
                            </p:childTnLst>
                          </p:cTn>
                        </p:par>
                        <p:par>
                          <p:cTn id="22" fill="hold">
                            <p:stCondLst>
                              <p:cond delay="0"/>
                            </p:stCondLst>
                            <p:childTnLst>
                              <p:par>
                                <p:cTn id="23" presetID="10" presetClass="entr" presetSubtype="0"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How do experts get to be experts</a:t>
            </a:r>
            <a:br>
              <a:rPr lang="en-CA" b="1" dirty="0"/>
            </a:br>
            <a:r>
              <a:rPr lang="en-CA" b="1" dirty="0"/>
              <a:t>... without giving up?</a:t>
            </a:r>
            <a:endParaRPr lang="en-CA" dirty="0"/>
          </a:p>
        </p:txBody>
      </p:sp>
      <p:sp>
        <p:nvSpPr>
          <p:cNvPr id="5" name="Text Placeholder 4"/>
          <p:cNvSpPr>
            <a:spLocks noGrp="1"/>
          </p:cNvSpPr>
          <p:nvPr>
            <p:ph type="body" sz="half" idx="2"/>
          </p:nvPr>
        </p:nvSpPr>
        <p:spPr>
          <a:xfrm>
            <a:off x="8761412" y="3411748"/>
            <a:ext cx="2743200" cy="2743200"/>
          </a:xfrm>
        </p:spPr>
        <p:txBody>
          <a:bodyPr/>
          <a:lstStyle/>
          <a:p>
            <a:r>
              <a:rPr lang="en-US" i="1" dirty="0"/>
              <a:t>Flow, </a:t>
            </a:r>
            <a:br>
              <a:rPr lang="en-US" i="1" dirty="0"/>
            </a:br>
            <a:r>
              <a:rPr lang="en-CA" dirty="0" err="1"/>
              <a:t>Mihaly</a:t>
            </a:r>
            <a:r>
              <a:rPr lang="en-CA" dirty="0"/>
              <a:t> </a:t>
            </a:r>
            <a:r>
              <a:rPr lang="en-CA" dirty="0" err="1"/>
              <a:t>Csikszentmihalyi</a:t>
            </a:r>
            <a:r>
              <a:rPr lang="en-CA" dirty="0"/>
              <a:t>, 1990  </a:t>
            </a:r>
            <a:br>
              <a:rPr lang="en-CA" dirty="0"/>
            </a:br>
            <a:br>
              <a:rPr lang="en-CA" dirty="0"/>
            </a:br>
            <a:r>
              <a:rPr lang="en-CA" dirty="0"/>
              <a:t>[ </a:t>
            </a:r>
            <a:r>
              <a:rPr lang="en-CA" dirty="0" err="1"/>
              <a:t>mee</a:t>
            </a:r>
            <a:r>
              <a:rPr lang="en-CA" dirty="0"/>
              <a:t>-HIGH </a:t>
            </a:r>
            <a:br>
              <a:rPr lang="en-CA" dirty="0"/>
            </a:br>
            <a:r>
              <a:rPr lang="en-CA" dirty="0"/>
              <a:t>  CHEEK-sent-</a:t>
            </a:r>
            <a:r>
              <a:rPr lang="en-CA" dirty="0" err="1"/>
              <a:t>mee</a:t>
            </a:r>
            <a:r>
              <a:rPr lang="en-CA" dirty="0"/>
              <a:t>-HIGH-e ]</a:t>
            </a:r>
          </a:p>
          <a:p>
            <a:endParaRPr lang="en-CA" dirty="0"/>
          </a:p>
        </p:txBody>
      </p:sp>
      <p:pic>
        <p:nvPicPr>
          <p:cNvPr id="7" name="Picture 6" descr="flow.jpg (400×259)"/>
          <p:cNvPicPr/>
          <p:nvPr/>
        </p:nvPicPr>
        <p:blipFill>
          <a:blip r:embed="rId3">
            <a:extLst>
              <a:ext uri="{28A0092B-C50C-407E-A947-70E740481C1C}">
                <a14:useLocalDpi xmlns:a14="http://schemas.microsoft.com/office/drawing/2010/main" val="0"/>
              </a:ext>
            </a:extLst>
          </a:blip>
          <a:srcRect/>
          <a:stretch>
            <a:fillRect/>
          </a:stretch>
        </p:blipFill>
        <p:spPr bwMode="auto">
          <a:xfrm>
            <a:off x="1558925" y="1524000"/>
            <a:ext cx="7050087" cy="4328160"/>
          </a:xfrm>
          <a:prstGeom prst="rect">
            <a:avLst/>
          </a:prstGeom>
          <a:noFill/>
          <a:ln>
            <a:noFill/>
          </a:ln>
        </p:spPr>
      </p:pic>
    </p:spTree>
    <p:extLst>
      <p:ext uri="{BB962C8B-B14F-4D97-AF65-F5344CB8AC3E}">
        <p14:creationId xmlns:p14="http://schemas.microsoft.com/office/powerpoint/2010/main" val="1215281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do you think like a programmer?</a:t>
            </a:r>
            <a:endParaRPr lang="en-CA" dirty="0"/>
          </a:p>
        </p:txBody>
      </p:sp>
      <p:sp>
        <p:nvSpPr>
          <p:cNvPr id="6" name="Content Placeholder 5"/>
          <p:cNvSpPr>
            <a:spLocks noGrp="1"/>
          </p:cNvSpPr>
          <p:nvPr>
            <p:ph idx="1"/>
          </p:nvPr>
        </p:nvSpPr>
        <p:spPr/>
        <p:txBody>
          <a:bodyPr>
            <a:normAutofit/>
          </a:bodyPr>
          <a:lstStyle/>
          <a:p>
            <a:r>
              <a:rPr lang="en-US" dirty="0"/>
              <a:t>Start with inductive reasoning</a:t>
            </a:r>
          </a:p>
          <a:p>
            <a:r>
              <a:rPr lang="en-US" dirty="0"/>
              <a:t>End with deductive reasoning</a:t>
            </a:r>
          </a:p>
          <a:p>
            <a:r>
              <a:rPr lang="en-US" dirty="0"/>
              <a:t>And being aware when switching between the two. </a:t>
            </a:r>
          </a:p>
        </p:txBody>
      </p:sp>
    </p:spTree>
    <p:extLst>
      <p:ext uri="{BB962C8B-B14F-4D97-AF65-F5344CB8AC3E}">
        <p14:creationId xmlns:p14="http://schemas.microsoft.com/office/powerpoint/2010/main" val="264722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Reasoning in practice…</a:t>
            </a:r>
            <a:endParaRPr lang="en-CA" dirty="0"/>
          </a:p>
        </p:txBody>
      </p:sp>
      <p:sp>
        <p:nvSpPr>
          <p:cNvPr id="6" name="Content Placeholder 5"/>
          <p:cNvSpPr>
            <a:spLocks noGrp="1"/>
          </p:cNvSpPr>
          <p:nvPr>
            <p:ph idx="1"/>
          </p:nvPr>
        </p:nvSpPr>
        <p:spPr>
          <a:xfrm>
            <a:off x="1522414" y="1905000"/>
            <a:ext cx="9412286" cy="4267200"/>
          </a:xfrm>
        </p:spPr>
        <p:txBody>
          <a:bodyPr>
            <a:normAutofit fontScale="85000" lnSpcReduction="10000"/>
          </a:bodyPr>
          <a:lstStyle/>
          <a:p>
            <a:r>
              <a:rPr lang="en-CA" dirty="0"/>
              <a:t>You will have 30 seconds between questions…</a:t>
            </a:r>
          </a:p>
          <a:p>
            <a:r>
              <a:rPr lang="en-CA" dirty="0"/>
              <a:t>A bat and a ball cost $1.10 in total. </a:t>
            </a:r>
            <a:br>
              <a:rPr lang="en-CA" dirty="0"/>
            </a:br>
            <a:r>
              <a:rPr lang="en-CA" dirty="0"/>
              <a:t>The bat costs $1.00 more than the ball. </a:t>
            </a:r>
            <a:br>
              <a:rPr lang="en-CA" dirty="0"/>
            </a:br>
            <a:r>
              <a:rPr lang="en-CA" dirty="0"/>
              <a:t>How much does the ball cost?</a:t>
            </a:r>
          </a:p>
          <a:p>
            <a:r>
              <a:rPr lang="en-CA" dirty="0"/>
              <a:t>If it takes 5 machines 5 minutes to make 5 widgets, </a:t>
            </a:r>
            <a:br>
              <a:rPr lang="en-CA" dirty="0"/>
            </a:br>
            <a:r>
              <a:rPr lang="en-CA" dirty="0"/>
              <a:t>how long would it take 100 machines to make 100 widgets?</a:t>
            </a:r>
          </a:p>
          <a:p>
            <a:r>
              <a:rPr lang="en-CA" dirty="0"/>
              <a:t>In a lake, there is a patch of lily pads. </a:t>
            </a:r>
            <a:br>
              <a:rPr lang="en-CA" dirty="0"/>
            </a:br>
            <a:r>
              <a:rPr lang="en-CA" dirty="0"/>
              <a:t>Every day, the patch doubles in size.</a:t>
            </a:r>
            <a:br>
              <a:rPr lang="en-CA" dirty="0"/>
            </a:br>
            <a:r>
              <a:rPr lang="en-CA" dirty="0"/>
              <a:t>If it takes 48 days for the patch to cover the entire lake, </a:t>
            </a:r>
            <a:br>
              <a:rPr lang="en-CA" dirty="0"/>
            </a:br>
            <a:r>
              <a:rPr lang="en-CA" dirty="0"/>
              <a:t>how long would it take for the patch to cover half of the lake?</a:t>
            </a:r>
          </a:p>
          <a:p>
            <a:endParaRPr lang="en-CA" dirty="0"/>
          </a:p>
        </p:txBody>
      </p:sp>
    </p:spTree>
    <p:extLst>
      <p:ext uri="{BB962C8B-B14F-4D97-AF65-F5344CB8AC3E}">
        <p14:creationId xmlns:p14="http://schemas.microsoft.com/office/powerpoint/2010/main" val="1675067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par>
                          <p:cTn id="13" fill="hold">
                            <p:stCondLst>
                              <p:cond delay="500"/>
                            </p:stCondLst>
                            <p:childTnLst>
                              <p:par>
                                <p:cTn id="14" presetID="10" presetClass="exit" presetSubtype="0" fill="hold" nodeType="afterEffect">
                                  <p:stCondLst>
                                    <p:cond delay="30000"/>
                                  </p:stCondLst>
                                  <p:childTnLst>
                                    <p:animEffect transition="out" filter="fade">
                                      <p:cBhvr>
                                        <p:cTn id="15" dur="1000"/>
                                        <p:tgtEl>
                                          <p:spTgt spid="6">
                                            <p:txEl>
                                              <p:pRg st="1" end="1"/>
                                            </p:txEl>
                                          </p:spTgt>
                                        </p:tgtEl>
                                      </p:cBhvr>
                                    </p:animEffect>
                                    <p:set>
                                      <p:cBhvr>
                                        <p:cTn id="16" dur="1" fill="hold">
                                          <p:stCondLst>
                                            <p:cond delay="999"/>
                                          </p:stCondLst>
                                        </p:cTn>
                                        <p:tgtEl>
                                          <p:spTgt spid="6">
                                            <p:txEl>
                                              <p:pRg st="1" end="1"/>
                                            </p:txEl>
                                          </p:spTgt>
                                        </p:tgtEl>
                                        <p:attrNameLst>
                                          <p:attrName>style.visibility</p:attrName>
                                        </p:attrNameLst>
                                      </p:cBhvr>
                                      <p:to>
                                        <p:strVal val="hidden"/>
                                      </p:to>
                                    </p:set>
                                  </p:childTnLst>
                                </p:cTn>
                              </p:par>
                            </p:childTnLst>
                          </p:cTn>
                        </p:par>
                        <p:par>
                          <p:cTn id="17" fill="hold">
                            <p:stCondLst>
                              <p:cond delay="31500"/>
                            </p:stCondLst>
                            <p:childTnLst>
                              <p:par>
                                <p:cTn id="18" presetID="10" presetClass="entr" presetSubtype="0" fill="hold" grpId="0" nodeType="after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par>
                          <p:cTn id="21" fill="hold">
                            <p:stCondLst>
                              <p:cond delay="32000"/>
                            </p:stCondLst>
                            <p:childTnLst>
                              <p:par>
                                <p:cTn id="22" presetID="10" presetClass="exit" presetSubtype="0" fill="hold" nodeType="afterEffect">
                                  <p:stCondLst>
                                    <p:cond delay="30000"/>
                                  </p:stCondLst>
                                  <p:childTnLst>
                                    <p:animEffect transition="out" filter="fade">
                                      <p:cBhvr>
                                        <p:cTn id="23" dur="1000"/>
                                        <p:tgtEl>
                                          <p:spTgt spid="6">
                                            <p:txEl>
                                              <p:pRg st="2" end="2"/>
                                            </p:txEl>
                                          </p:spTgt>
                                        </p:tgtEl>
                                      </p:cBhvr>
                                    </p:animEffect>
                                    <p:set>
                                      <p:cBhvr>
                                        <p:cTn id="24" dur="1" fill="hold">
                                          <p:stCondLst>
                                            <p:cond delay="999"/>
                                          </p:stCondLst>
                                        </p:cTn>
                                        <p:tgtEl>
                                          <p:spTgt spid="6">
                                            <p:txEl>
                                              <p:pRg st="2" end="2"/>
                                            </p:txEl>
                                          </p:spTgt>
                                        </p:tgtEl>
                                        <p:attrNameLst>
                                          <p:attrName>style.visibility</p:attrName>
                                        </p:attrNameLst>
                                      </p:cBhvr>
                                      <p:to>
                                        <p:strVal val="hidden"/>
                                      </p:to>
                                    </p:set>
                                  </p:childTnLst>
                                </p:cTn>
                              </p:par>
                            </p:childTnLst>
                          </p:cTn>
                        </p:par>
                        <p:par>
                          <p:cTn id="25" fill="hold">
                            <p:stCondLst>
                              <p:cond delay="63000"/>
                            </p:stCondLst>
                            <p:childTnLst>
                              <p:par>
                                <p:cTn id="26" presetID="10" presetClass="entr" presetSubtype="0" fill="hold" grpId="0" nodeType="after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500"/>
                                        <p:tgtEl>
                                          <p:spTgt spid="6">
                                            <p:txEl>
                                              <p:pRg st="3" end="3"/>
                                            </p:txEl>
                                          </p:spTgt>
                                        </p:tgtEl>
                                      </p:cBhvr>
                                    </p:animEffect>
                                  </p:childTnLst>
                                </p:cTn>
                              </p:par>
                            </p:childTnLst>
                          </p:cTn>
                        </p:par>
                        <p:par>
                          <p:cTn id="29" fill="hold">
                            <p:stCondLst>
                              <p:cond delay="63500"/>
                            </p:stCondLst>
                            <p:childTnLst>
                              <p:par>
                                <p:cTn id="30" presetID="10" presetClass="exit" presetSubtype="0" fill="hold" nodeType="afterEffect">
                                  <p:stCondLst>
                                    <p:cond delay="30000"/>
                                  </p:stCondLst>
                                  <p:childTnLst>
                                    <p:animEffect transition="out" filter="fade">
                                      <p:cBhvr>
                                        <p:cTn id="31" dur="1000"/>
                                        <p:tgtEl>
                                          <p:spTgt spid="6">
                                            <p:txEl>
                                              <p:pRg st="3" end="3"/>
                                            </p:txEl>
                                          </p:spTgt>
                                        </p:tgtEl>
                                      </p:cBhvr>
                                    </p:animEffect>
                                    <p:set>
                                      <p:cBhvr>
                                        <p:cTn id="32" dur="1" fill="hold">
                                          <p:stCondLst>
                                            <p:cond delay="999"/>
                                          </p:stCondLst>
                                        </p:cTn>
                                        <p:tgtEl>
                                          <p:spTgt spid="6">
                                            <p:txEl>
                                              <p:pRg st="3" end="3"/>
                                            </p:txEl>
                                          </p:spTgt>
                                        </p:tgtEl>
                                        <p:attrNameLst>
                                          <p:attrName>style.visibility</p:attrName>
                                        </p:attrNameLst>
                                      </p:cBhvr>
                                      <p:to>
                                        <p:strVal val="hidden"/>
                                      </p:to>
                                    </p:set>
                                  </p:childTnLst>
                                </p:cTn>
                              </p:par>
                            </p:childTnLst>
                          </p:cTn>
                        </p:par>
                        <p:par>
                          <p:cTn id="33" fill="hold">
                            <p:stCondLst>
                              <p:cond delay="94500"/>
                            </p:stCondLst>
                            <p:childTnLst>
                              <p:par>
                                <p:cTn id="34" presetID="10" presetClass="entr" presetSubtype="0" fill="hold" grpId="1" nodeType="after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animEffect transition="in" filter="fade">
                                      <p:cBhvr>
                                        <p:cTn id="36" dur="2000"/>
                                        <p:tgtEl>
                                          <p:spTgt spid="6">
                                            <p:txEl>
                                              <p:pRg st="0" end="0"/>
                                            </p:txEl>
                                          </p:spTgt>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animEffect transition="in" filter="fade">
                                      <p:cBhvr>
                                        <p:cTn id="39" dur="500"/>
                                        <p:tgtEl>
                                          <p:spTgt spid="6">
                                            <p:txEl>
                                              <p:pRg st="1" end="1"/>
                                            </p:txEl>
                                          </p:spTgt>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fade">
                                      <p:cBhvr>
                                        <p:cTn id="42" dur="500"/>
                                        <p:tgtEl>
                                          <p:spTgt spid="6">
                                            <p:txEl>
                                              <p:pRg st="2" end="2"/>
                                            </p:txEl>
                                          </p:spTgt>
                                        </p:tgtEl>
                                      </p:cBhvr>
                                    </p:animEffect>
                                  </p:childTnLst>
                                </p:cTn>
                              </p:par>
                              <p:par>
                                <p:cTn id="43" presetID="10" presetClass="entr" presetSubtype="0" fill="hold" grpId="1" nodeType="with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animEffect transition="in" filter="fade">
                                      <p:cBhvr>
                                        <p:cTn id="45"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p:bldP spid="6" grpId="1" uiExpand="1"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08832-BD24-452B-96F4-D6F0E34D7223}"/>
              </a:ext>
            </a:extLst>
          </p:cNvPr>
          <p:cNvSpPr>
            <a:spLocks noGrp="1"/>
          </p:cNvSpPr>
          <p:nvPr>
            <p:ph type="title"/>
          </p:nvPr>
        </p:nvSpPr>
        <p:spPr/>
        <p:txBody>
          <a:bodyPr/>
          <a:lstStyle/>
          <a:p>
            <a:r>
              <a:rPr lang="en-US" dirty="0"/>
              <a:t>Working like a programmer</a:t>
            </a:r>
            <a:endParaRPr lang="en-CA" dirty="0"/>
          </a:p>
        </p:txBody>
      </p:sp>
      <p:sp>
        <p:nvSpPr>
          <p:cNvPr id="3" name="Content Placeholder 2">
            <a:extLst>
              <a:ext uri="{FF2B5EF4-FFF2-40B4-BE49-F238E27FC236}">
                <a16:creationId xmlns:a16="http://schemas.microsoft.com/office/drawing/2014/main" id="{79BC8106-BD59-41CC-982E-756B33FABE0D}"/>
              </a:ext>
            </a:extLst>
          </p:cNvPr>
          <p:cNvSpPr>
            <a:spLocks noGrp="1"/>
          </p:cNvSpPr>
          <p:nvPr>
            <p:ph idx="1"/>
          </p:nvPr>
        </p:nvSpPr>
        <p:spPr>
          <a:xfrm>
            <a:off x="1522414" y="1905000"/>
            <a:ext cx="9448798" cy="4267200"/>
          </a:xfrm>
        </p:spPr>
        <p:txBody>
          <a:bodyPr>
            <a:normAutofit/>
          </a:bodyPr>
          <a:lstStyle/>
          <a:p>
            <a:r>
              <a:rPr lang="en-US" dirty="0"/>
              <a:t>WHAT do programmers do? </a:t>
            </a:r>
          </a:p>
          <a:p>
            <a:pPr lvl="1"/>
            <a:r>
              <a:rPr lang="en-US" dirty="0"/>
              <a:t>Autonomy</a:t>
            </a:r>
          </a:p>
          <a:p>
            <a:r>
              <a:rPr lang="en-US" dirty="0"/>
              <a:t>HOW do programmers do it?</a:t>
            </a:r>
          </a:p>
          <a:p>
            <a:pPr lvl="1"/>
            <a:r>
              <a:rPr lang="en-US" dirty="0"/>
              <a:t>Mastery</a:t>
            </a:r>
          </a:p>
          <a:p>
            <a:r>
              <a:rPr lang="en-US" dirty="0"/>
              <a:t>WHY do programmers do it?</a:t>
            </a:r>
          </a:p>
          <a:p>
            <a:pPr lvl="1"/>
            <a:r>
              <a:rPr lang="en-US" dirty="0"/>
              <a:t>Purpose</a:t>
            </a:r>
            <a:endParaRPr lang="en-CA" dirty="0"/>
          </a:p>
        </p:txBody>
      </p:sp>
    </p:spTree>
    <p:extLst>
      <p:ext uri="{BB962C8B-B14F-4D97-AF65-F5344CB8AC3E}">
        <p14:creationId xmlns:p14="http://schemas.microsoft.com/office/powerpoint/2010/main" val="2199274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08832-BD24-452B-96F4-D6F0E34D7223}"/>
              </a:ext>
            </a:extLst>
          </p:cNvPr>
          <p:cNvSpPr>
            <a:spLocks noGrp="1"/>
          </p:cNvSpPr>
          <p:nvPr>
            <p:ph type="title"/>
          </p:nvPr>
        </p:nvSpPr>
        <p:spPr/>
        <p:txBody>
          <a:bodyPr/>
          <a:lstStyle/>
          <a:p>
            <a:r>
              <a:rPr lang="en-US" dirty="0"/>
              <a:t>Working like a programmer—start with why</a:t>
            </a:r>
            <a:endParaRPr lang="en-CA" dirty="0"/>
          </a:p>
        </p:txBody>
      </p:sp>
      <p:sp>
        <p:nvSpPr>
          <p:cNvPr id="3" name="Content Placeholder 2">
            <a:extLst>
              <a:ext uri="{FF2B5EF4-FFF2-40B4-BE49-F238E27FC236}">
                <a16:creationId xmlns:a16="http://schemas.microsoft.com/office/drawing/2014/main" id="{79BC8106-BD59-41CC-982E-756B33FABE0D}"/>
              </a:ext>
            </a:extLst>
          </p:cNvPr>
          <p:cNvSpPr>
            <a:spLocks noGrp="1"/>
          </p:cNvSpPr>
          <p:nvPr>
            <p:ph idx="1"/>
          </p:nvPr>
        </p:nvSpPr>
        <p:spPr>
          <a:xfrm>
            <a:off x="1522414" y="1905000"/>
            <a:ext cx="9448798" cy="4267200"/>
          </a:xfrm>
        </p:spPr>
        <p:txBody>
          <a:bodyPr>
            <a:normAutofit/>
          </a:bodyPr>
          <a:lstStyle/>
          <a:p>
            <a:r>
              <a:rPr lang="en-US" dirty="0"/>
              <a:t>Understand what life is like for others…</a:t>
            </a:r>
            <a:br>
              <a:rPr lang="en-US" dirty="0"/>
            </a:br>
            <a:r>
              <a:rPr lang="en-US" dirty="0"/>
              <a:t>and solve their problems.</a:t>
            </a:r>
          </a:p>
          <a:p>
            <a:pPr lvl="1"/>
            <a:r>
              <a:rPr lang="en-US" dirty="0"/>
              <a:t>Why we do it. Purpose.</a:t>
            </a:r>
            <a:endParaRPr lang="en-CA" dirty="0"/>
          </a:p>
          <a:p>
            <a:r>
              <a:rPr lang="en-US" dirty="0"/>
              <a:t>SDLC, Visual Studio, languages, frameworks, GitHub</a:t>
            </a:r>
          </a:p>
          <a:p>
            <a:pPr lvl="1"/>
            <a:r>
              <a:rPr lang="en-US" dirty="0"/>
              <a:t>How we do it. Mastery.</a:t>
            </a:r>
          </a:p>
          <a:p>
            <a:r>
              <a:rPr lang="en-US" dirty="0"/>
              <a:t>Controlling computers and doing clever things </a:t>
            </a:r>
            <a:br>
              <a:rPr lang="en-US" dirty="0"/>
            </a:br>
            <a:r>
              <a:rPr lang="en-US" dirty="0"/>
              <a:t>with software</a:t>
            </a:r>
          </a:p>
          <a:p>
            <a:pPr lvl="1"/>
            <a:r>
              <a:rPr lang="en-US" dirty="0"/>
              <a:t>What we do.  Autonomy.</a:t>
            </a:r>
          </a:p>
        </p:txBody>
      </p:sp>
    </p:spTree>
    <p:extLst>
      <p:ext uri="{BB962C8B-B14F-4D97-AF65-F5344CB8AC3E}">
        <p14:creationId xmlns:p14="http://schemas.microsoft.com/office/powerpoint/2010/main" val="393928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Thinking like a programmer</a:t>
            </a:r>
            <a:endParaRPr lang="en-CA" dirty="0"/>
          </a:p>
        </p:txBody>
      </p:sp>
      <p:sp>
        <p:nvSpPr>
          <p:cNvPr id="3" name="Content Placeholder 2"/>
          <p:cNvSpPr>
            <a:spLocks noGrp="1"/>
          </p:cNvSpPr>
          <p:nvPr>
            <p:ph idx="1"/>
          </p:nvPr>
        </p:nvSpPr>
        <p:spPr>
          <a:xfrm>
            <a:off x="1522414" y="1905000"/>
            <a:ext cx="9524998" cy="4267200"/>
          </a:xfrm>
        </p:spPr>
        <p:txBody>
          <a:bodyPr>
            <a:normAutofit/>
          </a:bodyPr>
          <a:lstStyle/>
          <a:p>
            <a:r>
              <a:rPr lang="en-CA" dirty="0"/>
              <a:t>Experiment. Encourage error.</a:t>
            </a:r>
          </a:p>
          <a:p>
            <a:pPr lvl="1"/>
            <a:r>
              <a:rPr lang="en-CA" dirty="0"/>
              <a:t>Being wrong is a programmer's default state. </a:t>
            </a:r>
          </a:p>
          <a:p>
            <a:pPr lvl="1"/>
            <a:r>
              <a:rPr lang="en-US" dirty="0"/>
              <a:t>Y</a:t>
            </a:r>
            <a:r>
              <a:rPr lang="en-CA" dirty="0"/>
              <a:t>ou can't go wrong being wrong.</a:t>
            </a:r>
          </a:p>
          <a:p>
            <a:pPr lvl="1"/>
            <a:r>
              <a:rPr lang="en-US" dirty="0"/>
              <a:t>Being wrong </a:t>
            </a:r>
            <a:r>
              <a:rPr lang="en-CA" dirty="0"/>
              <a:t>is not a permanent state.</a:t>
            </a:r>
          </a:p>
          <a:p>
            <a:r>
              <a:rPr lang="en-CA" dirty="0"/>
              <a:t>Use various techniques to solve problems.</a:t>
            </a:r>
          </a:p>
          <a:p>
            <a:pPr lvl="1"/>
            <a:r>
              <a:rPr lang="en-CA" dirty="0"/>
              <a:t>Reveal inductive reasoning, encourage deductive reasoning.</a:t>
            </a:r>
          </a:p>
          <a:p>
            <a:r>
              <a:rPr lang="en-US" dirty="0"/>
              <a:t>W</a:t>
            </a:r>
            <a:r>
              <a:rPr lang="en-CA" dirty="0"/>
              <a:t>rite the comments first.</a:t>
            </a:r>
          </a:p>
          <a:p>
            <a:pPr lvl="1"/>
            <a:r>
              <a:rPr lang="en-US" dirty="0"/>
              <a:t>Helps get from  inductive to deductive reasoning.</a:t>
            </a:r>
            <a:endParaRPr lang="en-CA" dirty="0"/>
          </a:p>
        </p:txBody>
      </p:sp>
    </p:spTree>
    <p:extLst>
      <p:ext uri="{BB962C8B-B14F-4D97-AF65-F5344CB8AC3E}">
        <p14:creationId xmlns:p14="http://schemas.microsoft.com/office/powerpoint/2010/main" val="403945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0F09A44C-857D-42FD-9219-94A36248C2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Chalkboard education presentation (widescreen)</Template>
  <TotalTime>0</TotalTime>
  <Words>2148</Words>
  <Application>Microsoft Office PowerPoint</Application>
  <PresentationFormat>Custom</PresentationFormat>
  <Paragraphs>139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Consolas</vt:lpstr>
      <vt:lpstr>Corbel</vt:lpstr>
      <vt:lpstr>Chalkboard 16x9</vt:lpstr>
      <vt:lpstr>CP4P * Problem Solving </vt:lpstr>
      <vt:lpstr>Why Problem Solving?</vt:lpstr>
      <vt:lpstr>Programming: things to get used to</vt:lpstr>
      <vt:lpstr>How do experts get to be experts ... without giving up?</vt:lpstr>
      <vt:lpstr>How do you think like a programmer?</vt:lpstr>
      <vt:lpstr>Reasoning in practice…</vt:lpstr>
      <vt:lpstr>Working like a programmer</vt:lpstr>
      <vt:lpstr>Working like a programmer—start with why</vt:lpstr>
      <vt:lpstr>Thinking like a programmer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2016-08-31T23:07:25Z</dcterms:created>
  <dcterms:modified xsi:type="dcterms:W3CDTF">2018-10-31T11:28:08Z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TC028048469991</vt:lpwstr>
  </property>
</Properties>
</file>